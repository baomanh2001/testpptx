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6858000" y="-1371600"/>
            <a:ext cx="5943600" cy="594360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412480" y="2011680"/>
            <a:ext cx="4114800" cy="41148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6858000" cy="320040"/>
          </a:xfrm>
          <a:prstGeom prst="rect">
            <a:avLst/>
          </a:prstGeom>
          <a:noFill/>
        </p:spPr>
        <p:txBody>
          <a:bodyPr wrap="square"/>
          <a:lstStyle/>
          <a:p>
            <a:pPr algn="l">
              <a:lnSpc>
                <a:spcPts val="1125"/>
              </a:lnSpc>
              <a:defRPr sz="900" b="1">
                <a:solidFill>
                  <a:srgbClr val="38BDF8"/>
                </a:solidFill>
                <a:latin typeface="Calibri"/>
              </a:defRPr>
            </a:pPr>
            <a:r>
              <a:t>VẬT LÝ ĐẠI CƯƠNG  •  CƠ – NHIỆT  •  192 TRANG SLIDE</a:t>
            </a:r>
          </a:p>
        </p:txBody>
      </p:sp>
      <p:sp>
        <p:nvSpPr>
          <p:cNvPr id="5" name="Rounded Rectangle 4"/>
          <p:cNvSpPr/>
          <p:nvPr/>
        </p:nvSpPr>
        <p:spPr>
          <a:xfrm>
            <a:off x="548640" y="777240"/>
            <a:ext cx="1920240" cy="2926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0F172A"/>
                </a:solidFill>
                <a:latin typeface="Calibri"/>
              </a:rPr>
              <a:t>📘  DÀN BÀI SLIDE CHI TIẾT — TỪ V3</a:t>
            </a:r>
          </a:p>
        </p:txBody>
      </p:sp>
      <p:sp>
        <p:nvSpPr>
          <p:cNvPr id="6" name="TextBox 5"/>
          <p:cNvSpPr txBox="1"/>
          <p:nvPr/>
        </p:nvSpPr>
        <p:spPr>
          <a:xfrm>
            <a:off x="548640" y="1234440"/>
            <a:ext cx="7132320" cy="1463040"/>
          </a:xfrm>
          <a:prstGeom prst="rect">
            <a:avLst/>
          </a:prstGeom>
          <a:noFill/>
        </p:spPr>
        <p:txBody>
          <a:bodyPr wrap="square">
            <a:spAutoFit/>
          </a:bodyPr>
          <a:lstStyle/>
          <a:p>
            <a:pPr algn="l"/>
            <a:r>
              <a:rPr sz="3600" b="1">
                <a:solidFill>
                  <a:srgbClr val="FFFFFF"/>
                </a:solidFill>
                <a:latin typeface="Calibri"/>
              </a:rPr>
              <a:t>Dàn bài thuyết trình
</a:t>
            </a:r>
          </a:p>
          <a:p>
            <a:pPr algn="l"/>
            <a:r>
              <a:rPr sz="3600" b="1">
                <a:solidFill>
                  <a:srgbClr val="38BDF8"/>
                </a:solidFill>
                <a:latin typeface="Calibri"/>
              </a:rPr>
              <a:t>Hiểu sâu – Nhớ lâu</a:t>
            </a:r>
          </a:p>
        </p:txBody>
      </p:sp>
      <p:sp>
        <p:nvSpPr>
          <p:cNvPr id="7" name="TextBox 6"/>
          <p:cNvSpPr txBox="1"/>
          <p:nvPr/>
        </p:nvSpPr>
        <p:spPr>
          <a:xfrm>
            <a:off x="548640" y="2788920"/>
            <a:ext cx="6583680" cy="822960"/>
          </a:xfrm>
          <a:prstGeom prst="rect">
            <a:avLst/>
          </a:prstGeom>
          <a:noFill/>
        </p:spPr>
        <p:txBody>
          <a:bodyPr wrap="square"/>
          <a:lstStyle/>
          <a:p>
            <a:pPr algn="l">
              <a:lnSpc>
                <a:spcPts val="1375"/>
              </a:lnSpc>
              <a:defRPr sz="1100" b="0">
                <a:solidFill>
                  <a:srgbClr val="CBD5E1"/>
                </a:solidFill>
                <a:latin typeface="Calibri"/>
              </a:defRPr>
            </a:pPr>
            <a:r>
              <a:t>Chuyển toàn bộ 7 chương (V3 – font lớn + 8 hình minh họa) thành dàn bài 26 slide để bạn có thể đứng lớp nói từng phần trôi chảy, không sót công thức, có sẵn chú thích thành phần và ví dụ.</a:t>
            </a:r>
          </a:p>
        </p:txBody>
      </p:sp>
      <p:sp>
        <p:nvSpPr>
          <p:cNvPr id="8" name="Rounded Rectangle 7"/>
          <p:cNvSpPr/>
          <p:nvPr/>
        </p:nvSpPr>
        <p:spPr>
          <a:xfrm>
            <a:off x="548640" y="3840480"/>
            <a:ext cx="1417320" cy="868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931920"/>
            <a:ext cx="1188720" cy="365760"/>
          </a:xfrm>
          <a:prstGeom prst="rect">
            <a:avLst/>
          </a:prstGeom>
          <a:noFill/>
        </p:spPr>
        <p:txBody>
          <a:bodyPr wrap="square"/>
          <a:lstStyle/>
          <a:p>
            <a:pPr algn="ctr">
              <a:lnSpc>
                <a:spcPts val="2750"/>
              </a:lnSpc>
              <a:defRPr sz="2200" b="1">
                <a:solidFill>
                  <a:srgbClr val="FFFFFF"/>
                </a:solidFill>
                <a:latin typeface="Calibri"/>
              </a:defRPr>
            </a:pPr>
            <a:r>
              <a:t>7</a:t>
            </a:r>
          </a:p>
        </p:txBody>
      </p:sp>
      <p:sp>
        <p:nvSpPr>
          <p:cNvPr id="10" name="TextBox 9"/>
          <p:cNvSpPr txBox="1"/>
          <p:nvPr/>
        </p:nvSpPr>
        <p:spPr>
          <a:xfrm>
            <a:off x="658368" y="4325112"/>
            <a:ext cx="1188720" cy="182880"/>
          </a:xfrm>
          <a:prstGeom prst="rect">
            <a:avLst/>
          </a:prstGeom>
          <a:noFill/>
        </p:spPr>
        <p:txBody>
          <a:bodyPr wrap="square"/>
          <a:lstStyle/>
          <a:p>
            <a:pPr algn="ctr">
              <a:lnSpc>
                <a:spcPts val="875"/>
              </a:lnSpc>
              <a:defRPr sz="700" b="1">
                <a:solidFill>
                  <a:srgbClr val="94A3B8"/>
                </a:solidFill>
                <a:latin typeface="Calibri"/>
              </a:defRPr>
            </a:pPr>
            <a:r>
              <a:t>CHƯƠNG</a:t>
            </a:r>
          </a:p>
        </p:txBody>
      </p:sp>
      <p:sp>
        <p:nvSpPr>
          <p:cNvPr id="11" name="Rounded Rectangle 10"/>
          <p:cNvSpPr/>
          <p:nvPr/>
        </p:nvSpPr>
        <p:spPr>
          <a:xfrm>
            <a:off x="2148840" y="3840480"/>
            <a:ext cx="1417320" cy="868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58568" y="3931920"/>
            <a:ext cx="1188720" cy="365760"/>
          </a:xfrm>
          <a:prstGeom prst="rect">
            <a:avLst/>
          </a:prstGeom>
          <a:noFill/>
        </p:spPr>
        <p:txBody>
          <a:bodyPr wrap="square"/>
          <a:lstStyle/>
          <a:p>
            <a:pPr algn="ctr">
              <a:lnSpc>
                <a:spcPts val="2750"/>
              </a:lnSpc>
              <a:defRPr sz="2200" b="1">
                <a:solidFill>
                  <a:srgbClr val="FFFFFF"/>
                </a:solidFill>
                <a:latin typeface="Calibri"/>
              </a:defRPr>
            </a:pPr>
            <a:r>
              <a:t>26</a:t>
            </a:r>
          </a:p>
        </p:txBody>
      </p:sp>
      <p:sp>
        <p:nvSpPr>
          <p:cNvPr id="13" name="TextBox 12"/>
          <p:cNvSpPr txBox="1"/>
          <p:nvPr/>
        </p:nvSpPr>
        <p:spPr>
          <a:xfrm>
            <a:off x="2258568" y="4325112"/>
            <a:ext cx="1188720" cy="182880"/>
          </a:xfrm>
          <a:prstGeom prst="rect">
            <a:avLst/>
          </a:prstGeom>
          <a:noFill/>
        </p:spPr>
        <p:txBody>
          <a:bodyPr wrap="square"/>
          <a:lstStyle/>
          <a:p>
            <a:pPr algn="ctr">
              <a:lnSpc>
                <a:spcPts val="875"/>
              </a:lnSpc>
              <a:defRPr sz="700" b="1">
                <a:solidFill>
                  <a:srgbClr val="94A3B8"/>
                </a:solidFill>
                <a:latin typeface="Calibri"/>
              </a:defRPr>
            </a:pPr>
            <a:r>
              <a:t>SLIDE</a:t>
            </a:r>
          </a:p>
        </p:txBody>
      </p:sp>
      <p:sp>
        <p:nvSpPr>
          <p:cNvPr id="14" name="Rounded Rectangle 13"/>
          <p:cNvSpPr/>
          <p:nvPr/>
        </p:nvSpPr>
        <p:spPr>
          <a:xfrm>
            <a:off x="3749039" y="3840480"/>
            <a:ext cx="1417320" cy="868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58767" y="3931920"/>
            <a:ext cx="1188720" cy="365760"/>
          </a:xfrm>
          <a:prstGeom prst="rect">
            <a:avLst/>
          </a:prstGeom>
          <a:noFill/>
        </p:spPr>
        <p:txBody>
          <a:bodyPr wrap="square"/>
          <a:lstStyle/>
          <a:p>
            <a:pPr algn="ctr">
              <a:lnSpc>
                <a:spcPts val="2750"/>
              </a:lnSpc>
              <a:defRPr sz="2200" b="1">
                <a:solidFill>
                  <a:srgbClr val="FFFFFF"/>
                </a:solidFill>
                <a:latin typeface="Calibri"/>
              </a:defRPr>
            </a:pPr>
            <a:r>
              <a:t>45</a:t>
            </a:r>
          </a:p>
        </p:txBody>
      </p:sp>
      <p:sp>
        <p:nvSpPr>
          <p:cNvPr id="16" name="TextBox 15"/>
          <p:cNvSpPr txBox="1"/>
          <p:nvPr/>
        </p:nvSpPr>
        <p:spPr>
          <a:xfrm>
            <a:off x="3858767" y="4325112"/>
            <a:ext cx="1188720" cy="182880"/>
          </a:xfrm>
          <a:prstGeom prst="rect">
            <a:avLst/>
          </a:prstGeom>
          <a:noFill/>
        </p:spPr>
        <p:txBody>
          <a:bodyPr wrap="square"/>
          <a:lstStyle/>
          <a:p>
            <a:pPr algn="ctr">
              <a:lnSpc>
                <a:spcPts val="875"/>
              </a:lnSpc>
              <a:defRPr sz="700" b="1">
                <a:solidFill>
                  <a:srgbClr val="94A3B8"/>
                </a:solidFill>
                <a:latin typeface="Calibri"/>
              </a:defRPr>
            </a:pPr>
            <a:r>
              <a:t>CÔNG THỨC GỐC</a:t>
            </a:r>
          </a:p>
        </p:txBody>
      </p:sp>
      <p:sp>
        <p:nvSpPr>
          <p:cNvPr id="17" name="Rounded Rectangle 16"/>
          <p:cNvSpPr/>
          <p:nvPr/>
        </p:nvSpPr>
        <p:spPr>
          <a:xfrm>
            <a:off x="5349240" y="3840480"/>
            <a:ext cx="1417320" cy="868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58968" y="3931920"/>
            <a:ext cx="1188720" cy="365760"/>
          </a:xfrm>
          <a:prstGeom prst="rect">
            <a:avLst/>
          </a:prstGeom>
          <a:noFill/>
        </p:spPr>
        <p:txBody>
          <a:bodyPr wrap="square"/>
          <a:lstStyle/>
          <a:p>
            <a:pPr algn="ctr">
              <a:lnSpc>
                <a:spcPts val="2750"/>
              </a:lnSpc>
              <a:defRPr sz="2200" b="1">
                <a:solidFill>
                  <a:srgbClr val="FFFFFF"/>
                </a:solidFill>
                <a:latin typeface="Calibri"/>
              </a:defRPr>
            </a:pPr>
            <a:r>
              <a:t>8</a:t>
            </a:r>
          </a:p>
        </p:txBody>
      </p:sp>
      <p:sp>
        <p:nvSpPr>
          <p:cNvPr id="19" name="TextBox 18"/>
          <p:cNvSpPr txBox="1"/>
          <p:nvPr/>
        </p:nvSpPr>
        <p:spPr>
          <a:xfrm>
            <a:off x="5458968" y="4325112"/>
            <a:ext cx="1188720" cy="182880"/>
          </a:xfrm>
          <a:prstGeom prst="rect">
            <a:avLst/>
          </a:prstGeom>
          <a:noFill/>
        </p:spPr>
        <p:txBody>
          <a:bodyPr wrap="square"/>
          <a:lstStyle/>
          <a:p>
            <a:pPr algn="ctr">
              <a:lnSpc>
                <a:spcPts val="875"/>
              </a:lnSpc>
              <a:defRPr sz="700" b="1">
                <a:solidFill>
                  <a:srgbClr val="94A3B8"/>
                </a:solidFill>
                <a:latin typeface="Calibri"/>
              </a:defRPr>
            </a:pPr>
            <a:r>
              <a:t>HÌNH LỚN</a:t>
            </a:r>
          </a:p>
        </p:txBody>
      </p:sp>
      <p:sp>
        <p:nvSpPr>
          <p:cNvPr id="20" name="TextBox 19"/>
          <p:cNvSpPr txBox="1"/>
          <p:nvPr/>
        </p:nvSpPr>
        <p:spPr>
          <a:xfrm>
            <a:off x="548640" y="5074920"/>
            <a:ext cx="6858000" cy="365760"/>
          </a:xfrm>
          <a:prstGeom prst="rect">
            <a:avLst/>
          </a:prstGeom>
          <a:noFill/>
        </p:spPr>
        <p:txBody>
          <a:bodyPr wrap="square"/>
          <a:lstStyle/>
          <a:p>
            <a:pPr algn="l">
              <a:lnSpc>
                <a:spcPts val="1000"/>
              </a:lnSpc>
              <a:defRPr sz="800" b="0">
                <a:solidFill>
                  <a:srgbClr val="94A3B8"/>
                </a:solidFill>
                <a:latin typeface="Calibri"/>
              </a:defRPr>
            </a:pPr>
            <a:r>
              <a:t>Người trình bày: __________________    •    Thời lượng gợi ý: 90 phút (3 phút/slide)    •    Phiên bản: V3 – 10/09/2026</a:t>
            </a:r>
          </a:p>
        </p:txBody>
      </p:sp>
      <p:pic>
        <p:nvPicPr>
          <p:cNvPr id="21" name="Picture 20" descr="c1_donghoc.jpg"/>
          <p:cNvPicPr>
            <a:picLocks noChangeAspect="1"/>
          </p:cNvPicPr>
          <p:nvPr/>
        </p:nvPicPr>
        <p:blipFill>
          <a:blip r:embed="rId2"/>
          <a:stretch>
            <a:fillRect/>
          </a:stretch>
        </p:blipFill>
        <p:spPr>
          <a:xfrm>
            <a:off x="7178040" y="822960"/>
            <a:ext cx="3657600" cy="2514600"/>
          </a:xfrm>
          <a:prstGeom prst="rect">
            <a:avLst/>
          </a:prstGeom>
        </p:spPr>
      </p:pic>
      <p:sp>
        <p:nvSpPr>
          <p:cNvPr id="22" name="TextBox 21"/>
          <p:cNvSpPr txBox="1"/>
          <p:nvPr/>
        </p:nvSpPr>
        <p:spPr>
          <a:xfrm>
            <a:off x="7178040" y="3429000"/>
            <a:ext cx="3657600" cy="274320"/>
          </a:xfrm>
          <a:prstGeom prst="rect">
            <a:avLst/>
          </a:prstGeom>
          <a:noFill/>
        </p:spPr>
        <p:txBody>
          <a:bodyPr wrap="square"/>
          <a:lstStyle/>
          <a:p>
            <a:pPr algn="ctr">
              <a:lnSpc>
                <a:spcPts val="875"/>
              </a:lnSpc>
              <a:defRPr sz="700" b="0">
                <a:solidFill>
                  <a:srgbClr val="94A3B8"/>
                </a:solidFill>
                <a:latin typeface="Calibri"/>
              </a:defRPr>
            </a:pPr>
            <a:r>
              <a:t>Hình minh họa: Hệ quy chiếu &amp; quỹ đạo (C1)</a:t>
            </a:r>
          </a:p>
        </p:txBody>
      </p:sp>
      <p:sp>
        <p:nvSpPr>
          <p:cNvPr id="23" name="TextBox 22"/>
          <p:cNvSpPr txBox="1"/>
          <p:nvPr/>
        </p:nvSpPr>
        <p:spPr>
          <a:xfrm>
            <a:off x="548640" y="6537960"/>
            <a:ext cx="10972800" cy="182880"/>
          </a:xfrm>
          <a:prstGeom prst="rect">
            <a:avLst/>
          </a:prstGeom>
          <a:noFill/>
        </p:spPr>
        <p:txBody>
          <a:bodyPr wrap="square"/>
          <a:lstStyle/>
          <a:p>
            <a:pPr algn="l">
              <a:lnSpc>
                <a:spcPts val="875"/>
              </a:lnSpc>
              <a:defRPr sz="700" b="0">
                <a:solidFill>
                  <a:srgbClr val="94A3B8"/>
                </a:solidFill>
                <a:latin typeface="Calibri"/>
              </a:defRPr>
            </a:pPr>
            <a:r>
              <a:t>Nguồn: 7 file slide gốc (Châu Văn Tạo, Nguyễn Nhật Khanh, Nguyễn Thành Vấn)  •  Biên soạn lại từ V3 – font 17px+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0</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Mục lục — Dàn bài 26 slide</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7132320" cy="53035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069848"/>
            <a:ext cx="822960" cy="310896"/>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1E293B"/>
                </a:solidFill>
              </a:rPr>
              <a:t>01–04</a:t>
            </a:r>
          </a:p>
        </p:txBody>
      </p:sp>
      <p:sp>
        <p:nvSpPr>
          <p:cNvPr id="8" name="TextBox 7"/>
          <p:cNvSpPr txBox="1"/>
          <p:nvPr/>
        </p:nvSpPr>
        <p:spPr>
          <a:xfrm>
            <a:off x="1508760" y="1014984"/>
            <a:ext cx="4206240" cy="256032"/>
          </a:xfrm>
          <a:prstGeom prst="rect">
            <a:avLst/>
          </a:prstGeom>
          <a:noFill/>
        </p:spPr>
        <p:txBody>
          <a:bodyPr wrap="square"/>
          <a:lstStyle/>
          <a:p>
            <a:pPr algn="l">
              <a:lnSpc>
                <a:spcPts val="1250"/>
              </a:lnSpc>
              <a:defRPr sz="1000" b="1">
                <a:solidFill>
                  <a:srgbClr val="1E293B"/>
                </a:solidFill>
                <a:latin typeface="Calibri"/>
              </a:defRPr>
            </a:pPr>
            <a:r>
              <a:t>Mở đầu &amp; Bản đồ kiến thức</a:t>
            </a:r>
          </a:p>
        </p:txBody>
      </p:sp>
      <p:sp>
        <p:nvSpPr>
          <p:cNvPr id="9" name="TextBox 8"/>
          <p:cNvSpPr txBox="1"/>
          <p:nvPr/>
        </p:nvSpPr>
        <p:spPr>
          <a:xfrm>
            <a:off x="1508760" y="1234440"/>
            <a:ext cx="4206240" cy="201168"/>
          </a:xfrm>
          <a:prstGeom prst="rect">
            <a:avLst/>
          </a:prstGeom>
          <a:noFill/>
        </p:spPr>
        <p:txBody>
          <a:bodyPr wrap="square"/>
          <a:lstStyle/>
          <a:p>
            <a:pPr algn="l">
              <a:lnSpc>
                <a:spcPts val="1000"/>
              </a:lnSpc>
              <a:defRPr sz="800" b="0">
                <a:solidFill>
                  <a:srgbClr val="475569"/>
                </a:solidFill>
                <a:latin typeface="Calibri"/>
              </a:defRPr>
            </a:pPr>
            <a:r>
              <a:t>Cover • Mục lục • Bản đồ • Phương pháp</a:t>
            </a:r>
          </a:p>
        </p:txBody>
      </p:sp>
      <p:sp>
        <p:nvSpPr>
          <p:cNvPr id="10" name="Rounded Rectangle 9"/>
          <p:cNvSpPr/>
          <p:nvPr/>
        </p:nvSpPr>
        <p:spPr>
          <a:xfrm>
            <a:off x="411480" y="1581912"/>
            <a:ext cx="7132320" cy="53035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66928" y="1691640"/>
            <a:ext cx="822960" cy="310896"/>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1E293B"/>
                </a:solidFill>
              </a:rPr>
              <a:t>05–07</a:t>
            </a:r>
          </a:p>
        </p:txBody>
      </p:sp>
      <p:sp>
        <p:nvSpPr>
          <p:cNvPr id="12" name="TextBox 11"/>
          <p:cNvSpPr txBox="1"/>
          <p:nvPr/>
        </p:nvSpPr>
        <p:spPr>
          <a:xfrm>
            <a:off x="1508760" y="1636776"/>
            <a:ext cx="4206240" cy="256032"/>
          </a:xfrm>
          <a:prstGeom prst="rect">
            <a:avLst/>
          </a:prstGeom>
          <a:noFill/>
        </p:spPr>
        <p:txBody>
          <a:bodyPr wrap="square"/>
          <a:lstStyle/>
          <a:p>
            <a:pPr algn="l">
              <a:lnSpc>
                <a:spcPts val="1250"/>
              </a:lnSpc>
              <a:defRPr sz="1000" b="1">
                <a:solidFill>
                  <a:srgbClr val="1E293B"/>
                </a:solidFill>
                <a:latin typeface="Calibri"/>
              </a:defRPr>
            </a:pPr>
            <a:r>
              <a:t>C1. Động học chất điểm (51 tr)</a:t>
            </a:r>
          </a:p>
        </p:txBody>
      </p:sp>
      <p:sp>
        <p:nvSpPr>
          <p:cNvPr id="13" name="TextBox 12"/>
          <p:cNvSpPr txBox="1"/>
          <p:nvPr/>
        </p:nvSpPr>
        <p:spPr>
          <a:xfrm>
            <a:off x="1508760" y="1856232"/>
            <a:ext cx="4206240" cy="201168"/>
          </a:xfrm>
          <a:prstGeom prst="rect">
            <a:avLst/>
          </a:prstGeom>
          <a:noFill/>
        </p:spPr>
        <p:txBody>
          <a:bodyPr wrap="square"/>
          <a:lstStyle/>
          <a:p>
            <a:pPr algn="l">
              <a:lnSpc>
                <a:spcPts val="1000"/>
              </a:lnSpc>
              <a:defRPr sz="800" b="0">
                <a:solidFill>
                  <a:srgbClr val="475569"/>
                </a:solidFill>
                <a:latin typeface="Calibri"/>
              </a:defRPr>
            </a:pPr>
            <a:r>
              <a:t>Hệ quy chiếu • v/a • Tròn &amp; Ném xiên</a:t>
            </a:r>
          </a:p>
        </p:txBody>
      </p:sp>
      <p:sp>
        <p:nvSpPr>
          <p:cNvPr id="14" name="Rounded Rectangle 13"/>
          <p:cNvSpPr/>
          <p:nvPr/>
        </p:nvSpPr>
        <p:spPr>
          <a:xfrm>
            <a:off x="411480" y="2203704"/>
            <a:ext cx="7132320" cy="53035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6928" y="2313432"/>
            <a:ext cx="822960" cy="310896"/>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1E293B"/>
                </a:solidFill>
              </a:rPr>
              <a:t>08–10</a:t>
            </a:r>
          </a:p>
        </p:txBody>
      </p:sp>
      <p:sp>
        <p:nvSpPr>
          <p:cNvPr id="16" name="TextBox 15"/>
          <p:cNvSpPr txBox="1"/>
          <p:nvPr/>
        </p:nvSpPr>
        <p:spPr>
          <a:xfrm>
            <a:off x="1508760" y="2258568"/>
            <a:ext cx="4206240" cy="256032"/>
          </a:xfrm>
          <a:prstGeom prst="rect">
            <a:avLst/>
          </a:prstGeom>
          <a:noFill/>
        </p:spPr>
        <p:txBody>
          <a:bodyPr wrap="square"/>
          <a:lstStyle/>
          <a:p>
            <a:pPr algn="l">
              <a:lnSpc>
                <a:spcPts val="1250"/>
              </a:lnSpc>
              <a:defRPr sz="1000" b="1">
                <a:solidFill>
                  <a:srgbClr val="1E293B"/>
                </a:solidFill>
                <a:latin typeface="Calibri"/>
              </a:defRPr>
            </a:pPr>
            <a:r>
              <a:t>C2. Động lực học (29 tr)</a:t>
            </a:r>
          </a:p>
        </p:txBody>
      </p:sp>
      <p:sp>
        <p:nvSpPr>
          <p:cNvPr id="17" name="TextBox 16"/>
          <p:cNvSpPr txBox="1"/>
          <p:nvPr/>
        </p:nvSpPr>
        <p:spPr>
          <a:xfrm>
            <a:off x="1508760" y="2478024"/>
            <a:ext cx="4206240" cy="201168"/>
          </a:xfrm>
          <a:prstGeom prst="rect">
            <a:avLst/>
          </a:prstGeom>
          <a:noFill/>
        </p:spPr>
        <p:txBody>
          <a:bodyPr wrap="square"/>
          <a:lstStyle/>
          <a:p>
            <a:pPr algn="l">
              <a:lnSpc>
                <a:spcPts val="1000"/>
              </a:lnSpc>
              <a:defRPr sz="800" b="0">
                <a:solidFill>
                  <a:srgbClr val="475569"/>
                </a:solidFill>
                <a:latin typeface="Calibri"/>
              </a:defRPr>
            </a:pPr>
            <a:r>
              <a:t>3 ĐL Newton • 4 lực • 4 bước giải</a:t>
            </a:r>
          </a:p>
        </p:txBody>
      </p:sp>
      <p:sp>
        <p:nvSpPr>
          <p:cNvPr id="18" name="Rounded Rectangle 17"/>
          <p:cNvSpPr/>
          <p:nvPr/>
        </p:nvSpPr>
        <p:spPr>
          <a:xfrm>
            <a:off x="411480" y="2825496"/>
            <a:ext cx="7132320" cy="53035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66928" y="2935224"/>
            <a:ext cx="822960" cy="310896"/>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11–13</a:t>
            </a:r>
          </a:p>
        </p:txBody>
      </p:sp>
      <p:sp>
        <p:nvSpPr>
          <p:cNvPr id="20" name="TextBox 19"/>
          <p:cNvSpPr txBox="1"/>
          <p:nvPr/>
        </p:nvSpPr>
        <p:spPr>
          <a:xfrm>
            <a:off x="1508760" y="2880360"/>
            <a:ext cx="4206240" cy="256032"/>
          </a:xfrm>
          <a:prstGeom prst="rect">
            <a:avLst/>
          </a:prstGeom>
          <a:noFill/>
        </p:spPr>
        <p:txBody>
          <a:bodyPr wrap="square"/>
          <a:lstStyle/>
          <a:p>
            <a:pPr algn="l">
              <a:lnSpc>
                <a:spcPts val="1250"/>
              </a:lnSpc>
              <a:defRPr sz="1000" b="1">
                <a:solidFill>
                  <a:srgbClr val="1E293B"/>
                </a:solidFill>
                <a:latin typeface="Calibri"/>
              </a:defRPr>
            </a:pPr>
            <a:r>
              <a:t>C3. Bảo toàn (28 tr) — Trọng tâm</a:t>
            </a:r>
          </a:p>
        </p:txBody>
      </p:sp>
      <p:sp>
        <p:nvSpPr>
          <p:cNvPr id="21" name="TextBox 20"/>
          <p:cNvSpPr txBox="1"/>
          <p:nvPr/>
        </p:nvSpPr>
        <p:spPr>
          <a:xfrm>
            <a:off x="1508760" y="3099816"/>
            <a:ext cx="4206240" cy="201168"/>
          </a:xfrm>
          <a:prstGeom prst="rect">
            <a:avLst/>
          </a:prstGeom>
          <a:noFill/>
        </p:spPr>
        <p:txBody>
          <a:bodyPr wrap="square"/>
          <a:lstStyle/>
          <a:p>
            <a:pPr algn="l">
              <a:lnSpc>
                <a:spcPts val="1000"/>
              </a:lnSpc>
              <a:defRPr sz="800" b="0">
                <a:solidFill>
                  <a:srgbClr val="475569"/>
                </a:solidFill>
                <a:latin typeface="Calibri"/>
              </a:defRPr>
            </a:pPr>
            <a:r>
              <a:t>p &amp; L • Công/Năng lượng • Va chạm</a:t>
            </a:r>
          </a:p>
        </p:txBody>
      </p:sp>
      <p:sp>
        <p:nvSpPr>
          <p:cNvPr id="22" name="TextBox 21"/>
          <p:cNvSpPr txBox="1"/>
          <p:nvPr/>
        </p:nvSpPr>
        <p:spPr>
          <a:xfrm>
            <a:off x="5806440" y="2962656"/>
            <a:ext cx="1371600" cy="256032"/>
          </a:xfrm>
          <a:prstGeom prst="rect">
            <a:avLst/>
          </a:prstGeom>
          <a:noFill/>
        </p:spPr>
        <p:txBody>
          <a:bodyPr wrap="square"/>
          <a:lstStyle/>
          <a:p>
            <a:pPr algn="r">
              <a:lnSpc>
                <a:spcPts val="1000"/>
              </a:lnSpc>
              <a:defRPr sz="800" b="1">
                <a:solidFill>
                  <a:srgbClr val="F59E0B"/>
                </a:solidFill>
                <a:latin typeface="Calibri"/>
              </a:defRPr>
            </a:pPr>
            <a:r>
              <a:t>★ 40% đề thi</a:t>
            </a:r>
          </a:p>
        </p:txBody>
      </p:sp>
      <p:sp>
        <p:nvSpPr>
          <p:cNvPr id="23" name="Rounded Rectangle 22"/>
          <p:cNvSpPr/>
          <p:nvPr/>
        </p:nvSpPr>
        <p:spPr>
          <a:xfrm>
            <a:off x="411480" y="3447288"/>
            <a:ext cx="7132320" cy="53035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66928" y="3557016"/>
            <a:ext cx="822960" cy="310896"/>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1E293B"/>
                </a:solidFill>
              </a:rPr>
              <a:t>14–15</a:t>
            </a:r>
          </a:p>
        </p:txBody>
      </p:sp>
      <p:sp>
        <p:nvSpPr>
          <p:cNvPr id="25" name="TextBox 24"/>
          <p:cNvSpPr txBox="1"/>
          <p:nvPr/>
        </p:nvSpPr>
        <p:spPr>
          <a:xfrm>
            <a:off x="1508760" y="3502152"/>
            <a:ext cx="4206240" cy="256032"/>
          </a:xfrm>
          <a:prstGeom prst="rect">
            <a:avLst/>
          </a:prstGeom>
          <a:noFill/>
        </p:spPr>
        <p:txBody>
          <a:bodyPr wrap="square"/>
          <a:lstStyle/>
          <a:p>
            <a:pPr algn="l">
              <a:lnSpc>
                <a:spcPts val="1250"/>
              </a:lnSpc>
              <a:defRPr sz="1000" b="1">
                <a:solidFill>
                  <a:srgbClr val="1E293B"/>
                </a:solidFill>
                <a:latin typeface="Calibri"/>
              </a:defRPr>
            </a:pPr>
            <a:r>
              <a:t>C4. Vật rắn (16 tr)</a:t>
            </a:r>
          </a:p>
        </p:txBody>
      </p:sp>
      <p:sp>
        <p:nvSpPr>
          <p:cNvPr id="26" name="TextBox 25"/>
          <p:cNvSpPr txBox="1"/>
          <p:nvPr/>
        </p:nvSpPr>
        <p:spPr>
          <a:xfrm>
            <a:off x="1508760" y="3721608"/>
            <a:ext cx="4206240" cy="201168"/>
          </a:xfrm>
          <a:prstGeom prst="rect">
            <a:avLst/>
          </a:prstGeom>
          <a:noFill/>
        </p:spPr>
        <p:txBody>
          <a:bodyPr wrap="square"/>
          <a:lstStyle/>
          <a:p>
            <a:pPr algn="l">
              <a:lnSpc>
                <a:spcPts val="1000"/>
              </a:lnSpc>
              <a:defRPr sz="800" b="0">
                <a:solidFill>
                  <a:srgbClr val="475569"/>
                </a:solidFill>
                <a:latin typeface="Calibri"/>
              </a:defRPr>
            </a:pPr>
            <a:r>
              <a:t>M=Iβ • I &amp; Steiner • Lăn không trượt</a:t>
            </a:r>
          </a:p>
        </p:txBody>
      </p:sp>
      <p:sp>
        <p:nvSpPr>
          <p:cNvPr id="27" name="Rounded Rectangle 26"/>
          <p:cNvSpPr/>
          <p:nvPr/>
        </p:nvSpPr>
        <p:spPr>
          <a:xfrm>
            <a:off x="411480" y="4069080"/>
            <a:ext cx="7132320" cy="53035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66928" y="4178808"/>
            <a:ext cx="822960" cy="310896"/>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1E293B"/>
                </a:solidFill>
              </a:rPr>
              <a:t>16–17</a:t>
            </a:r>
          </a:p>
        </p:txBody>
      </p:sp>
      <p:sp>
        <p:nvSpPr>
          <p:cNvPr id="29" name="TextBox 28"/>
          <p:cNvSpPr txBox="1"/>
          <p:nvPr/>
        </p:nvSpPr>
        <p:spPr>
          <a:xfrm>
            <a:off x="1508760" y="4123944"/>
            <a:ext cx="4206240" cy="256032"/>
          </a:xfrm>
          <a:prstGeom prst="rect">
            <a:avLst/>
          </a:prstGeom>
          <a:noFill/>
        </p:spPr>
        <p:txBody>
          <a:bodyPr wrap="square"/>
          <a:lstStyle/>
          <a:p>
            <a:pPr algn="l">
              <a:lnSpc>
                <a:spcPts val="1250"/>
              </a:lnSpc>
              <a:defRPr sz="1000" b="1">
                <a:solidFill>
                  <a:srgbClr val="1E293B"/>
                </a:solidFill>
                <a:latin typeface="Calibri"/>
              </a:defRPr>
            </a:pPr>
            <a:r>
              <a:t>C5. Khí lý tưởng (10 tr)</a:t>
            </a:r>
          </a:p>
        </p:txBody>
      </p:sp>
      <p:sp>
        <p:nvSpPr>
          <p:cNvPr id="30" name="TextBox 29"/>
          <p:cNvSpPr txBox="1"/>
          <p:nvPr/>
        </p:nvSpPr>
        <p:spPr>
          <a:xfrm>
            <a:off x="1508760" y="4343400"/>
            <a:ext cx="4206240" cy="201168"/>
          </a:xfrm>
          <a:prstGeom prst="rect">
            <a:avLst/>
          </a:prstGeom>
          <a:noFill/>
        </p:spPr>
        <p:txBody>
          <a:bodyPr wrap="square"/>
          <a:lstStyle/>
          <a:p>
            <a:pPr algn="l">
              <a:lnSpc>
                <a:spcPts val="1000"/>
              </a:lnSpc>
              <a:defRPr sz="800" b="0">
                <a:solidFill>
                  <a:srgbClr val="475569"/>
                </a:solidFill>
                <a:latin typeface="Calibri"/>
              </a:defRPr>
            </a:pPr>
            <a:r>
              <a:t>Thuyết động học • pV=νRT</a:t>
            </a:r>
          </a:p>
        </p:txBody>
      </p:sp>
      <p:sp>
        <p:nvSpPr>
          <p:cNvPr id="31" name="Rounded Rectangle 30"/>
          <p:cNvSpPr/>
          <p:nvPr/>
        </p:nvSpPr>
        <p:spPr>
          <a:xfrm>
            <a:off x="411480" y="4690872"/>
            <a:ext cx="7132320" cy="53035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66928" y="4800600"/>
            <a:ext cx="822960" cy="310896"/>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1E293B"/>
                </a:solidFill>
              </a:rPr>
              <a:t>18–20</a:t>
            </a:r>
          </a:p>
        </p:txBody>
      </p:sp>
      <p:sp>
        <p:nvSpPr>
          <p:cNvPr id="33" name="TextBox 32"/>
          <p:cNvSpPr txBox="1"/>
          <p:nvPr/>
        </p:nvSpPr>
        <p:spPr>
          <a:xfrm>
            <a:off x="1508760" y="4745736"/>
            <a:ext cx="4206240" cy="256032"/>
          </a:xfrm>
          <a:prstGeom prst="rect">
            <a:avLst/>
          </a:prstGeom>
          <a:noFill/>
        </p:spPr>
        <p:txBody>
          <a:bodyPr wrap="square"/>
          <a:lstStyle/>
          <a:p>
            <a:pPr algn="l">
              <a:lnSpc>
                <a:spcPts val="1250"/>
              </a:lnSpc>
              <a:defRPr sz="1000" b="1">
                <a:solidFill>
                  <a:srgbClr val="1E293B"/>
                </a:solidFill>
                <a:latin typeface="Calibri"/>
              </a:defRPr>
            </a:pPr>
            <a:r>
              <a:t>C6. Nguyên lý I (29 tr)</a:t>
            </a:r>
          </a:p>
        </p:txBody>
      </p:sp>
      <p:sp>
        <p:nvSpPr>
          <p:cNvPr id="34" name="TextBox 33"/>
          <p:cNvSpPr txBox="1"/>
          <p:nvPr/>
        </p:nvSpPr>
        <p:spPr>
          <a:xfrm>
            <a:off x="1508760" y="4965192"/>
            <a:ext cx="4206240" cy="201168"/>
          </a:xfrm>
          <a:prstGeom prst="rect">
            <a:avLst/>
          </a:prstGeom>
          <a:noFill/>
        </p:spPr>
        <p:txBody>
          <a:bodyPr wrap="square"/>
          <a:lstStyle/>
          <a:p>
            <a:pPr algn="l">
              <a:lnSpc>
                <a:spcPts val="1000"/>
              </a:lnSpc>
              <a:defRPr sz="800" b="0">
                <a:solidFill>
                  <a:srgbClr val="475569"/>
                </a:solidFill>
                <a:latin typeface="Calibri"/>
              </a:defRPr>
            </a:pPr>
            <a:r>
              <a:t>ΔU=A+Q • 4 quá trình • Bảng tổng hợp</a:t>
            </a:r>
          </a:p>
        </p:txBody>
      </p:sp>
      <p:sp>
        <p:nvSpPr>
          <p:cNvPr id="35" name="Rounded Rectangle 34"/>
          <p:cNvSpPr/>
          <p:nvPr/>
        </p:nvSpPr>
        <p:spPr>
          <a:xfrm>
            <a:off x="411480" y="5312664"/>
            <a:ext cx="7132320" cy="53035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66928" y="5422392"/>
            <a:ext cx="822960" cy="310896"/>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1E293B"/>
                </a:solidFill>
              </a:rPr>
              <a:t>21–23</a:t>
            </a:r>
          </a:p>
        </p:txBody>
      </p:sp>
      <p:sp>
        <p:nvSpPr>
          <p:cNvPr id="37" name="TextBox 36"/>
          <p:cNvSpPr txBox="1"/>
          <p:nvPr/>
        </p:nvSpPr>
        <p:spPr>
          <a:xfrm>
            <a:off x="1508760" y="5367528"/>
            <a:ext cx="4206240" cy="256032"/>
          </a:xfrm>
          <a:prstGeom prst="rect">
            <a:avLst/>
          </a:prstGeom>
          <a:noFill/>
        </p:spPr>
        <p:txBody>
          <a:bodyPr wrap="square"/>
          <a:lstStyle/>
          <a:p>
            <a:pPr algn="l">
              <a:lnSpc>
                <a:spcPts val="1250"/>
              </a:lnSpc>
              <a:defRPr sz="1000" b="1">
                <a:solidFill>
                  <a:srgbClr val="1E293B"/>
                </a:solidFill>
                <a:latin typeface="Calibri"/>
              </a:defRPr>
            </a:pPr>
            <a:r>
              <a:t>C7. Nguyên lý II (16 tr)</a:t>
            </a:r>
          </a:p>
        </p:txBody>
      </p:sp>
      <p:sp>
        <p:nvSpPr>
          <p:cNvPr id="38" name="TextBox 37"/>
          <p:cNvSpPr txBox="1"/>
          <p:nvPr/>
        </p:nvSpPr>
        <p:spPr>
          <a:xfrm>
            <a:off x="1508760" y="5586984"/>
            <a:ext cx="4206240" cy="201168"/>
          </a:xfrm>
          <a:prstGeom prst="rect">
            <a:avLst/>
          </a:prstGeom>
          <a:noFill/>
        </p:spPr>
        <p:txBody>
          <a:bodyPr wrap="square"/>
          <a:lstStyle/>
          <a:p>
            <a:pPr algn="l">
              <a:lnSpc>
                <a:spcPts val="1000"/>
              </a:lnSpc>
              <a:defRPr sz="800" b="0">
                <a:solidFill>
                  <a:srgbClr val="475569"/>
                </a:solidFill>
                <a:latin typeface="Calibri"/>
              </a:defRPr>
            </a:pPr>
            <a:r>
              <a:t>Chiều tự nhiên • Carnot • Entropy</a:t>
            </a:r>
          </a:p>
        </p:txBody>
      </p:sp>
      <p:sp>
        <p:nvSpPr>
          <p:cNvPr id="39" name="Rounded Rectangle 38"/>
          <p:cNvSpPr/>
          <p:nvPr/>
        </p:nvSpPr>
        <p:spPr>
          <a:xfrm>
            <a:off x="411480" y="5934456"/>
            <a:ext cx="7132320" cy="53035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566928" y="6044184"/>
            <a:ext cx="822960" cy="310896"/>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1E293B"/>
                </a:solidFill>
              </a:rPr>
              <a:t>24–26</a:t>
            </a:r>
          </a:p>
        </p:txBody>
      </p:sp>
      <p:sp>
        <p:nvSpPr>
          <p:cNvPr id="41" name="TextBox 40"/>
          <p:cNvSpPr txBox="1"/>
          <p:nvPr/>
        </p:nvSpPr>
        <p:spPr>
          <a:xfrm>
            <a:off x="1508760" y="5989320"/>
            <a:ext cx="4206240" cy="256032"/>
          </a:xfrm>
          <a:prstGeom prst="rect">
            <a:avLst/>
          </a:prstGeom>
          <a:noFill/>
        </p:spPr>
        <p:txBody>
          <a:bodyPr wrap="square"/>
          <a:lstStyle/>
          <a:p>
            <a:pPr algn="l">
              <a:lnSpc>
                <a:spcPts val="1250"/>
              </a:lnSpc>
              <a:defRPr sz="1000" b="1">
                <a:solidFill>
                  <a:srgbClr val="1E293B"/>
                </a:solidFill>
                <a:latin typeface="Calibri"/>
              </a:defRPr>
            </a:pPr>
            <a:r>
              <a:t>Tổng kết</a:t>
            </a:r>
          </a:p>
        </p:txBody>
      </p:sp>
      <p:sp>
        <p:nvSpPr>
          <p:cNvPr id="42" name="TextBox 41"/>
          <p:cNvSpPr txBox="1"/>
          <p:nvPr/>
        </p:nvSpPr>
        <p:spPr>
          <a:xfrm>
            <a:off x="1508760" y="6208776"/>
            <a:ext cx="4206240" cy="201168"/>
          </a:xfrm>
          <a:prstGeom prst="rect">
            <a:avLst/>
          </a:prstGeom>
          <a:noFill/>
        </p:spPr>
        <p:txBody>
          <a:bodyPr wrap="square"/>
          <a:lstStyle/>
          <a:p>
            <a:pPr algn="l">
              <a:lnSpc>
                <a:spcPts val="1000"/>
              </a:lnSpc>
              <a:defRPr sz="800" b="0">
                <a:solidFill>
                  <a:srgbClr val="475569"/>
                </a:solidFill>
                <a:latin typeface="Calibri"/>
              </a:defRPr>
            </a:pPr>
            <a:r>
              <a:t>Cheat Sheet 1 trang • Bảng ký hiệu • Q&amp;A</a:t>
            </a:r>
          </a:p>
        </p:txBody>
      </p:sp>
      <p:sp>
        <p:nvSpPr>
          <p:cNvPr id="43" name="Rounded Rectangle 42"/>
          <p:cNvSpPr/>
          <p:nvPr/>
        </p:nvSpPr>
        <p:spPr>
          <a:xfrm>
            <a:off x="7955279" y="960120"/>
            <a:ext cx="3611880" cy="53949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83879" y="1143000"/>
            <a:ext cx="3154680" cy="274320"/>
          </a:xfrm>
          <a:prstGeom prst="rect">
            <a:avLst/>
          </a:prstGeom>
          <a:noFill/>
        </p:spPr>
        <p:txBody>
          <a:bodyPr wrap="square"/>
          <a:lstStyle/>
          <a:p>
            <a:pPr algn="l">
              <a:lnSpc>
                <a:spcPts val="1375"/>
              </a:lnSpc>
              <a:defRPr sz="1100" b="1">
                <a:solidFill>
                  <a:srgbClr val="0F172A"/>
                </a:solidFill>
                <a:latin typeface="Calibri"/>
              </a:defRPr>
            </a:pPr>
            <a:r>
              <a:t>⏱️  Phân bổ thời gian gợi ý</a:t>
            </a:r>
          </a:p>
        </p:txBody>
      </p:sp>
      <p:sp>
        <p:nvSpPr>
          <p:cNvPr id="45" name="TextBox 44"/>
          <p:cNvSpPr txBox="1"/>
          <p:nvPr/>
        </p:nvSpPr>
        <p:spPr>
          <a:xfrm>
            <a:off x="8183879" y="1600200"/>
            <a:ext cx="1828800" cy="201168"/>
          </a:xfrm>
          <a:prstGeom prst="rect">
            <a:avLst/>
          </a:prstGeom>
          <a:noFill/>
        </p:spPr>
        <p:txBody>
          <a:bodyPr wrap="square"/>
          <a:lstStyle/>
          <a:p>
            <a:pPr algn="l">
              <a:lnSpc>
                <a:spcPts val="1125"/>
              </a:lnSpc>
              <a:defRPr sz="900" b="1">
                <a:solidFill>
                  <a:srgbClr val="1E293B"/>
                </a:solidFill>
                <a:latin typeface="Calibri"/>
              </a:defRPr>
            </a:pPr>
            <a:r>
              <a:t>Mở đầu</a:t>
            </a:r>
          </a:p>
        </p:txBody>
      </p:sp>
      <p:sp>
        <p:nvSpPr>
          <p:cNvPr id="46" name="TextBox 45"/>
          <p:cNvSpPr txBox="1"/>
          <p:nvPr/>
        </p:nvSpPr>
        <p:spPr>
          <a:xfrm>
            <a:off x="10104120" y="1600200"/>
            <a:ext cx="731520" cy="201168"/>
          </a:xfrm>
          <a:prstGeom prst="rect">
            <a:avLst/>
          </a:prstGeom>
          <a:noFill/>
        </p:spPr>
        <p:txBody>
          <a:bodyPr wrap="square"/>
          <a:lstStyle/>
          <a:p>
            <a:pPr algn="r">
              <a:lnSpc>
                <a:spcPts val="1125"/>
              </a:lnSpc>
              <a:defRPr sz="900" b="0">
                <a:solidFill>
                  <a:srgbClr val="475569"/>
                </a:solidFill>
                <a:latin typeface="Calibri"/>
              </a:defRPr>
            </a:pPr>
            <a:r>
              <a:t>8 phút</a:t>
            </a:r>
          </a:p>
        </p:txBody>
      </p:sp>
      <p:sp>
        <p:nvSpPr>
          <p:cNvPr id="47" name="Rounded Rectangle 46"/>
          <p:cNvSpPr/>
          <p:nvPr/>
        </p:nvSpPr>
        <p:spPr>
          <a:xfrm>
            <a:off x="8183879" y="1856232"/>
            <a:ext cx="3154680" cy="128016"/>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183879" y="1856232"/>
            <a:ext cx="1081604" cy="128016"/>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183879" y="2313432"/>
            <a:ext cx="1828800" cy="201168"/>
          </a:xfrm>
          <a:prstGeom prst="rect">
            <a:avLst/>
          </a:prstGeom>
          <a:noFill/>
        </p:spPr>
        <p:txBody>
          <a:bodyPr wrap="square"/>
          <a:lstStyle/>
          <a:p>
            <a:pPr algn="l">
              <a:lnSpc>
                <a:spcPts val="1125"/>
              </a:lnSpc>
              <a:defRPr sz="900" b="1">
                <a:solidFill>
                  <a:srgbClr val="1E293B"/>
                </a:solidFill>
                <a:latin typeface="Calibri"/>
              </a:defRPr>
            </a:pPr>
            <a:r>
              <a:t>C1–C2 (Nền tảng)</a:t>
            </a:r>
          </a:p>
        </p:txBody>
      </p:sp>
      <p:sp>
        <p:nvSpPr>
          <p:cNvPr id="50" name="TextBox 49"/>
          <p:cNvSpPr txBox="1"/>
          <p:nvPr/>
        </p:nvSpPr>
        <p:spPr>
          <a:xfrm>
            <a:off x="10104120" y="2313432"/>
            <a:ext cx="731520" cy="201168"/>
          </a:xfrm>
          <a:prstGeom prst="rect">
            <a:avLst/>
          </a:prstGeom>
          <a:noFill/>
        </p:spPr>
        <p:txBody>
          <a:bodyPr wrap="square"/>
          <a:lstStyle/>
          <a:p>
            <a:pPr algn="r">
              <a:lnSpc>
                <a:spcPts val="1125"/>
              </a:lnSpc>
              <a:defRPr sz="900" b="0">
                <a:solidFill>
                  <a:srgbClr val="475569"/>
                </a:solidFill>
                <a:latin typeface="Calibri"/>
              </a:defRPr>
            </a:pPr>
            <a:r>
              <a:t>18 phút</a:t>
            </a:r>
          </a:p>
        </p:txBody>
      </p:sp>
      <p:sp>
        <p:nvSpPr>
          <p:cNvPr id="51" name="Rounded Rectangle 50"/>
          <p:cNvSpPr/>
          <p:nvPr/>
        </p:nvSpPr>
        <p:spPr>
          <a:xfrm>
            <a:off x="8183879" y="2569464"/>
            <a:ext cx="3154680" cy="128016"/>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8183879" y="2569464"/>
            <a:ext cx="1802674" cy="128016"/>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83879" y="3026664"/>
            <a:ext cx="1828800" cy="201168"/>
          </a:xfrm>
          <a:prstGeom prst="rect">
            <a:avLst/>
          </a:prstGeom>
          <a:noFill/>
        </p:spPr>
        <p:txBody>
          <a:bodyPr wrap="square"/>
          <a:lstStyle/>
          <a:p>
            <a:pPr algn="l">
              <a:lnSpc>
                <a:spcPts val="1125"/>
              </a:lnSpc>
              <a:defRPr sz="900" b="1">
                <a:solidFill>
                  <a:srgbClr val="1E293B"/>
                </a:solidFill>
                <a:latin typeface="Calibri"/>
              </a:defRPr>
            </a:pPr>
            <a:r>
              <a:t>C3–C4 (Trọng tâm)</a:t>
            </a:r>
          </a:p>
        </p:txBody>
      </p:sp>
      <p:sp>
        <p:nvSpPr>
          <p:cNvPr id="54" name="TextBox 53"/>
          <p:cNvSpPr txBox="1"/>
          <p:nvPr/>
        </p:nvSpPr>
        <p:spPr>
          <a:xfrm>
            <a:off x="10104120" y="3026664"/>
            <a:ext cx="731520" cy="201168"/>
          </a:xfrm>
          <a:prstGeom prst="rect">
            <a:avLst/>
          </a:prstGeom>
          <a:noFill/>
        </p:spPr>
        <p:txBody>
          <a:bodyPr wrap="square"/>
          <a:lstStyle/>
          <a:p>
            <a:pPr algn="r">
              <a:lnSpc>
                <a:spcPts val="1125"/>
              </a:lnSpc>
              <a:defRPr sz="900" b="0">
                <a:solidFill>
                  <a:srgbClr val="475569"/>
                </a:solidFill>
                <a:latin typeface="Calibri"/>
              </a:defRPr>
            </a:pPr>
            <a:r>
              <a:t>28 phút</a:t>
            </a:r>
          </a:p>
        </p:txBody>
      </p:sp>
      <p:sp>
        <p:nvSpPr>
          <p:cNvPr id="55" name="Rounded Rectangle 54"/>
          <p:cNvSpPr/>
          <p:nvPr/>
        </p:nvSpPr>
        <p:spPr>
          <a:xfrm>
            <a:off x="8183879" y="3282696"/>
            <a:ext cx="3154680" cy="128016"/>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8183879" y="3282696"/>
            <a:ext cx="2794145" cy="128016"/>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83879" y="3739896"/>
            <a:ext cx="1828800" cy="201168"/>
          </a:xfrm>
          <a:prstGeom prst="rect">
            <a:avLst/>
          </a:prstGeom>
          <a:noFill/>
        </p:spPr>
        <p:txBody>
          <a:bodyPr wrap="square"/>
          <a:lstStyle/>
          <a:p>
            <a:pPr algn="l">
              <a:lnSpc>
                <a:spcPts val="1125"/>
              </a:lnSpc>
              <a:defRPr sz="900" b="1">
                <a:solidFill>
                  <a:srgbClr val="1E293B"/>
                </a:solidFill>
                <a:latin typeface="Calibri"/>
              </a:defRPr>
            </a:pPr>
            <a:r>
              <a:t>C5–C7 (Nhiệt)</a:t>
            </a:r>
          </a:p>
        </p:txBody>
      </p:sp>
      <p:sp>
        <p:nvSpPr>
          <p:cNvPr id="58" name="TextBox 57"/>
          <p:cNvSpPr txBox="1"/>
          <p:nvPr/>
        </p:nvSpPr>
        <p:spPr>
          <a:xfrm>
            <a:off x="10104120" y="3739896"/>
            <a:ext cx="731520" cy="201168"/>
          </a:xfrm>
          <a:prstGeom prst="rect">
            <a:avLst/>
          </a:prstGeom>
          <a:noFill/>
        </p:spPr>
        <p:txBody>
          <a:bodyPr wrap="square"/>
          <a:lstStyle/>
          <a:p>
            <a:pPr algn="r">
              <a:lnSpc>
                <a:spcPts val="1125"/>
              </a:lnSpc>
              <a:defRPr sz="900" b="0">
                <a:solidFill>
                  <a:srgbClr val="475569"/>
                </a:solidFill>
                <a:latin typeface="Calibri"/>
              </a:defRPr>
            </a:pPr>
            <a:r>
              <a:t>24 phút</a:t>
            </a:r>
          </a:p>
        </p:txBody>
      </p:sp>
      <p:sp>
        <p:nvSpPr>
          <p:cNvPr id="59" name="Rounded Rectangle 58"/>
          <p:cNvSpPr/>
          <p:nvPr/>
        </p:nvSpPr>
        <p:spPr>
          <a:xfrm>
            <a:off x="8183879" y="3995928"/>
            <a:ext cx="3154680" cy="128016"/>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8183879" y="3995928"/>
            <a:ext cx="2433610" cy="128016"/>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183879" y="4453128"/>
            <a:ext cx="1828800" cy="201168"/>
          </a:xfrm>
          <a:prstGeom prst="rect">
            <a:avLst/>
          </a:prstGeom>
          <a:noFill/>
        </p:spPr>
        <p:txBody>
          <a:bodyPr wrap="square"/>
          <a:lstStyle/>
          <a:p>
            <a:pPr algn="l">
              <a:lnSpc>
                <a:spcPts val="1125"/>
              </a:lnSpc>
              <a:defRPr sz="900" b="1">
                <a:solidFill>
                  <a:srgbClr val="1E293B"/>
                </a:solidFill>
                <a:latin typeface="Calibri"/>
              </a:defRPr>
            </a:pPr>
            <a:r>
              <a:t>Tổng kết &amp; Hỏi đáp</a:t>
            </a:r>
          </a:p>
        </p:txBody>
      </p:sp>
      <p:sp>
        <p:nvSpPr>
          <p:cNvPr id="62" name="TextBox 61"/>
          <p:cNvSpPr txBox="1"/>
          <p:nvPr/>
        </p:nvSpPr>
        <p:spPr>
          <a:xfrm>
            <a:off x="10104120" y="4453128"/>
            <a:ext cx="731520" cy="201168"/>
          </a:xfrm>
          <a:prstGeom prst="rect">
            <a:avLst/>
          </a:prstGeom>
          <a:noFill/>
        </p:spPr>
        <p:txBody>
          <a:bodyPr wrap="square"/>
          <a:lstStyle/>
          <a:p>
            <a:pPr algn="r">
              <a:lnSpc>
                <a:spcPts val="1125"/>
              </a:lnSpc>
              <a:defRPr sz="900" b="0">
                <a:solidFill>
                  <a:srgbClr val="475569"/>
                </a:solidFill>
                <a:latin typeface="Calibri"/>
              </a:defRPr>
            </a:pPr>
            <a:r>
              <a:t>12 phút</a:t>
            </a:r>
          </a:p>
        </p:txBody>
      </p:sp>
      <p:sp>
        <p:nvSpPr>
          <p:cNvPr id="63" name="Rounded Rectangle 62"/>
          <p:cNvSpPr/>
          <p:nvPr/>
        </p:nvSpPr>
        <p:spPr>
          <a:xfrm>
            <a:off x="8183879" y="4709160"/>
            <a:ext cx="3154680" cy="128016"/>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183879" y="4709160"/>
            <a:ext cx="901337" cy="128016"/>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183879" y="5806440"/>
            <a:ext cx="3154680" cy="457200"/>
          </a:xfrm>
          <a:prstGeom prst="rect">
            <a:avLst/>
          </a:prstGeom>
          <a:noFill/>
        </p:spPr>
        <p:txBody>
          <a:bodyPr wrap="square"/>
          <a:lstStyle/>
          <a:p>
            <a:pPr algn="l">
              <a:lnSpc>
                <a:spcPts val="1000"/>
              </a:lnSpc>
              <a:defRPr sz="800" b="0">
                <a:solidFill>
                  <a:srgbClr val="475569"/>
                </a:solidFill>
                <a:latin typeface="Calibri"/>
              </a:defRPr>
            </a:pPr>
            <a:r>
              <a:t>💡 Mẹo dẫn dắt: Đi theo bản đồ C1→C2→C3→C4→C5→C6→C7. Nhấn mạnh C3 là chương nhiều điểm nhất.</a:t>
            </a:r>
          </a:p>
        </p:txBody>
      </p:sp>
      <p:sp>
        <p:nvSpPr>
          <p:cNvPr id="66" name="TextBox 65"/>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02 / 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0</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Bản đồ kiến thức — Học theo thứ tự này mới không rối</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051560"/>
            <a:ext cx="2697480" cy="1417320"/>
          </a:xfrm>
          <a:prstGeom prst="roundRect">
            <a:avLst/>
          </a:prstGeom>
          <a:solidFill>
            <a:srgbClr val="DBE6FE"/>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8" y="1170432"/>
            <a:ext cx="2468880" cy="201168"/>
          </a:xfrm>
          <a:prstGeom prst="rect">
            <a:avLst/>
          </a:prstGeom>
          <a:noFill/>
        </p:spPr>
        <p:txBody>
          <a:bodyPr wrap="square"/>
          <a:lstStyle/>
          <a:p>
            <a:pPr algn="ctr">
              <a:lnSpc>
                <a:spcPts val="1125"/>
              </a:lnSpc>
              <a:defRPr sz="900" b="1">
                <a:solidFill>
                  <a:srgbClr val="0F172A"/>
                </a:solidFill>
                <a:latin typeface="Calibri"/>
              </a:defRPr>
            </a:pPr>
            <a:r>
              <a:t>C1</a:t>
            </a:r>
          </a:p>
        </p:txBody>
      </p:sp>
      <p:sp>
        <p:nvSpPr>
          <p:cNvPr id="8" name="TextBox 7"/>
          <p:cNvSpPr txBox="1"/>
          <p:nvPr/>
        </p:nvSpPr>
        <p:spPr>
          <a:xfrm>
            <a:off x="521208" y="1389888"/>
            <a:ext cx="2468880" cy="256032"/>
          </a:xfrm>
          <a:prstGeom prst="rect">
            <a:avLst/>
          </a:prstGeom>
          <a:noFill/>
        </p:spPr>
        <p:txBody>
          <a:bodyPr wrap="square"/>
          <a:lstStyle/>
          <a:p>
            <a:pPr algn="ctr">
              <a:lnSpc>
                <a:spcPts val="1625"/>
              </a:lnSpc>
              <a:defRPr sz="1300" b="1">
                <a:solidFill>
                  <a:srgbClr val="0F172A"/>
                </a:solidFill>
                <a:latin typeface="Calibri"/>
              </a:defRPr>
            </a:pPr>
            <a:r>
              <a:t>Động học</a:t>
            </a:r>
          </a:p>
        </p:txBody>
      </p:sp>
      <p:sp>
        <p:nvSpPr>
          <p:cNvPr id="9" name="TextBox 8"/>
          <p:cNvSpPr txBox="1"/>
          <p:nvPr/>
        </p:nvSpPr>
        <p:spPr>
          <a:xfrm>
            <a:off x="521208" y="1691640"/>
            <a:ext cx="2468880" cy="502920"/>
          </a:xfrm>
          <a:prstGeom prst="rect">
            <a:avLst/>
          </a:prstGeom>
          <a:noFill/>
        </p:spPr>
        <p:txBody>
          <a:bodyPr wrap="square"/>
          <a:lstStyle/>
          <a:p>
            <a:pPr algn="ctr">
              <a:lnSpc>
                <a:spcPts val="1125"/>
              </a:lnSpc>
              <a:defRPr sz="900" b="0">
                <a:solidFill>
                  <a:srgbClr val="475569"/>
                </a:solidFill>
                <a:latin typeface="Calibri"/>
              </a:defRPr>
            </a:pPr>
            <a:r>
              <a:t>Mô tả</a:t>
            </a:r>
            <a:br/>
            <a:r>
              <a:t>v, a, quỹ đạo</a:t>
            </a:r>
          </a:p>
        </p:txBody>
      </p:sp>
      <p:sp>
        <p:nvSpPr>
          <p:cNvPr id="10" name="TextBox 9"/>
          <p:cNvSpPr txBox="1"/>
          <p:nvPr/>
        </p:nvSpPr>
        <p:spPr>
          <a:xfrm>
            <a:off x="3108960" y="1600200"/>
            <a:ext cx="256032" cy="256032"/>
          </a:xfrm>
          <a:prstGeom prst="rect">
            <a:avLst/>
          </a:prstGeom>
          <a:noFill/>
        </p:spPr>
        <p:txBody>
          <a:bodyPr wrap="square"/>
          <a:lstStyle/>
          <a:p>
            <a:pPr algn="ctr">
              <a:lnSpc>
                <a:spcPts val="2000"/>
              </a:lnSpc>
              <a:defRPr sz="1600" b="1">
                <a:solidFill>
                  <a:srgbClr val="94A3B8"/>
                </a:solidFill>
                <a:latin typeface="Calibri"/>
              </a:defRPr>
            </a:pPr>
            <a:r>
              <a:t>→</a:t>
            </a:r>
          </a:p>
        </p:txBody>
      </p:sp>
      <p:sp>
        <p:nvSpPr>
          <p:cNvPr id="11" name="Rounded Rectangle 10"/>
          <p:cNvSpPr/>
          <p:nvPr/>
        </p:nvSpPr>
        <p:spPr>
          <a:xfrm>
            <a:off x="3355848" y="1051560"/>
            <a:ext cx="2697480" cy="1417320"/>
          </a:xfrm>
          <a:prstGeom prst="roundRect">
            <a:avLst/>
          </a:prstGeom>
          <a:solidFill>
            <a:srgbClr val="DBE6FE"/>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65576" y="1170432"/>
            <a:ext cx="2468880" cy="201168"/>
          </a:xfrm>
          <a:prstGeom prst="rect">
            <a:avLst/>
          </a:prstGeom>
          <a:noFill/>
        </p:spPr>
        <p:txBody>
          <a:bodyPr wrap="square"/>
          <a:lstStyle/>
          <a:p>
            <a:pPr algn="ctr">
              <a:lnSpc>
                <a:spcPts val="1125"/>
              </a:lnSpc>
              <a:defRPr sz="900" b="1">
                <a:solidFill>
                  <a:srgbClr val="0F172A"/>
                </a:solidFill>
                <a:latin typeface="Calibri"/>
              </a:defRPr>
            </a:pPr>
            <a:r>
              <a:t>C2</a:t>
            </a:r>
          </a:p>
        </p:txBody>
      </p:sp>
      <p:sp>
        <p:nvSpPr>
          <p:cNvPr id="13" name="TextBox 12"/>
          <p:cNvSpPr txBox="1"/>
          <p:nvPr/>
        </p:nvSpPr>
        <p:spPr>
          <a:xfrm>
            <a:off x="3465576" y="1389888"/>
            <a:ext cx="2468880" cy="256032"/>
          </a:xfrm>
          <a:prstGeom prst="rect">
            <a:avLst/>
          </a:prstGeom>
          <a:noFill/>
        </p:spPr>
        <p:txBody>
          <a:bodyPr wrap="square"/>
          <a:lstStyle/>
          <a:p>
            <a:pPr algn="ctr">
              <a:lnSpc>
                <a:spcPts val="1625"/>
              </a:lnSpc>
              <a:defRPr sz="1300" b="1">
                <a:solidFill>
                  <a:srgbClr val="0F172A"/>
                </a:solidFill>
                <a:latin typeface="Calibri"/>
              </a:defRPr>
            </a:pPr>
            <a:r>
              <a:t>Động lực học</a:t>
            </a:r>
          </a:p>
        </p:txBody>
      </p:sp>
      <p:sp>
        <p:nvSpPr>
          <p:cNvPr id="14" name="TextBox 13"/>
          <p:cNvSpPr txBox="1"/>
          <p:nvPr/>
        </p:nvSpPr>
        <p:spPr>
          <a:xfrm>
            <a:off x="3465576" y="1691640"/>
            <a:ext cx="2468880" cy="502920"/>
          </a:xfrm>
          <a:prstGeom prst="rect">
            <a:avLst/>
          </a:prstGeom>
          <a:noFill/>
        </p:spPr>
        <p:txBody>
          <a:bodyPr wrap="square"/>
          <a:lstStyle/>
          <a:p>
            <a:pPr algn="ctr">
              <a:lnSpc>
                <a:spcPts val="1125"/>
              </a:lnSpc>
              <a:defRPr sz="900" b="0">
                <a:solidFill>
                  <a:srgbClr val="475569"/>
                </a:solidFill>
                <a:latin typeface="Calibri"/>
              </a:defRPr>
            </a:pPr>
            <a:r>
              <a:t>Tại sao?</a:t>
            </a:r>
            <a:br/>
            <a:r>
              <a:t>F = m·a</a:t>
            </a:r>
          </a:p>
        </p:txBody>
      </p:sp>
      <p:sp>
        <p:nvSpPr>
          <p:cNvPr id="15" name="TextBox 14"/>
          <p:cNvSpPr txBox="1"/>
          <p:nvPr/>
        </p:nvSpPr>
        <p:spPr>
          <a:xfrm>
            <a:off x="6053328" y="1600200"/>
            <a:ext cx="256032" cy="256032"/>
          </a:xfrm>
          <a:prstGeom prst="rect">
            <a:avLst/>
          </a:prstGeom>
          <a:noFill/>
        </p:spPr>
        <p:txBody>
          <a:bodyPr wrap="square"/>
          <a:lstStyle/>
          <a:p>
            <a:pPr algn="ctr">
              <a:lnSpc>
                <a:spcPts val="2000"/>
              </a:lnSpc>
              <a:defRPr sz="1600" b="1">
                <a:solidFill>
                  <a:srgbClr val="94A3B8"/>
                </a:solidFill>
                <a:latin typeface="Calibri"/>
              </a:defRPr>
            </a:pPr>
            <a:r>
              <a:t>→</a:t>
            </a:r>
          </a:p>
        </p:txBody>
      </p:sp>
      <p:sp>
        <p:nvSpPr>
          <p:cNvPr id="16" name="Rounded Rectangle 15"/>
          <p:cNvSpPr/>
          <p:nvPr/>
        </p:nvSpPr>
        <p:spPr>
          <a:xfrm>
            <a:off x="6300216" y="1051560"/>
            <a:ext cx="2697480" cy="1417320"/>
          </a:xfrm>
          <a:prstGeom prst="roundRect">
            <a:avLst/>
          </a:prstGeom>
          <a:solidFill>
            <a:srgbClr val="FEF3C7"/>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1170432"/>
            <a:ext cx="2468880" cy="201168"/>
          </a:xfrm>
          <a:prstGeom prst="rect">
            <a:avLst/>
          </a:prstGeom>
          <a:noFill/>
        </p:spPr>
        <p:txBody>
          <a:bodyPr wrap="square"/>
          <a:lstStyle/>
          <a:p>
            <a:pPr algn="ctr">
              <a:lnSpc>
                <a:spcPts val="1125"/>
              </a:lnSpc>
              <a:defRPr sz="900" b="1">
                <a:solidFill>
                  <a:srgbClr val="0F172A"/>
                </a:solidFill>
                <a:latin typeface="Calibri"/>
              </a:defRPr>
            </a:pPr>
            <a:r>
              <a:t>C3</a:t>
            </a:r>
          </a:p>
        </p:txBody>
      </p:sp>
      <p:sp>
        <p:nvSpPr>
          <p:cNvPr id="18" name="TextBox 17"/>
          <p:cNvSpPr txBox="1"/>
          <p:nvPr/>
        </p:nvSpPr>
        <p:spPr>
          <a:xfrm>
            <a:off x="6409944" y="1389888"/>
            <a:ext cx="2468880" cy="256032"/>
          </a:xfrm>
          <a:prstGeom prst="rect">
            <a:avLst/>
          </a:prstGeom>
          <a:noFill/>
        </p:spPr>
        <p:txBody>
          <a:bodyPr wrap="square"/>
          <a:lstStyle/>
          <a:p>
            <a:pPr algn="ctr">
              <a:lnSpc>
                <a:spcPts val="1625"/>
              </a:lnSpc>
              <a:defRPr sz="1300" b="1">
                <a:solidFill>
                  <a:srgbClr val="0F172A"/>
                </a:solidFill>
                <a:latin typeface="Calibri"/>
              </a:defRPr>
            </a:pPr>
            <a:r>
              <a:t>Bảo toàn</a:t>
            </a:r>
          </a:p>
        </p:txBody>
      </p:sp>
      <p:sp>
        <p:nvSpPr>
          <p:cNvPr id="19" name="TextBox 18"/>
          <p:cNvSpPr txBox="1"/>
          <p:nvPr/>
        </p:nvSpPr>
        <p:spPr>
          <a:xfrm>
            <a:off x="6409944" y="1691640"/>
            <a:ext cx="2468880" cy="502920"/>
          </a:xfrm>
          <a:prstGeom prst="rect">
            <a:avLst/>
          </a:prstGeom>
          <a:noFill/>
        </p:spPr>
        <p:txBody>
          <a:bodyPr wrap="square"/>
          <a:lstStyle/>
          <a:p>
            <a:pPr algn="ctr">
              <a:lnSpc>
                <a:spcPts val="1125"/>
              </a:lnSpc>
              <a:defRPr sz="900" b="0">
                <a:solidFill>
                  <a:srgbClr val="475569"/>
                </a:solidFill>
                <a:latin typeface="Calibri"/>
              </a:defRPr>
            </a:pPr>
            <a:r>
              <a:t>p, L, Cơ năng</a:t>
            </a:r>
            <a:br/>
            <a:r>
              <a:t>Va chạm</a:t>
            </a:r>
          </a:p>
        </p:txBody>
      </p:sp>
      <p:sp>
        <p:nvSpPr>
          <p:cNvPr id="20" name="TextBox 19"/>
          <p:cNvSpPr txBox="1"/>
          <p:nvPr/>
        </p:nvSpPr>
        <p:spPr>
          <a:xfrm>
            <a:off x="8997696" y="1600200"/>
            <a:ext cx="256032" cy="256032"/>
          </a:xfrm>
          <a:prstGeom prst="rect">
            <a:avLst/>
          </a:prstGeom>
          <a:noFill/>
        </p:spPr>
        <p:txBody>
          <a:bodyPr wrap="square"/>
          <a:lstStyle/>
          <a:p>
            <a:pPr algn="ctr">
              <a:lnSpc>
                <a:spcPts val="2000"/>
              </a:lnSpc>
              <a:defRPr sz="1600" b="1">
                <a:solidFill>
                  <a:srgbClr val="94A3B8"/>
                </a:solidFill>
                <a:latin typeface="Calibri"/>
              </a:defRPr>
            </a:pPr>
            <a:r>
              <a:t>→</a:t>
            </a:r>
          </a:p>
        </p:txBody>
      </p:sp>
      <p:sp>
        <p:nvSpPr>
          <p:cNvPr id="21" name="Rounded Rectangle 20"/>
          <p:cNvSpPr/>
          <p:nvPr/>
        </p:nvSpPr>
        <p:spPr>
          <a:xfrm>
            <a:off x="9244584" y="1051560"/>
            <a:ext cx="2697480" cy="1417320"/>
          </a:xfrm>
          <a:prstGeom prst="roundRect">
            <a:avLst/>
          </a:prstGeom>
          <a:solidFill>
            <a:srgbClr val="DCFCE7"/>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54312" y="1170432"/>
            <a:ext cx="2468880" cy="201168"/>
          </a:xfrm>
          <a:prstGeom prst="rect">
            <a:avLst/>
          </a:prstGeom>
          <a:noFill/>
        </p:spPr>
        <p:txBody>
          <a:bodyPr wrap="square"/>
          <a:lstStyle/>
          <a:p>
            <a:pPr algn="ctr">
              <a:lnSpc>
                <a:spcPts val="1125"/>
              </a:lnSpc>
              <a:defRPr sz="900" b="1">
                <a:solidFill>
                  <a:srgbClr val="0F172A"/>
                </a:solidFill>
                <a:latin typeface="Calibri"/>
              </a:defRPr>
            </a:pPr>
            <a:r>
              <a:t>C4</a:t>
            </a:r>
          </a:p>
        </p:txBody>
      </p:sp>
      <p:sp>
        <p:nvSpPr>
          <p:cNvPr id="23" name="TextBox 22"/>
          <p:cNvSpPr txBox="1"/>
          <p:nvPr/>
        </p:nvSpPr>
        <p:spPr>
          <a:xfrm>
            <a:off x="9354312" y="1389888"/>
            <a:ext cx="2468880" cy="256032"/>
          </a:xfrm>
          <a:prstGeom prst="rect">
            <a:avLst/>
          </a:prstGeom>
          <a:noFill/>
        </p:spPr>
        <p:txBody>
          <a:bodyPr wrap="square"/>
          <a:lstStyle/>
          <a:p>
            <a:pPr algn="ctr">
              <a:lnSpc>
                <a:spcPts val="1625"/>
              </a:lnSpc>
              <a:defRPr sz="1300" b="1">
                <a:solidFill>
                  <a:srgbClr val="0F172A"/>
                </a:solidFill>
                <a:latin typeface="Calibri"/>
              </a:defRPr>
            </a:pPr>
            <a:r>
              <a:t>Vật rắn</a:t>
            </a:r>
          </a:p>
        </p:txBody>
      </p:sp>
      <p:sp>
        <p:nvSpPr>
          <p:cNvPr id="24" name="TextBox 23"/>
          <p:cNvSpPr txBox="1"/>
          <p:nvPr/>
        </p:nvSpPr>
        <p:spPr>
          <a:xfrm>
            <a:off x="9354312" y="1691640"/>
            <a:ext cx="2468880" cy="502920"/>
          </a:xfrm>
          <a:prstGeom prst="rect">
            <a:avLst/>
          </a:prstGeom>
          <a:noFill/>
        </p:spPr>
        <p:txBody>
          <a:bodyPr wrap="square"/>
          <a:lstStyle/>
          <a:p>
            <a:pPr algn="ctr">
              <a:lnSpc>
                <a:spcPts val="1125"/>
              </a:lnSpc>
              <a:defRPr sz="900" b="0">
                <a:solidFill>
                  <a:srgbClr val="475569"/>
                </a:solidFill>
                <a:latin typeface="Calibri"/>
              </a:defRPr>
            </a:pPr>
            <a:r>
              <a:t>Quay</a:t>
            </a:r>
            <a:br/>
            <a:r>
              <a:t>M = I·β</a:t>
            </a:r>
          </a:p>
        </p:txBody>
      </p:sp>
      <p:sp>
        <p:nvSpPr>
          <p:cNvPr id="25" name="Rounded Rectangle 24"/>
          <p:cNvSpPr/>
          <p:nvPr/>
        </p:nvSpPr>
        <p:spPr>
          <a:xfrm>
            <a:off x="1463040" y="2743200"/>
            <a:ext cx="2880360" cy="1417320"/>
          </a:xfrm>
          <a:prstGeom prst="roundRect">
            <a:avLst/>
          </a:prstGeom>
          <a:solidFill>
            <a:srgbClr val="FDE2F8"/>
          </a:solidFill>
          <a:ln w="15240">
            <a:solidFill>
              <a:srgbClr val="FBC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72768" y="2862072"/>
            <a:ext cx="2651760" cy="201168"/>
          </a:xfrm>
          <a:prstGeom prst="rect">
            <a:avLst/>
          </a:prstGeom>
          <a:noFill/>
        </p:spPr>
        <p:txBody>
          <a:bodyPr wrap="square"/>
          <a:lstStyle/>
          <a:p>
            <a:pPr algn="ctr">
              <a:lnSpc>
                <a:spcPts val="1125"/>
              </a:lnSpc>
              <a:defRPr sz="900" b="1">
                <a:solidFill>
                  <a:srgbClr val="0F172A"/>
                </a:solidFill>
                <a:latin typeface="Calibri"/>
              </a:defRPr>
            </a:pPr>
            <a:r>
              <a:t>C5</a:t>
            </a:r>
          </a:p>
        </p:txBody>
      </p:sp>
      <p:sp>
        <p:nvSpPr>
          <p:cNvPr id="27" name="TextBox 26"/>
          <p:cNvSpPr txBox="1"/>
          <p:nvPr/>
        </p:nvSpPr>
        <p:spPr>
          <a:xfrm>
            <a:off x="1572768" y="3081528"/>
            <a:ext cx="2651760" cy="256032"/>
          </a:xfrm>
          <a:prstGeom prst="rect">
            <a:avLst/>
          </a:prstGeom>
          <a:noFill/>
        </p:spPr>
        <p:txBody>
          <a:bodyPr wrap="square"/>
          <a:lstStyle/>
          <a:p>
            <a:pPr algn="ctr">
              <a:lnSpc>
                <a:spcPts val="1625"/>
              </a:lnSpc>
              <a:defRPr sz="1300" b="1">
                <a:solidFill>
                  <a:srgbClr val="0F172A"/>
                </a:solidFill>
                <a:latin typeface="Calibri"/>
              </a:defRPr>
            </a:pPr>
            <a:r>
              <a:t>Khí lý tưởng</a:t>
            </a:r>
          </a:p>
        </p:txBody>
      </p:sp>
      <p:sp>
        <p:nvSpPr>
          <p:cNvPr id="28" name="TextBox 27"/>
          <p:cNvSpPr txBox="1"/>
          <p:nvPr/>
        </p:nvSpPr>
        <p:spPr>
          <a:xfrm>
            <a:off x="1572768" y="3383280"/>
            <a:ext cx="2651760" cy="502920"/>
          </a:xfrm>
          <a:prstGeom prst="rect">
            <a:avLst/>
          </a:prstGeom>
          <a:noFill/>
        </p:spPr>
        <p:txBody>
          <a:bodyPr wrap="square"/>
          <a:lstStyle/>
          <a:p>
            <a:pPr algn="ctr">
              <a:lnSpc>
                <a:spcPts val="1125"/>
              </a:lnSpc>
              <a:defRPr sz="900" b="0">
                <a:solidFill>
                  <a:srgbClr val="475569"/>
                </a:solidFill>
                <a:latin typeface="Calibri"/>
              </a:defRPr>
            </a:pPr>
            <a:r>
              <a:t>pV = νRT</a:t>
            </a:r>
            <a:br/>
            <a:r>
              <a:t>Động học</a:t>
            </a:r>
          </a:p>
        </p:txBody>
      </p:sp>
      <p:sp>
        <p:nvSpPr>
          <p:cNvPr id="29" name="TextBox 28"/>
          <p:cNvSpPr txBox="1"/>
          <p:nvPr/>
        </p:nvSpPr>
        <p:spPr>
          <a:xfrm>
            <a:off x="4343400" y="3291840"/>
            <a:ext cx="256032" cy="256032"/>
          </a:xfrm>
          <a:prstGeom prst="rect">
            <a:avLst/>
          </a:prstGeom>
          <a:noFill/>
        </p:spPr>
        <p:txBody>
          <a:bodyPr wrap="square"/>
          <a:lstStyle/>
          <a:p>
            <a:pPr algn="ctr">
              <a:lnSpc>
                <a:spcPts val="2000"/>
              </a:lnSpc>
              <a:defRPr sz="1600" b="1">
                <a:solidFill>
                  <a:srgbClr val="94A3B8"/>
                </a:solidFill>
                <a:latin typeface="Calibri"/>
              </a:defRPr>
            </a:pPr>
            <a:r>
              <a:t>→</a:t>
            </a:r>
          </a:p>
        </p:txBody>
      </p:sp>
      <p:sp>
        <p:nvSpPr>
          <p:cNvPr id="30" name="Rounded Rectangle 29"/>
          <p:cNvSpPr/>
          <p:nvPr/>
        </p:nvSpPr>
        <p:spPr>
          <a:xfrm>
            <a:off x="4590288" y="2743200"/>
            <a:ext cx="2880360" cy="1417320"/>
          </a:xfrm>
          <a:prstGeom prst="roundRect">
            <a:avLst/>
          </a:prstGeom>
          <a:solidFill>
            <a:srgbClr val="FFEDD5"/>
          </a:solidFill>
          <a:ln w="1524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00016" y="2862072"/>
            <a:ext cx="2651760" cy="201168"/>
          </a:xfrm>
          <a:prstGeom prst="rect">
            <a:avLst/>
          </a:prstGeom>
          <a:noFill/>
        </p:spPr>
        <p:txBody>
          <a:bodyPr wrap="square"/>
          <a:lstStyle/>
          <a:p>
            <a:pPr algn="ctr">
              <a:lnSpc>
                <a:spcPts val="1125"/>
              </a:lnSpc>
              <a:defRPr sz="900" b="1">
                <a:solidFill>
                  <a:srgbClr val="0F172A"/>
                </a:solidFill>
                <a:latin typeface="Calibri"/>
              </a:defRPr>
            </a:pPr>
            <a:r>
              <a:t>C6</a:t>
            </a:r>
          </a:p>
        </p:txBody>
      </p:sp>
      <p:sp>
        <p:nvSpPr>
          <p:cNvPr id="32" name="TextBox 31"/>
          <p:cNvSpPr txBox="1"/>
          <p:nvPr/>
        </p:nvSpPr>
        <p:spPr>
          <a:xfrm>
            <a:off x="4700016" y="3081528"/>
            <a:ext cx="2651760" cy="256032"/>
          </a:xfrm>
          <a:prstGeom prst="rect">
            <a:avLst/>
          </a:prstGeom>
          <a:noFill/>
        </p:spPr>
        <p:txBody>
          <a:bodyPr wrap="square"/>
          <a:lstStyle/>
          <a:p>
            <a:pPr algn="ctr">
              <a:lnSpc>
                <a:spcPts val="1625"/>
              </a:lnSpc>
              <a:defRPr sz="1300" b="1">
                <a:solidFill>
                  <a:srgbClr val="0F172A"/>
                </a:solidFill>
                <a:latin typeface="Calibri"/>
              </a:defRPr>
            </a:pPr>
            <a:r>
              <a:t>Nguyên lý I</a:t>
            </a:r>
          </a:p>
        </p:txBody>
      </p:sp>
      <p:sp>
        <p:nvSpPr>
          <p:cNvPr id="33" name="TextBox 32"/>
          <p:cNvSpPr txBox="1"/>
          <p:nvPr/>
        </p:nvSpPr>
        <p:spPr>
          <a:xfrm>
            <a:off x="4700016" y="3383280"/>
            <a:ext cx="2651760" cy="502920"/>
          </a:xfrm>
          <a:prstGeom prst="rect">
            <a:avLst/>
          </a:prstGeom>
          <a:noFill/>
        </p:spPr>
        <p:txBody>
          <a:bodyPr wrap="square"/>
          <a:lstStyle/>
          <a:p>
            <a:pPr algn="ctr">
              <a:lnSpc>
                <a:spcPts val="1125"/>
              </a:lnSpc>
              <a:defRPr sz="900" b="0">
                <a:solidFill>
                  <a:srgbClr val="475569"/>
                </a:solidFill>
                <a:latin typeface="Calibri"/>
              </a:defRPr>
            </a:pPr>
            <a:r>
              <a:t>ΔU = A + Q</a:t>
            </a:r>
            <a:br/>
            <a:r>
              <a:t>Bảo toàn</a:t>
            </a:r>
          </a:p>
        </p:txBody>
      </p:sp>
      <p:sp>
        <p:nvSpPr>
          <p:cNvPr id="34" name="TextBox 33"/>
          <p:cNvSpPr txBox="1"/>
          <p:nvPr/>
        </p:nvSpPr>
        <p:spPr>
          <a:xfrm>
            <a:off x="7470648" y="3291840"/>
            <a:ext cx="256032" cy="256032"/>
          </a:xfrm>
          <a:prstGeom prst="rect">
            <a:avLst/>
          </a:prstGeom>
          <a:noFill/>
        </p:spPr>
        <p:txBody>
          <a:bodyPr wrap="square"/>
          <a:lstStyle/>
          <a:p>
            <a:pPr algn="ctr">
              <a:lnSpc>
                <a:spcPts val="2000"/>
              </a:lnSpc>
              <a:defRPr sz="1600" b="1">
                <a:solidFill>
                  <a:srgbClr val="94A3B8"/>
                </a:solidFill>
                <a:latin typeface="Calibri"/>
              </a:defRPr>
            </a:pPr>
            <a:r>
              <a:t>→</a:t>
            </a:r>
          </a:p>
        </p:txBody>
      </p:sp>
      <p:sp>
        <p:nvSpPr>
          <p:cNvPr id="35" name="Rounded Rectangle 34"/>
          <p:cNvSpPr/>
          <p:nvPr/>
        </p:nvSpPr>
        <p:spPr>
          <a:xfrm>
            <a:off x="7717536" y="2743200"/>
            <a:ext cx="2880360" cy="1417320"/>
          </a:xfrm>
          <a:prstGeom prst="roundRect">
            <a:avLst/>
          </a:prstGeom>
          <a:solidFill>
            <a:srgbClr val="EDE9FE"/>
          </a:solidFill>
          <a:ln w="1524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27264" y="2862072"/>
            <a:ext cx="2651760" cy="201168"/>
          </a:xfrm>
          <a:prstGeom prst="rect">
            <a:avLst/>
          </a:prstGeom>
          <a:noFill/>
        </p:spPr>
        <p:txBody>
          <a:bodyPr wrap="square"/>
          <a:lstStyle/>
          <a:p>
            <a:pPr algn="ctr">
              <a:lnSpc>
                <a:spcPts val="1125"/>
              </a:lnSpc>
              <a:defRPr sz="900" b="1">
                <a:solidFill>
                  <a:srgbClr val="0F172A"/>
                </a:solidFill>
                <a:latin typeface="Calibri"/>
              </a:defRPr>
            </a:pPr>
            <a:r>
              <a:t>C7</a:t>
            </a:r>
          </a:p>
        </p:txBody>
      </p:sp>
      <p:sp>
        <p:nvSpPr>
          <p:cNvPr id="37" name="TextBox 36"/>
          <p:cNvSpPr txBox="1"/>
          <p:nvPr/>
        </p:nvSpPr>
        <p:spPr>
          <a:xfrm>
            <a:off x="7827264" y="3081528"/>
            <a:ext cx="2651760" cy="256032"/>
          </a:xfrm>
          <a:prstGeom prst="rect">
            <a:avLst/>
          </a:prstGeom>
          <a:noFill/>
        </p:spPr>
        <p:txBody>
          <a:bodyPr wrap="square"/>
          <a:lstStyle/>
          <a:p>
            <a:pPr algn="ctr">
              <a:lnSpc>
                <a:spcPts val="1625"/>
              </a:lnSpc>
              <a:defRPr sz="1300" b="1">
                <a:solidFill>
                  <a:srgbClr val="0F172A"/>
                </a:solidFill>
                <a:latin typeface="Calibri"/>
              </a:defRPr>
            </a:pPr>
            <a:r>
              <a:t>Nguyên lý II</a:t>
            </a:r>
          </a:p>
        </p:txBody>
      </p:sp>
      <p:sp>
        <p:nvSpPr>
          <p:cNvPr id="38" name="TextBox 37"/>
          <p:cNvSpPr txBox="1"/>
          <p:nvPr/>
        </p:nvSpPr>
        <p:spPr>
          <a:xfrm>
            <a:off x="7827264" y="3383280"/>
            <a:ext cx="2651760" cy="502920"/>
          </a:xfrm>
          <a:prstGeom prst="rect">
            <a:avLst/>
          </a:prstGeom>
          <a:noFill/>
        </p:spPr>
        <p:txBody>
          <a:bodyPr wrap="square"/>
          <a:lstStyle/>
          <a:p>
            <a:pPr algn="ctr">
              <a:lnSpc>
                <a:spcPts val="1125"/>
              </a:lnSpc>
              <a:defRPr sz="900" b="0">
                <a:solidFill>
                  <a:srgbClr val="475569"/>
                </a:solidFill>
                <a:latin typeface="Calibri"/>
              </a:defRPr>
            </a:pPr>
            <a:r>
              <a:t>Carnot</a:t>
            </a:r>
            <a:br/>
            <a:r>
              <a:t>Entropy</a:t>
            </a:r>
          </a:p>
        </p:txBody>
      </p:sp>
      <p:sp>
        <p:nvSpPr>
          <p:cNvPr id="39" name="Rounded Rectangle 38"/>
          <p:cNvSpPr/>
          <p:nvPr/>
        </p:nvSpPr>
        <p:spPr>
          <a:xfrm>
            <a:off x="411480" y="4572000"/>
            <a:ext cx="11365992" cy="1691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4754880"/>
            <a:ext cx="10881360" cy="256032"/>
          </a:xfrm>
          <a:prstGeom prst="rect">
            <a:avLst/>
          </a:prstGeom>
          <a:noFill/>
        </p:spPr>
        <p:txBody>
          <a:bodyPr wrap="square"/>
          <a:lstStyle/>
          <a:p>
            <a:pPr algn="l">
              <a:lnSpc>
                <a:spcPts val="1375"/>
              </a:lnSpc>
              <a:defRPr sz="1100" b="1">
                <a:solidFill>
                  <a:srgbClr val="0F172A"/>
                </a:solidFill>
                <a:latin typeface="Calibri"/>
              </a:defRPr>
            </a:pPr>
            <a:r>
              <a:t>🔗  Liên kết logic để dẫn dắt khi nói:</a:t>
            </a:r>
          </a:p>
        </p:txBody>
      </p:sp>
      <p:sp>
        <p:nvSpPr>
          <p:cNvPr id="41" name="TextBox 40"/>
          <p:cNvSpPr txBox="1"/>
          <p:nvPr/>
        </p:nvSpPr>
        <p:spPr>
          <a:xfrm>
            <a:off x="685800" y="5074920"/>
            <a:ext cx="1188720" cy="201168"/>
          </a:xfrm>
          <a:prstGeom prst="rect">
            <a:avLst/>
          </a:prstGeom>
          <a:noFill/>
        </p:spPr>
        <p:txBody>
          <a:bodyPr wrap="square"/>
          <a:lstStyle/>
          <a:p>
            <a:pPr algn="l">
              <a:lnSpc>
                <a:spcPts val="1125"/>
              </a:lnSpc>
              <a:defRPr sz="900" b="1">
                <a:solidFill>
                  <a:srgbClr val="0F172A"/>
                </a:solidFill>
                <a:latin typeface="Calibri"/>
              </a:defRPr>
            </a:pPr>
            <a:r>
              <a:t>C1 → C2:</a:t>
            </a:r>
          </a:p>
        </p:txBody>
      </p:sp>
      <p:sp>
        <p:nvSpPr>
          <p:cNvPr id="42" name="TextBox 41"/>
          <p:cNvSpPr txBox="1"/>
          <p:nvPr/>
        </p:nvSpPr>
        <p:spPr>
          <a:xfrm>
            <a:off x="1874519" y="5074920"/>
            <a:ext cx="9601200" cy="201168"/>
          </a:xfrm>
          <a:prstGeom prst="rect">
            <a:avLst/>
          </a:prstGeom>
          <a:noFill/>
        </p:spPr>
        <p:txBody>
          <a:bodyPr wrap="square"/>
          <a:lstStyle/>
          <a:p>
            <a:pPr algn="l">
              <a:lnSpc>
                <a:spcPts val="1125"/>
              </a:lnSpc>
              <a:defRPr sz="900" b="0">
                <a:solidFill>
                  <a:srgbClr val="475569"/>
                </a:solidFill>
                <a:latin typeface="Calibri"/>
              </a:defRPr>
            </a:pPr>
            <a:r>
              <a:t>Học 1 hiểu 2 — Biết mô tả (C1) rồi mới giải thích tại sao (C2: F=ma).</a:t>
            </a:r>
          </a:p>
        </p:txBody>
      </p:sp>
      <p:sp>
        <p:nvSpPr>
          <p:cNvPr id="43" name="TextBox 42"/>
          <p:cNvSpPr txBox="1"/>
          <p:nvPr/>
        </p:nvSpPr>
        <p:spPr>
          <a:xfrm>
            <a:off x="685800" y="5367528"/>
            <a:ext cx="1188720" cy="201168"/>
          </a:xfrm>
          <a:prstGeom prst="rect">
            <a:avLst/>
          </a:prstGeom>
          <a:noFill/>
        </p:spPr>
        <p:txBody>
          <a:bodyPr wrap="square"/>
          <a:lstStyle/>
          <a:p>
            <a:pPr algn="l">
              <a:lnSpc>
                <a:spcPts val="1125"/>
              </a:lnSpc>
              <a:defRPr sz="900" b="1">
                <a:solidFill>
                  <a:srgbClr val="0F172A"/>
                </a:solidFill>
                <a:latin typeface="Calibri"/>
              </a:defRPr>
            </a:pPr>
            <a:r>
              <a:t>C3 là trung tâm:</a:t>
            </a:r>
          </a:p>
        </p:txBody>
      </p:sp>
      <p:sp>
        <p:nvSpPr>
          <p:cNvPr id="44" name="TextBox 43"/>
          <p:cNvSpPr txBox="1"/>
          <p:nvPr/>
        </p:nvSpPr>
        <p:spPr>
          <a:xfrm>
            <a:off x="1874519" y="5367528"/>
            <a:ext cx="9601200" cy="201168"/>
          </a:xfrm>
          <a:prstGeom prst="rect">
            <a:avLst/>
          </a:prstGeom>
          <a:noFill/>
        </p:spPr>
        <p:txBody>
          <a:bodyPr wrap="square"/>
          <a:lstStyle/>
          <a:p>
            <a:pPr algn="l">
              <a:lnSpc>
                <a:spcPts val="1125"/>
              </a:lnSpc>
              <a:defRPr sz="900" b="0">
                <a:solidFill>
                  <a:srgbClr val="475569"/>
                </a:solidFill>
                <a:latin typeface="Calibri"/>
              </a:defRPr>
            </a:pPr>
            <a:r>
              <a:t>40–50% đề thi. Va chạm &amp; bảo toàn cơ năng là 2 bẫy lớn nhất.</a:t>
            </a:r>
          </a:p>
        </p:txBody>
      </p:sp>
      <p:sp>
        <p:nvSpPr>
          <p:cNvPr id="45" name="TextBox 44"/>
          <p:cNvSpPr txBox="1"/>
          <p:nvPr/>
        </p:nvSpPr>
        <p:spPr>
          <a:xfrm>
            <a:off x="685800" y="5660136"/>
            <a:ext cx="1188720" cy="201168"/>
          </a:xfrm>
          <a:prstGeom prst="rect">
            <a:avLst/>
          </a:prstGeom>
          <a:noFill/>
        </p:spPr>
        <p:txBody>
          <a:bodyPr wrap="square"/>
          <a:lstStyle/>
          <a:p>
            <a:pPr algn="l">
              <a:lnSpc>
                <a:spcPts val="1125"/>
              </a:lnSpc>
              <a:defRPr sz="900" b="1">
                <a:solidFill>
                  <a:srgbClr val="0F172A"/>
                </a:solidFill>
                <a:latin typeface="Calibri"/>
              </a:defRPr>
            </a:pPr>
            <a:r>
              <a:t>C4 = C2 + C3 phiên bản quay:</a:t>
            </a:r>
          </a:p>
        </p:txBody>
      </p:sp>
      <p:sp>
        <p:nvSpPr>
          <p:cNvPr id="46" name="TextBox 45"/>
          <p:cNvSpPr txBox="1"/>
          <p:nvPr/>
        </p:nvSpPr>
        <p:spPr>
          <a:xfrm>
            <a:off x="1874519" y="5660136"/>
            <a:ext cx="9601200" cy="201168"/>
          </a:xfrm>
          <a:prstGeom prst="rect">
            <a:avLst/>
          </a:prstGeom>
          <a:noFill/>
        </p:spPr>
        <p:txBody>
          <a:bodyPr wrap="square"/>
          <a:lstStyle/>
          <a:p>
            <a:pPr algn="l">
              <a:lnSpc>
                <a:spcPts val="1125"/>
              </a:lnSpc>
              <a:defRPr sz="900" b="0">
                <a:solidFill>
                  <a:srgbClr val="475569"/>
                </a:solidFill>
                <a:latin typeface="Calibri"/>
              </a:defRPr>
            </a:pPr>
            <a:r>
              <a:t>Chỉ đổi F→M, m→I, a→β. Học 1 bộ nhớ luôn bộ kia.</a:t>
            </a:r>
          </a:p>
        </p:txBody>
      </p:sp>
      <p:sp>
        <p:nvSpPr>
          <p:cNvPr id="47" name="TextBox 46"/>
          <p:cNvSpPr txBox="1"/>
          <p:nvPr/>
        </p:nvSpPr>
        <p:spPr>
          <a:xfrm>
            <a:off x="685800" y="5952744"/>
            <a:ext cx="1188720" cy="201168"/>
          </a:xfrm>
          <a:prstGeom prst="rect">
            <a:avLst/>
          </a:prstGeom>
          <a:noFill/>
        </p:spPr>
        <p:txBody>
          <a:bodyPr wrap="square"/>
          <a:lstStyle/>
          <a:p>
            <a:pPr algn="l">
              <a:lnSpc>
                <a:spcPts val="1125"/>
              </a:lnSpc>
              <a:defRPr sz="900" b="1">
                <a:solidFill>
                  <a:srgbClr val="0F172A"/>
                </a:solidFill>
                <a:latin typeface="Calibri"/>
              </a:defRPr>
            </a:pPr>
            <a:r>
              <a:t>C5 → C6 → C7 là chuỗi Nhiệt:</a:t>
            </a:r>
          </a:p>
        </p:txBody>
      </p:sp>
      <p:sp>
        <p:nvSpPr>
          <p:cNvPr id="48" name="TextBox 47"/>
          <p:cNvSpPr txBox="1"/>
          <p:nvPr/>
        </p:nvSpPr>
        <p:spPr>
          <a:xfrm>
            <a:off x="1874519" y="5952744"/>
            <a:ext cx="9601200" cy="201168"/>
          </a:xfrm>
          <a:prstGeom prst="rect">
            <a:avLst/>
          </a:prstGeom>
          <a:noFill/>
        </p:spPr>
        <p:txBody>
          <a:bodyPr wrap="square"/>
          <a:lstStyle/>
          <a:p>
            <a:pPr algn="l">
              <a:lnSpc>
                <a:spcPts val="1125"/>
              </a:lnSpc>
              <a:defRPr sz="900" b="0">
                <a:solidFill>
                  <a:srgbClr val="475569"/>
                </a:solidFill>
                <a:latin typeface="Calibri"/>
              </a:defRPr>
            </a:pPr>
            <a:r>
              <a:t>pV=νRT là cầu nối. Đừng học rời rạc.</a:t>
            </a:r>
          </a:p>
        </p:txBody>
      </p:sp>
      <p:sp>
        <p:nvSpPr>
          <p:cNvPr id="49" name="TextBox 48"/>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03 / 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0</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Phương pháp “Nhớ ngay khi học” — Nói cho người nghe nhớ</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051560"/>
            <a:ext cx="365760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76072" y="1234440"/>
            <a:ext cx="384048" cy="384048"/>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1</a:t>
            </a:r>
          </a:p>
        </p:txBody>
      </p:sp>
      <p:sp>
        <p:nvSpPr>
          <p:cNvPr id="8" name="TextBox 7"/>
          <p:cNvSpPr txBox="1"/>
          <p:nvPr/>
        </p:nvSpPr>
        <p:spPr>
          <a:xfrm>
            <a:off x="1051560" y="1234440"/>
            <a:ext cx="548640" cy="384048"/>
          </a:xfrm>
          <a:prstGeom prst="rect">
            <a:avLst/>
          </a:prstGeom>
          <a:noFill/>
        </p:spPr>
        <p:txBody>
          <a:bodyPr wrap="square"/>
          <a:lstStyle/>
          <a:p>
            <a:pPr algn="ctr">
              <a:lnSpc>
                <a:spcPts val="2250"/>
              </a:lnSpc>
              <a:defRPr sz="1800" b="0">
                <a:solidFill>
                  <a:srgbClr val="1E293B"/>
                </a:solidFill>
                <a:latin typeface="Calibri"/>
              </a:defRPr>
            </a:pPr>
            <a:r>
              <a:t>👁️</a:t>
            </a:r>
          </a:p>
        </p:txBody>
      </p:sp>
      <p:sp>
        <p:nvSpPr>
          <p:cNvPr id="9" name="TextBox 8"/>
          <p:cNvSpPr txBox="1"/>
          <p:nvPr/>
        </p:nvSpPr>
        <p:spPr>
          <a:xfrm>
            <a:off x="576072" y="1719072"/>
            <a:ext cx="3328416" cy="502920"/>
          </a:xfrm>
          <a:prstGeom prst="rect">
            <a:avLst/>
          </a:prstGeom>
          <a:noFill/>
        </p:spPr>
        <p:txBody>
          <a:bodyPr wrap="square"/>
          <a:lstStyle/>
          <a:p>
            <a:pPr algn="ctr">
              <a:lnSpc>
                <a:spcPts val="1500"/>
              </a:lnSpc>
              <a:defRPr sz="1200" b="1">
                <a:solidFill>
                  <a:srgbClr val="0F172A"/>
                </a:solidFill>
                <a:latin typeface="Calibri"/>
              </a:defRPr>
            </a:pPr>
            <a:r>
              <a:t>Nhìn hình trước,</a:t>
            </a:r>
            <a:br/>
            <a:r>
              <a:t>đọc chữ sau</a:t>
            </a:r>
          </a:p>
        </p:txBody>
      </p:sp>
      <p:sp>
        <p:nvSpPr>
          <p:cNvPr id="10" name="TextBox 9"/>
          <p:cNvSpPr txBox="1"/>
          <p:nvPr/>
        </p:nvSpPr>
        <p:spPr>
          <a:xfrm>
            <a:off x="640080" y="2331720"/>
            <a:ext cx="3200400" cy="731520"/>
          </a:xfrm>
          <a:prstGeom prst="rect">
            <a:avLst/>
          </a:prstGeom>
          <a:noFill/>
        </p:spPr>
        <p:txBody>
          <a:bodyPr wrap="square"/>
          <a:lstStyle/>
          <a:p>
            <a:pPr algn="ctr">
              <a:lnSpc>
                <a:spcPts val="1125"/>
              </a:lnSpc>
              <a:defRPr sz="900" b="0">
                <a:solidFill>
                  <a:srgbClr val="475569"/>
                </a:solidFill>
                <a:latin typeface="Calibri"/>
              </a:defRPr>
            </a:pPr>
            <a:r>
              <a:t>Mỗi chương có 1 hình lớn đầu bài. Nhìn 20 giây để hình dung chuyển động/lực/đồ thị trước khi đọc công thức.</a:t>
            </a:r>
          </a:p>
        </p:txBody>
      </p:sp>
      <p:sp>
        <p:nvSpPr>
          <p:cNvPr id="11" name="Rounded Rectangle 10"/>
          <p:cNvSpPr/>
          <p:nvPr/>
        </p:nvSpPr>
        <p:spPr>
          <a:xfrm>
            <a:off x="4325112" y="1051560"/>
            <a:ext cx="365760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489704" y="1234440"/>
            <a:ext cx="384048" cy="384048"/>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2</a:t>
            </a:r>
          </a:p>
        </p:txBody>
      </p:sp>
      <p:sp>
        <p:nvSpPr>
          <p:cNvPr id="13" name="TextBox 12"/>
          <p:cNvSpPr txBox="1"/>
          <p:nvPr/>
        </p:nvSpPr>
        <p:spPr>
          <a:xfrm>
            <a:off x="4965192" y="1234440"/>
            <a:ext cx="548640" cy="384048"/>
          </a:xfrm>
          <a:prstGeom prst="rect">
            <a:avLst/>
          </a:prstGeom>
          <a:noFill/>
        </p:spPr>
        <p:txBody>
          <a:bodyPr wrap="square"/>
          <a:lstStyle/>
          <a:p>
            <a:pPr algn="ctr">
              <a:lnSpc>
                <a:spcPts val="2250"/>
              </a:lnSpc>
              <a:defRPr sz="1800" b="0">
                <a:solidFill>
                  <a:srgbClr val="1E293B"/>
                </a:solidFill>
                <a:latin typeface="Calibri"/>
              </a:defRPr>
            </a:pPr>
            <a:r>
              <a:t>💬</a:t>
            </a:r>
          </a:p>
        </p:txBody>
      </p:sp>
      <p:sp>
        <p:nvSpPr>
          <p:cNvPr id="14" name="TextBox 13"/>
          <p:cNvSpPr txBox="1"/>
          <p:nvPr/>
        </p:nvSpPr>
        <p:spPr>
          <a:xfrm>
            <a:off x="4489704" y="1719072"/>
            <a:ext cx="3328416" cy="502920"/>
          </a:xfrm>
          <a:prstGeom prst="rect">
            <a:avLst/>
          </a:prstGeom>
          <a:noFill/>
        </p:spPr>
        <p:txBody>
          <a:bodyPr wrap="square"/>
          <a:lstStyle/>
          <a:p>
            <a:pPr algn="ctr">
              <a:lnSpc>
                <a:spcPts val="1500"/>
              </a:lnSpc>
              <a:defRPr sz="1200" b="1">
                <a:solidFill>
                  <a:srgbClr val="0F172A"/>
                </a:solidFill>
                <a:latin typeface="Calibri"/>
              </a:defRPr>
            </a:pPr>
            <a:r>
              <a:t>Một công thức =</a:t>
            </a:r>
            <a:br/>
            <a:r>
              <a:t>Một câu chuyện</a:t>
            </a:r>
          </a:p>
        </p:txBody>
      </p:sp>
      <p:sp>
        <p:nvSpPr>
          <p:cNvPr id="15" name="TextBox 14"/>
          <p:cNvSpPr txBox="1"/>
          <p:nvPr/>
        </p:nvSpPr>
        <p:spPr>
          <a:xfrm>
            <a:off x="4553712" y="2331720"/>
            <a:ext cx="3200400" cy="731520"/>
          </a:xfrm>
          <a:prstGeom prst="rect">
            <a:avLst/>
          </a:prstGeom>
          <a:noFill/>
        </p:spPr>
        <p:txBody>
          <a:bodyPr wrap="square"/>
          <a:lstStyle/>
          <a:p>
            <a:pPr algn="ctr">
              <a:lnSpc>
                <a:spcPts val="1125"/>
              </a:lnSpc>
              <a:defRPr sz="900" b="0">
                <a:solidFill>
                  <a:srgbClr val="475569"/>
                </a:solidFill>
                <a:latin typeface="Calibri"/>
              </a:defRPr>
            </a:pPr>
            <a:r>
              <a:t>Đừng học vẹt aₙ=v²/R. Hãy nhớ “xe cua gấp R nhỏ + chạy nhanh v lớn → văng mạnh”.</a:t>
            </a:r>
          </a:p>
        </p:txBody>
      </p:sp>
      <p:sp>
        <p:nvSpPr>
          <p:cNvPr id="16" name="Rounded Rectangle 15"/>
          <p:cNvSpPr/>
          <p:nvPr/>
        </p:nvSpPr>
        <p:spPr>
          <a:xfrm>
            <a:off x="8238744" y="1051560"/>
            <a:ext cx="365760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03336" y="1234440"/>
            <a:ext cx="384048" cy="384048"/>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3</a:t>
            </a:r>
          </a:p>
        </p:txBody>
      </p:sp>
      <p:sp>
        <p:nvSpPr>
          <p:cNvPr id="18" name="TextBox 17"/>
          <p:cNvSpPr txBox="1"/>
          <p:nvPr/>
        </p:nvSpPr>
        <p:spPr>
          <a:xfrm>
            <a:off x="8878824" y="1234440"/>
            <a:ext cx="548640" cy="384048"/>
          </a:xfrm>
          <a:prstGeom prst="rect">
            <a:avLst/>
          </a:prstGeom>
          <a:noFill/>
        </p:spPr>
        <p:txBody>
          <a:bodyPr wrap="square"/>
          <a:lstStyle/>
          <a:p>
            <a:pPr algn="ctr">
              <a:lnSpc>
                <a:spcPts val="2250"/>
              </a:lnSpc>
              <a:defRPr sz="1800" b="0">
                <a:solidFill>
                  <a:srgbClr val="1E293B"/>
                </a:solidFill>
                <a:latin typeface="Calibri"/>
              </a:defRPr>
            </a:pPr>
            <a:r>
              <a:t>✍️</a:t>
            </a:r>
          </a:p>
        </p:txBody>
      </p:sp>
      <p:sp>
        <p:nvSpPr>
          <p:cNvPr id="19" name="TextBox 18"/>
          <p:cNvSpPr txBox="1"/>
          <p:nvPr/>
        </p:nvSpPr>
        <p:spPr>
          <a:xfrm>
            <a:off x="8403336" y="1719072"/>
            <a:ext cx="3328416" cy="502920"/>
          </a:xfrm>
          <a:prstGeom prst="rect">
            <a:avLst/>
          </a:prstGeom>
          <a:noFill/>
        </p:spPr>
        <p:txBody>
          <a:bodyPr wrap="square"/>
          <a:lstStyle/>
          <a:p>
            <a:pPr algn="ctr">
              <a:lnSpc>
                <a:spcPts val="1500"/>
              </a:lnSpc>
              <a:defRPr sz="1200" b="1">
                <a:solidFill>
                  <a:srgbClr val="0F172A"/>
                </a:solidFill>
                <a:latin typeface="Calibri"/>
              </a:defRPr>
            </a:pPr>
            <a:r>
              <a:t>Che – Viết – So</a:t>
            </a:r>
          </a:p>
        </p:txBody>
      </p:sp>
      <p:sp>
        <p:nvSpPr>
          <p:cNvPr id="20" name="TextBox 19"/>
          <p:cNvSpPr txBox="1"/>
          <p:nvPr/>
        </p:nvSpPr>
        <p:spPr>
          <a:xfrm>
            <a:off x="8467344" y="2331720"/>
            <a:ext cx="3200400" cy="731520"/>
          </a:xfrm>
          <a:prstGeom prst="rect">
            <a:avLst/>
          </a:prstGeom>
          <a:noFill/>
        </p:spPr>
        <p:txBody>
          <a:bodyPr wrap="square"/>
          <a:lstStyle/>
          <a:p>
            <a:pPr algn="ctr">
              <a:lnSpc>
                <a:spcPts val="1125"/>
              </a:lnSpc>
              <a:defRPr sz="900" b="0">
                <a:solidFill>
                  <a:srgbClr val="475569"/>
                </a:solidFill>
                <a:latin typeface="Calibri"/>
              </a:defRPr>
            </a:pPr>
            <a:r>
              <a:t>Đọc xong che lại, viết ra giấy trắng, mở ra so. Sai chỗ nào là nhớ chỗ đó 3 ngày liền.</a:t>
            </a:r>
          </a:p>
        </p:txBody>
      </p:sp>
      <p:sp>
        <p:nvSpPr>
          <p:cNvPr id="21" name="Rounded Rectangle 20"/>
          <p:cNvSpPr/>
          <p:nvPr/>
        </p:nvSpPr>
        <p:spPr>
          <a:xfrm>
            <a:off x="411480" y="3520440"/>
            <a:ext cx="1136599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703320"/>
            <a:ext cx="10881360" cy="256032"/>
          </a:xfrm>
          <a:prstGeom prst="rect">
            <a:avLst/>
          </a:prstGeom>
          <a:noFill/>
        </p:spPr>
        <p:txBody>
          <a:bodyPr wrap="square"/>
          <a:lstStyle/>
          <a:p>
            <a:pPr algn="l">
              <a:lnSpc>
                <a:spcPts val="1375"/>
              </a:lnSpc>
              <a:defRPr sz="1100" b="1">
                <a:solidFill>
                  <a:srgbClr val="0F172A"/>
                </a:solidFill>
                <a:latin typeface="Calibri"/>
              </a:defRPr>
            </a:pPr>
            <a:r>
              <a:t>🎤  Kịch bản nói cho mỗi chương (áp dụng cho 7 chương sau):</a:t>
            </a:r>
          </a:p>
        </p:txBody>
      </p:sp>
      <p:sp>
        <p:nvSpPr>
          <p:cNvPr id="23" name="Rounded Rectangle 22"/>
          <p:cNvSpPr/>
          <p:nvPr/>
        </p:nvSpPr>
        <p:spPr>
          <a:xfrm>
            <a:off x="640080" y="4069080"/>
            <a:ext cx="685800" cy="329184"/>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0F172A"/>
                </a:solidFill>
              </a:rPr>
              <a:t>30s</a:t>
            </a:r>
          </a:p>
        </p:txBody>
      </p:sp>
      <p:sp>
        <p:nvSpPr>
          <p:cNvPr id="24" name="TextBox 23"/>
          <p:cNvSpPr txBox="1"/>
          <p:nvPr/>
        </p:nvSpPr>
        <p:spPr>
          <a:xfrm>
            <a:off x="1463040" y="4087368"/>
            <a:ext cx="2743200" cy="310896"/>
          </a:xfrm>
          <a:prstGeom prst="rect">
            <a:avLst/>
          </a:prstGeom>
          <a:noFill/>
        </p:spPr>
        <p:txBody>
          <a:bodyPr wrap="square"/>
          <a:lstStyle/>
          <a:p>
            <a:pPr algn="l">
              <a:lnSpc>
                <a:spcPts val="1250"/>
              </a:lnSpc>
              <a:defRPr sz="1000" b="1">
                <a:solidFill>
                  <a:srgbClr val="1E293B"/>
                </a:solidFill>
                <a:latin typeface="Calibri"/>
              </a:defRPr>
            </a:pPr>
            <a:r>
              <a:t>Mở bằng hình + câu hỏi đời thường</a:t>
            </a:r>
          </a:p>
        </p:txBody>
      </p:sp>
      <p:sp>
        <p:nvSpPr>
          <p:cNvPr id="25" name="TextBox 24"/>
          <p:cNvSpPr txBox="1"/>
          <p:nvPr/>
        </p:nvSpPr>
        <p:spPr>
          <a:xfrm>
            <a:off x="4343400" y="4087368"/>
            <a:ext cx="6949440" cy="310896"/>
          </a:xfrm>
          <a:prstGeom prst="rect">
            <a:avLst/>
          </a:prstGeom>
          <a:noFill/>
        </p:spPr>
        <p:txBody>
          <a:bodyPr wrap="square"/>
          <a:lstStyle/>
          <a:p>
            <a:pPr algn="l">
              <a:lnSpc>
                <a:spcPts val="1125"/>
              </a:lnSpc>
              <a:defRPr sz="900" b="0">
                <a:solidFill>
                  <a:srgbClr val="475569"/>
                </a:solidFill>
                <a:latin typeface="Calibri"/>
              </a:defRPr>
            </a:pPr>
            <a:r>
              <a:t>VD: “Tại sao xe cua gấp thì văng?” → dẫn vào aₙ=v²/R</a:t>
            </a:r>
          </a:p>
        </p:txBody>
      </p:sp>
      <p:sp>
        <p:nvSpPr>
          <p:cNvPr id="26" name="Rounded Rectangle 25"/>
          <p:cNvSpPr/>
          <p:nvPr/>
        </p:nvSpPr>
        <p:spPr>
          <a:xfrm>
            <a:off x="640080" y="4636008"/>
            <a:ext cx="685800" cy="329184"/>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0F172A"/>
                </a:solidFill>
              </a:rPr>
              <a:t>90s</a:t>
            </a:r>
          </a:p>
        </p:txBody>
      </p:sp>
      <p:sp>
        <p:nvSpPr>
          <p:cNvPr id="27" name="TextBox 26"/>
          <p:cNvSpPr txBox="1"/>
          <p:nvPr/>
        </p:nvSpPr>
        <p:spPr>
          <a:xfrm>
            <a:off x="1463040" y="4654296"/>
            <a:ext cx="2743200" cy="310896"/>
          </a:xfrm>
          <a:prstGeom prst="rect">
            <a:avLst/>
          </a:prstGeom>
          <a:noFill/>
        </p:spPr>
        <p:txBody>
          <a:bodyPr wrap="square"/>
          <a:lstStyle/>
          <a:p>
            <a:pPr algn="l">
              <a:lnSpc>
                <a:spcPts val="1250"/>
              </a:lnSpc>
              <a:defRPr sz="1000" b="1">
                <a:solidFill>
                  <a:srgbClr val="1E293B"/>
                </a:solidFill>
                <a:latin typeface="Calibri"/>
              </a:defRPr>
            </a:pPr>
            <a:r>
              <a:t>Công thức gốc + chú thích thành phần</a:t>
            </a:r>
          </a:p>
        </p:txBody>
      </p:sp>
      <p:sp>
        <p:nvSpPr>
          <p:cNvPr id="28" name="TextBox 27"/>
          <p:cNvSpPr txBox="1"/>
          <p:nvPr/>
        </p:nvSpPr>
        <p:spPr>
          <a:xfrm>
            <a:off x="4343400" y="4654296"/>
            <a:ext cx="6949440" cy="310896"/>
          </a:xfrm>
          <a:prstGeom prst="rect">
            <a:avLst/>
          </a:prstGeom>
          <a:noFill/>
        </p:spPr>
        <p:txBody>
          <a:bodyPr wrap="square"/>
          <a:lstStyle/>
          <a:p>
            <a:pPr algn="l">
              <a:lnSpc>
                <a:spcPts val="1125"/>
              </a:lnSpc>
              <a:defRPr sz="900" b="0">
                <a:solidFill>
                  <a:srgbClr val="475569"/>
                </a:solidFill>
                <a:latin typeface="Calibri"/>
              </a:defRPr>
            </a:pPr>
            <a:r>
              <a:t>Chỉ nêu 4–7 công thức gốc, giải thích từng ký hiệu &amp; đơn vị</a:t>
            </a:r>
          </a:p>
        </p:txBody>
      </p:sp>
      <p:sp>
        <p:nvSpPr>
          <p:cNvPr id="29" name="Rounded Rectangle 28"/>
          <p:cNvSpPr/>
          <p:nvPr/>
        </p:nvSpPr>
        <p:spPr>
          <a:xfrm>
            <a:off x="640080" y="5202936"/>
            <a:ext cx="685800" cy="329184"/>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0F172A"/>
                </a:solidFill>
              </a:rPr>
              <a:t>60s</a:t>
            </a:r>
          </a:p>
        </p:txBody>
      </p:sp>
      <p:sp>
        <p:nvSpPr>
          <p:cNvPr id="30" name="TextBox 29"/>
          <p:cNvSpPr txBox="1"/>
          <p:nvPr/>
        </p:nvSpPr>
        <p:spPr>
          <a:xfrm>
            <a:off x="1463040" y="5221224"/>
            <a:ext cx="2743200" cy="310896"/>
          </a:xfrm>
          <a:prstGeom prst="rect">
            <a:avLst/>
          </a:prstGeom>
          <a:noFill/>
        </p:spPr>
        <p:txBody>
          <a:bodyPr wrap="square"/>
          <a:lstStyle/>
          <a:p>
            <a:pPr algn="l">
              <a:lnSpc>
                <a:spcPts val="1250"/>
              </a:lnSpc>
              <a:defRPr sz="1000" b="1">
                <a:solidFill>
                  <a:srgbClr val="1E293B"/>
                </a:solidFill>
                <a:latin typeface="Calibri"/>
              </a:defRPr>
            </a:pPr>
            <a:r>
              <a:t>Ví dụ tính nhanh + Bẫy thi</a:t>
            </a:r>
          </a:p>
        </p:txBody>
      </p:sp>
      <p:sp>
        <p:nvSpPr>
          <p:cNvPr id="31" name="TextBox 30"/>
          <p:cNvSpPr txBox="1"/>
          <p:nvPr/>
        </p:nvSpPr>
        <p:spPr>
          <a:xfrm>
            <a:off x="4343400" y="5221224"/>
            <a:ext cx="6949440" cy="310896"/>
          </a:xfrm>
          <a:prstGeom prst="rect">
            <a:avLst/>
          </a:prstGeom>
          <a:noFill/>
        </p:spPr>
        <p:txBody>
          <a:bodyPr wrap="square"/>
          <a:lstStyle/>
          <a:p>
            <a:pPr algn="l">
              <a:lnSpc>
                <a:spcPts val="1125"/>
              </a:lnSpc>
              <a:defRPr sz="900" b="0">
                <a:solidFill>
                  <a:srgbClr val="475569"/>
                </a:solidFill>
                <a:latin typeface="Calibri"/>
              </a:defRPr>
            </a:pPr>
            <a:r>
              <a:t>1 ví dụ số cụ thể + 1 bẫy hay sai</a:t>
            </a:r>
          </a:p>
        </p:txBody>
      </p:sp>
      <p:sp>
        <p:nvSpPr>
          <p:cNvPr id="32" name="Rounded Rectangle 31"/>
          <p:cNvSpPr/>
          <p:nvPr/>
        </p:nvSpPr>
        <p:spPr>
          <a:xfrm>
            <a:off x="640080" y="5769864"/>
            <a:ext cx="685800" cy="329184"/>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0F172A"/>
                </a:solidFill>
              </a:rPr>
              <a:t>30s</a:t>
            </a:r>
          </a:p>
        </p:txBody>
      </p:sp>
      <p:sp>
        <p:nvSpPr>
          <p:cNvPr id="33" name="TextBox 32"/>
          <p:cNvSpPr txBox="1"/>
          <p:nvPr/>
        </p:nvSpPr>
        <p:spPr>
          <a:xfrm>
            <a:off x="1463040" y="5788152"/>
            <a:ext cx="2743200" cy="310896"/>
          </a:xfrm>
          <a:prstGeom prst="rect">
            <a:avLst/>
          </a:prstGeom>
          <a:noFill/>
        </p:spPr>
        <p:txBody>
          <a:bodyPr wrap="square"/>
          <a:lstStyle/>
          <a:p>
            <a:pPr algn="l">
              <a:lnSpc>
                <a:spcPts val="1250"/>
              </a:lnSpc>
              <a:defRPr sz="1000" b="1">
                <a:solidFill>
                  <a:srgbClr val="1E293B"/>
                </a:solidFill>
                <a:latin typeface="Calibri"/>
              </a:defRPr>
            </a:pPr>
            <a:r>
              <a:t>Mẹo nhớ 1 câu</a:t>
            </a:r>
          </a:p>
        </p:txBody>
      </p:sp>
      <p:sp>
        <p:nvSpPr>
          <p:cNvPr id="34" name="TextBox 33"/>
          <p:cNvSpPr txBox="1"/>
          <p:nvPr/>
        </p:nvSpPr>
        <p:spPr>
          <a:xfrm>
            <a:off x="4343400" y="5788152"/>
            <a:ext cx="6949440" cy="310896"/>
          </a:xfrm>
          <a:prstGeom prst="rect">
            <a:avLst/>
          </a:prstGeom>
          <a:noFill/>
        </p:spPr>
        <p:txBody>
          <a:bodyPr wrap="square"/>
          <a:lstStyle/>
          <a:p>
            <a:pPr algn="l">
              <a:lnSpc>
                <a:spcPts val="1125"/>
              </a:lnSpc>
              <a:defRPr sz="900" b="0">
                <a:solidFill>
                  <a:srgbClr val="475569"/>
                </a:solidFill>
                <a:latin typeface="Calibri"/>
              </a:defRPr>
            </a:pPr>
            <a:r>
              <a:t>Kết bằng câu chuyện để khán giả nhớ</a:t>
            </a:r>
          </a:p>
        </p:txBody>
      </p:sp>
      <p:sp>
        <p:nvSpPr>
          <p:cNvPr id="35" name="TextBox 34"/>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04 /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1</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C1. Động học chất điểm — Mô tả chuyển động như thế nào? (1/3)</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6766560" cy="5440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6309360" cy="256032"/>
          </a:xfrm>
          <a:prstGeom prst="rect">
            <a:avLst/>
          </a:prstGeom>
          <a:noFill/>
        </p:spPr>
        <p:txBody>
          <a:bodyPr wrap="square"/>
          <a:lstStyle/>
          <a:p>
            <a:pPr algn="l">
              <a:lnSpc>
                <a:spcPts val="1375"/>
              </a:lnSpc>
              <a:defRPr sz="1100" b="1">
                <a:solidFill>
                  <a:srgbClr val="0F172A"/>
                </a:solidFill>
                <a:latin typeface="Calibri"/>
              </a:defRPr>
            </a:pPr>
            <a:r>
              <a:t>📍  1.1 Khái niệm gốc — Phải hiểu trước khi tính</a:t>
            </a:r>
          </a:p>
        </p:txBody>
      </p:sp>
      <p:sp>
        <p:nvSpPr>
          <p:cNvPr id="8" name="TextBox 7"/>
          <p:cNvSpPr txBox="1"/>
          <p:nvPr/>
        </p:nvSpPr>
        <p:spPr>
          <a:xfrm>
            <a:off x="640080" y="1463040"/>
            <a:ext cx="6309360" cy="3931920"/>
          </a:xfrm>
          <a:prstGeom prst="rect">
            <a:avLst/>
          </a:prstGeom>
          <a:noFill/>
        </p:spPr>
        <p:txBody>
          <a:bodyPr wrap="square">
            <a:spAutoFit/>
          </a:bodyPr>
          <a:lstStyle/>
          <a:p>
            <a:pPr>
              <a:lnSpc>
                <a:spcPts val="1100"/>
              </a:lnSpc>
              <a:spcAft>
                <a:spcPts val="700"/>
              </a:spcAft>
            </a:pPr>
            <a:r>
              <a:rPr sz="900" b="1">
                <a:solidFill>
                  <a:srgbClr val="2563EB"/>
                </a:solidFill>
              </a:rPr>
              <a:t>• </a:t>
            </a:r>
            <a:r>
              <a:rPr sz="900" b="1">
                <a:solidFill>
                  <a:srgbClr val="1E293B"/>
                </a:solidFill>
              </a:rPr>
              <a:t>Chất điểm: </a:t>
            </a:r>
            <a:r>
              <a:rPr sz="850">
                <a:solidFill>
                  <a:srgbClr val="475569"/>
                </a:solidFill>
              </a:rPr>
              <a:t>Co cả vật thành 1 điểm có khối lượng m khi kích thước &lt;&lt; khoảng cách khảo sát. Tương đối (TĐ quay quanh MT → chất điểm, người đi trên TĐ → không).</a:t>
            </a:r>
          </a:p>
          <a:p>
            <a:pPr>
              <a:lnSpc>
                <a:spcPts val="1100"/>
              </a:lnSpc>
              <a:spcAft>
                <a:spcPts val="700"/>
              </a:spcAft>
            </a:pPr>
            <a:r>
              <a:rPr sz="900" b="1">
                <a:solidFill>
                  <a:srgbClr val="2563EB"/>
                </a:solidFill>
              </a:rPr>
              <a:t>• </a:t>
            </a:r>
            <a:r>
              <a:rPr sz="900" b="1">
                <a:solidFill>
                  <a:srgbClr val="1E293B"/>
                </a:solidFill>
              </a:rPr>
              <a:t>Hệ quy chiếu: </a:t>
            </a:r>
            <a:r>
              <a:rPr sz="850">
                <a:solidFill>
                  <a:srgbClr val="475569"/>
                </a:solidFill>
              </a:rPr>
              <a:t>Vật mốc + Hệ tọa độ + Đồng hồ + Gốc thời gian. Không có HQC thì “60 km/h so với ai?” là vô nghĩa.</a:t>
            </a:r>
          </a:p>
          <a:p>
            <a:pPr>
              <a:lnSpc>
                <a:spcPts val="1100"/>
              </a:lnSpc>
              <a:spcAft>
                <a:spcPts val="700"/>
              </a:spcAft>
            </a:pPr>
            <a:r>
              <a:rPr sz="900" b="1">
                <a:solidFill>
                  <a:srgbClr val="2563EB"/>
                </a:solidFill>
              </a:rPr>
              <a:t>• </a:t>
            </a:r>
            <a:r>
              <a:rPr sz="900" b="1">
                <a:solidFill>
                  <a:srgbClr val="1E293B"/>
                </a:solidFill>
              </a:rPr>
              <a:t>Phương trình CĐ: </a:t>
            </a:r>
            <a:r>
              <a:rPr sz="850">
                <a:solidFill>
                  <a:srgbClr val="475569"/>
                </a:solidFill>
              </a:rPr>
              <a:t>r(t) hoặc x(t),y(t),z(t). Biết r(t) là biết hết. Khử t → phương trình quỹ đạo.</a:t>
            </a:r>
          </a:p>
          <a:p>
            <a:pPr>
              <a:lnSpc>
                <a:spcPts val="1100"/>
              </a:lnSpc>
              <a:spcAft>
                <a:spcPts val="700"/>
              </a:spcAft>
            </a:pPr>
            <a:r>
              <a:rPr sz="900" b="1">
                <a:solidFill>
                  <a:srgbClr val="2563EB"/>
                </a:solidFill>
              </a:rPr>
              <a:t>• </a:t>
            </a:r>
            <a:r>
              <a:rPr sz="900" b="1">
                <a:solidFill>
                  <a:srgbClr val="1E293B"/>
                </a:solidFill>
              </a:rPr>
              <a:t>Độ dời vs Quãng đường: </a:t>
            </a:r>
            <a:r>
              <a:rPr sz="850">
                <a:solidFill>
                  <a:srgbClr val="475569"/>
                </a:solidFill>
              </a:rPr>
              <a:t>Δr = r₂−r₁ (vectơ thẳng) ≠ s (độ dài vet cong). Chỉ thẳng không đổi chiều thì |Δr|=s.</a:t>
            </a:r>
          </a:p>
          <a:p>
            <a:pPr>
              <a:lnSpc>
                <a:spcPts val="1100"/>
              </a:lnSpc>
              <a:spcAft>
                <a:spcPts val="700"/>
              </a:spcAft>
            </a:pPr>
            <a:r>
              <a:rPr sz="900" b="1">
                <a:solidFill>
                  <a:srgbClr val="2563EB"/>
                </a:solidFill>
              </a:rPr>
              <a:t>• </a:t>
            </a:r>
            <a:r>
              <a:rPr sz="900" b="1">
                <a:solidFill>
                  <a:srgbClr val="1E293B"/>
                </a:solidFill>
              </a:rPr>
              <a:t>Vận tốc: </a:t>
            </a:r>
            <a:r>
              <a:rPr sz="850">
                <a:solidFill>
                  <a:srgbClr val="475569"/>
                </a:solidFill>
              </a:rPr>
              <a:t>v_tb = Δr/Δt (vectơ), v = dr/dt (tiếp tuyến quỹ đạo, hướng theo CĐ). |v| là tốc độ (≥0).</a:t>
            </a:r>
          </a:p>
        </p:txBody>
      </p:sp>
      <p:sp>
        <p:nvSpPr>
          <p:cNvPr id="9" name="TextBox 8"/>
          <p:cNvSpPr txBox="1"/>
          <p:nvPr/>
        </p:nvSpPr>
        <p:spPr>
          <a:xfrm>
            <a:off x="640080" y="5440680"/>
            <a:ext cx="6309360" cy="502920"/>
          </a:xfrm>
          <a:prstGeom prst="rect">
            <a:avLst/>
          </a:prstGeom>
          <a:noFill/>
        </p:spPr>
        <p:txBody>
          <a:bodyPr wrap="square"/>
          <a:lstStyle/>
          <a:p>
            <a:pPr algn="l">
              <a:lnSpc>
                <a:spcPts val="1000"/>
              </a:lnSpc>
              <a:defRPr sz="800" b="0">
                <a:solidFill>
                  <a:srgbClr val="B91C1C"/>
                </a:solidFill>
                <a:latin typeface="Calibri"/>
              </a:defRPr>
            </a:pPr>
            <a:r>
              <a:t>Ví dụ bẫy: Chạy 1 vòng sân 400m về chỗ cũ → s=400m nhưng Δr=0 → v_tb=0 nhưng tốc độ TB ≠0.</a:t>
            </a:r>
          </a:p>
        </p:txBody>
      </p:sp>
      <p:pic>
        <p:nvPicPr>
          <p:cNvPr id="10" name="Picture 9" descr="c1_donghoc.jpg"/>
          <p:cNvPicPr>
            <a:picLocks noChangeAspect="1"/>
          </p:cNvPicPr>
          <p:nvPr/>
        </p:nvPicPr>
        <p:blipFill>
          <a:blip r:embed="rId2"/>
          <a:stretch>
            <a:fillRect/>
          </a:stretch>
        </p:blipFill>
        <p:spPr>
          <a:xfrm>
            <a:off x="7452360" y="960120"/>
            <a:ext cx="4251960" cy="2331720"/>
          </a:xfrm>
          <a:prstGeom prst="rect">
            <a:avLst/>
          </a:prstGeom>
        </p:spPr>
      </p:pic>
      <p:sp>
        <p:nvSpPr>
          <p:cNvPr id="11" name="TextBox 10"/>
          <p:cNvSpPr txBox="1"/>
          <p:nvPr/>
        </p:nvSpPr>
        <p:spPr>
          <a:xfrm>
            <a:off x="7452360" y="3337560"/>
            <a:ext cx="4251960" cy="256032"/>
          </a:xfrm>
          <a:prstGeom prst="rect">
            <a:avLst/>
          </a:prstGeom>
          <a:noFill/>
        </p:spPr>
        <p:txBody>
          <a:bodyPr wrap="square"/>
          <a:lstStyle/>
          <a:p>
            <a:pPr algn="ctr">
              <a:lnSpc>
                <a:spcPts val="875"/>
              </a:lnSpc>
              <a:defRPr sz="700" b="0">
                <a:solidFill>
                  <a:srgbClr val="94A3B8"/>
                </a:solidFill>
                <a:latin typeface="Calibri"/>
              </a:defRPr>
            </a:pPr>
            <a:r>
              <a:t>Hình 1 — r, Δr vs s, v tiếp tuyến quỹ đạo</a:t>
            </a:r>
          </a:p>
        </p:txBody>
      </p:sp>
      <p:sp>
        <p:nvSpPr>
          <p:cNvPr id="12" name="Rounded Rectangle 11"/>
          <p:cNvSpPr/>
          <p:nvPr/>
        </p:nvSpPr>
        <p:spPr>
          <a:xfrm>
            <a:off x="7452360" y="3703320"/>
            <a:ext cx="4251960" cy="123444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38BDF8"/>
                </a:solidFill>
              </a:rPr>
              <a:t>v = dr/dt   |   a = dv/dt = d²r/dt²</a:t>
            </a:r>
          </a:p>
          <a:p>
            <a:pPr algn="ctr"/>
            <a:r>
              <a:rPr sz="800">
                <a:solidFill>
                  <a:srgbClr val="E2E8F0"/>
                </a:solidFill>
              </a:rPr>
              <a:t>Trong Descartes:  vx=dx/dt,  vy=dy/dt,  vz=dz/dt</a:t>
            </a:r>
          </a:p>
          <a:p>
            <a:pPr algn="ctr"/>
            <a:r>
              <a:rPr sz="800">
                <a:solidFill>
                  <a:srgbClr val="FDE68A"/>
                </a:solidFill>
              </a:rPr>
              <a:t>v = √(vx²+vy²+vz²)</a:t>
            </a:r>
          </a:p>
        </p:txBody>
      </p:sp>
      <p:sp>
        <p:nvSpPr>
          <p:cNvPr id="13" name="Rounded Rectangle 12"/>
          <p:cNvSpPr/>
          <p:nvPr/>
        </p:nvSpPr>
        <p:spPr>
          <a:xfrm>
            <a:off x="7452360" y="5074920"/>
            <a:ext cx="4251960" cy="132588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5166360"/>
            <a:ext cx="3977639" cy="1143000"/>
          </a:xfrm>
          <a:prstGeom prst="rect">
            <a:avLst/>
          </a:prstGeom>
          <a:noFill/>
        </p:spPr>
        <p:txBody>
          <a:bodyPr wrap="square"/>
          <a:lstStyle/>
          <a:p>
            <a:pPr algn="l">
              <a:lnSpc>
                <a:spcPts val="937"/>
              </a:lnSpc>
              <a:defRPr sz="750" b="0">
                <a:solidFill>
                  <a:srgbClr val="475569"/>
                </a:solidFill>
                <a:latin typeface="Calibri"/>
              </a:defRPr>
            </a:pPr>
            <a:r>
              <a:t>📌 Chú thích:  r (m) vectơ vị trí  |  v (m/s) vận tốc  |  t (s) thời gian  |  s (m) quãng đường</a:t>
            </a:r>
            <a:br/>
            <a:r>
              <a:t>→ v luôn tiếp tuyến quỹ đạo</a:t>
            </a:r>
          </a:p>
        </p:txBody>
      </p:sp>
      <p:sp>
        <p:nvSpPr>
          <p:cNvPr id="15" name="TextBox 14"/>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05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1</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C1. Gia tốc &amp; Chuyển động tròn (2/3)</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6766560" cy="5440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6309360" cy="256032"/>
          </a:xfrm>
          <a:prstGeom prst="rect">
            <a:avLst/>
          </a:prstGeom>
          <a:noFill/>
        </p:spPr>
        <p:txBody>
          <a:bodyPr wrap="square"/>
          <a:lstStyle/>
          <a:p>
            <a:pPr algn="l">
              <a:lnSpc>
                <a:spcPts val="1375"/>
              </a:lnSpc>
              <a:defRPr sz="1100" b="1">
                <a:solidFill>
                  <a:srgbClr val="0F172A"/>
                </a:solidFill>
                <a:latin typeface="Calibri"/>
              </a:defRPr>
            </a:pPr>
            <a:r>
              <a:t>🎯  Gia tốc: a = a_t + a_n</a:t>
            </a:r>
          </a:p>
        </p:txBody>
      </p:sp>
      <p:sp>
        <p:nvSpPr>
          <p:cNvPr id="8" name="TextBox 7"/>
          <p:cNvSpPr txBox="1"/>
          <p:nvPr/>
        </p:nvSpPr>
        <p:spPr>
          <a:xfrm>
            <a:off x="640080" y="1463040"/>
            <a:ext cx="6309360" cy="1828800"/>
          </a:xfrm>
          <a:prstGeom prst="rect">
            <a:avLst/>
          </a:prstGeom>
          <a:noFill/>
        </p:spPr>
        <p:txBody>
          <a:bodyPr wrap="square">
            <a:spAutoFit/>
          </a:bodyPr>
          <a:lstStyle/>
          <a:p>
            <a:pPr>
              <a:spcAft>
                <a:spcPts val="500"/>
              </a:spcAft>
            </a:pPr>
            <a:r>
              <a:rPr sz="900" b="1">
                <a:solidFill>
                  <a:srgbClr val="2563EB"/>
                </a:solidFill>
              </a:rPr>
              <a:t>• </a:t>
            </a:r>
            <a:r>
              <a:rPr sz="900" b="1">
                <a:solidFill>
                  <a:srgbClr val="1E293B"/>
                </a:solidFill>
              </a:rPr>
              <a:t>a_t = dv/dt (m/s²): </a:t>
            </a:r>
            <a:r>
              <a:rPr sz="850">
                <a:solidFill>
                  <a:srgbClr val="475569"/>
                </a:solidFill>
              </a:rPr>
              <a:t>đổi ĐỘ LỚN v. Cùng chiều v → nhanh dần, ngược → chậm dần.</a:t>
            </a:r>
          </a:p>
          <a:p>
            <a:pPr>
              <a:spcAft>
                <a:spcPts val="500"/>
              </a:spcAft>
            </a:pPr>
            <a:r>
              <a:rPr sz="900" b="1">
                <a:solidFill>
                  <a:srgbClr val="2563EB"/>
                </a:solidFill>
              </a:rPr>
              <a:t>• </a:t>
            </a:r>
            <a:r>
              <a:rPr sz="900" b="1">
                <a:solidFill>
                  <a:srgbClr val="1E293B"/>
                </a:solidFill>
              </a:rPr>
              <a:t>a_n = v²/R (m/s²): </a:t>
            </a:r>
            <a:r>
              <a:rPr sz="850">
                <a:solidFill>
                  <a:srgbClr val="475569"/>
                </a:solidFill>
              </a:rPr>
              <a:t>đổi HƯỚNG v, luôn hướng vào tâm cong, R là bán kính cong.</a:t>
            </a:r>
          </a:p>
          <a:p>
            <a:pPr>
              <a:spcAft>
                <a:spcPts val="500"/>
              </a:spcAft>
            </a:pPr>
            <a:r>
              <a:rPr sz="900" b="1">
                <a:solidFill>
                  <a:srgbClr val="2563EB"/>
                </a:solidFill>
              </a:rPr>
              <a:t>• </a:t>
            </a:r>
            <a:r>
              <a:rPr sz="900" b="1">
                <a:solidFill>
                  <a:srgbClr val="1E293B"/>
                </a:solidFill>
              </a:rPr>
              <a:t>a = √(a_t²+a_n²): </a:t>
            </a:r>
            <a:r>
              <a:rPr sz="850">
                <a:solidFill>
                  <a:srgbClr val="475569"/>
                </a:solidFill>
              </a:rPr>
              <a:t>Tròn đều → a_t=0, chỉ còn a_n=v²/R (hướng tâm).</a:t>
            </a:r>
          </a:p>
        </p:txBody>
      </p:sp>
      <p:sp>
        <p:nvSpPr>
          <p:cNvPr id="9" name="TextBox 8"/>
          <p:cNvSpPr txBox="1"/>
          <p:nvPr/>
        </p:nvSpPr>
        <p:spPr>
          <a:xfrm>
            <a:off x="640080" y="3337560"/>
            <a:ext cx="6309360" cy="256032"/>
          </a:xfrm>
          <a:prstGeom prst="rect">
            <a:avLst/>
          </a:prstGeom>
          <a:noFill/>
        </p:spPr>
        <p:txBody>
          <a:bodyPr wrap="square"/>
          <a:lstStyle/>
          <a:p>
            <a:pPr algn="l">
              <a:lnSpc>
                <a:spcPts val="1375"/>
              </a:lnSpc>
              <a:defRPr sz="1100" b="1">
                <a:solidFill>
                  <a:srgbClr val="0F172A"/>
                </a:solidFill>
                <a:latin typeface="Calibri"/>
              </a:defRPr>
            </a:pPr>
            <a:r>
              <a:t>🔄  Chuyển động tròn — dùng góc thay mét</a:t>
            </a:r>
          </a:p>
        </p:txBody>
      </p:sp>
      <p:sp>
        <p:nvSpPr>
          <p:cNvPr id="10" name="TextBox 9"/>
          <p:cNvSpPr txBox="1"/>
          <p:nvPr/>
        </p:nvSpPr>
        <p:spPr>
          <a:xfrm>
            <a:off x="640080" y="3657600"/>
            <a:ext cx="6309360" cy="1600200"/>
          </a:xfrm>
          <a:prstGeom prst="rect">
            <a:avLst/>
          </a:prstGeom>
          <a:noFill/>
        </p:spPr>
        <p:txBody>
          <a:bodyPr wrap="square">
            <a:spAutoFit/>
          </a:bodyPr>
          <a:lstStyle/>
          <a:p>
            <a:pPr>
              <a:spcAft>
                <a:spcPts val="500"/>
              </a:spcAft>
            </a:pPr>
            <a:r>
              <a:rPr sz="900" b="1">
                <a:solidFill>
                  <a:srgbClr val="2563EB"/>
                </a:solidFill>
              </a:rPr>
              <a:t>• </a:t>
            </a:r>
            <a:r>
              <a:rPr sz="900" b="1">
                <a:solidFill>
                  <a:srgbClr val="1E293B"/>
                </a:solidFill>
              </a:rPr>
              <a:t>ω = dφ/dt (rad/s): </a:t>
            </a:r>
            <a:r>
              <a:rPr sz="850">
                <a:solidFill>
                  <a:srgbClr val="475569"/>
                </a:solidFill>
              </a:rPr>
              <a:t>vận tốc góc.  β = dω/dt (rad/s²): gia tốc góc.</a:t>
            </a:r>
          </a:p>
          <a:p>
            <a:pPr>
              <a:spcAft>
                <a:spcPts val="500"/>
              </a:spcAft>
            </a:pPr>
            <a:r>
              <a:rPr sz="900" b="1">
                <a:solidFill>
                  <a:srgbClr val="2563EB"/>
                </a:solidFill>
              </a:rPr>
              <a:t>• </a:t>
            </a:r>
            <a:r>
              <a:rPr sz="900" b="1">
                <a:solidFill>
                  <a:srgbClr val="1E293B"/>
                </a:solidFill>
              </a:rPr>
              <a:t>Liên hệ: </a:t>
            </a:r>
            <a:r>
              <a:rPr sz="850">
                <a:solidFill>
                  <a:srgbClr val="475569"/>
                </a:solidFill>
              </a:rPr>
              <a:t>s=R·φ,  v=ω·R,  a_t=β·R,  a_n=ω²·R.</a:t>
            </a:r>
          </a:p>
          <a:p>
            <a:pPr>
              <a:spcAft>
                <a:spcPts val="500"/>
              </a:spcAft>
            </a:pPr>
            <a:r>
              <a:rPr sz="900" b="1">
                <a:solidFill>
                  <a:srgbClr val="2563EB"/>
                </a:solidFill>
              </a:rPr>
              <a:t>• </a:t>
            </a:r>
            <a:r>
              <a:rPr sz="900" b="1">
                <a:solidFill>
                  <a:srgbClr val="1E293B"/>
                </a:solidFill>
              </a:rPr>
              <a:t>Biến đổi đều: </a:t>
            </a:r>
            <a:r>
              <a:rPr sz="850">
                <a:solidFill>
                  <a:srgbClr val="475569"/>
                </a:solidFill>
              </a:rPr>
              <a:t>ω=ω₀+βt,  φ=φ₀+ω₀t+½βt²  (giống thẳng, đổi x→φ).</a:t>
            </a:r>
          </a:p>
        </p:txBody>
      </p:sp>
      <p:sp>
        <p:nvSpPr>
          <p:cNvPr id="11" name="Rounded Rectangle 10"/>
          <p:cNvSpPr/>
          <p:nvPr/>
        </p:nvSpPr>
        <p:spPr>
          <a:xfrm>
            <a:off x="640080" y="5303520"/>
            <a:ext cx="6309360" cy="960120"/>
          </a:xfrm>
          <a:prstGeom prst="roundRect">
            <a:avLst/>
          </a:prstGeom>
          <a:solidFill>
            <a:srgbClr val="F0FDFA"/>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5394960"/>
            <a:ext cx="6080760" cy="777240"/>
          </a:xfrm>
          <a:prstGeom prst="rect">
            <a:avLst/>
          </a:prstGeom>
          <a:noFill/>
        </p:spPr>
        <p:txBody>
          <a:bodyPr wrap="square"/>
          <a:lstStyle/>
          <a:p>
            <a:pPr algn="l">
              <a:lnSpc>
                <a:spcPts val="1000"/>
              </a:lnSpc>
              <a:defRPr sz="800" b="0">
                <a:solidFill>
                  <a:srgbClr val="0F766E"/>
                </a:solidFill>
                <a:latin typeface="Calibri"/>
              </a:defRPr>
            </a:pPr>
            <a:r>
              <a:t>💡 Mẹo nhớ: a_t như “tăng tốc” (đổi tốc độ), a_n như “normal” (vuông góc quỹ đạo).</a:t>
            </a:r>
            <a:br/>
            <a:r>
              <a:t>Ví dụ: 72 km/h (=20 m/s) cua R=50m → a_n=8 m/s² ≈0.8g → văng mạnh, nhớ cả đời.</a:t>
            </a:r>
          </a:p>
        </p:txBody>
      </p:sp>
      <p:pic>
        <p:nvPicPr>
          <p:cNvPr id="13" name="Picture 12" descr="c1_giatoc.jpg"/>
          <p:cNvPicPr>
            <a:picLocks noChangeAspect="1"/>
          </p:cNvPicPr>
          <p:nvPr/>
        </p:nvPicPr>
        <p:blipFill>
          <a:blip r:embed="rId2"/>
          <a:stretch>
            <a:fillRect/>
          </a:stretch>
        </p:blipFill>
        <p:spPr>
          <a:xfrm>
            <a:off x="7452360" y="960120"/>
            <a:ext cx="4251960" cy="2331720"/>
          </a:xfrm>
          <a:prstGeom prst="rect">
            <a:avLst/>
          </a:prstGeom>
        </p:spPr>
      </p:pic>
      <p:sp>
        <p:nvSpPr>
          <p:cNvPr id="14" name="TextBox 13"/>
          <p:cNvSpPr txBox="1"/>
          <p:nvPr/>
        </p:nvSpPr>
        <p:spPr>
          <a:xfrm>
            <a:off x="7452360" y="3337560"/>
            <a:ext cx="4251960" cy="256032"/>
          </a:xfrm>
          <a:prstGeom prst="rect">
            <a:avLst/>
          </a:prstGeom>
          <a:noFill/>
        </p:spPr>
        <p:txBody>
          <a:bodyPr wrap="square"/>
          <a:lstStyle/>
          <a:p>
            <a:pPr algn="ctr">
              <a:lnSpc>
                <a:spcPts val="875"/>
              </a:lnSpc>
              <a:defRPr sz="700" b="0">
                <a:solidFill>
                  <a:srgbClr val="94A3B8"/>
                </a:solidFill>
                <a:latin typeface="Calibri"/>
              </a:defRPr>
            </a:pPr>
            <a:r>
              <a:t>Hình 2 — a_t (dọc) &amp; a_n (vào tâm)</a:t>
            </a:r>
          </a:p>
        </p:txBody>
      </p:sp>
      <p:sp>
        <p:nvSpPr>
          <p:cNvPr id="15" name="Rounded Rectangle 14"/>
          <p:cNvSpPr/>
          <p:nvPr/>
        </p:nvSpPr>
        <p:spPr>
          <a:xfrm>
            <a:off x="7452360" y="3703320"/>
            <a:ext cx="4251960" cy="11430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38BDF8"/>
                </a:solidFill>
              </a:rPr>
              <a:t>a_t = dv/dt   |   a_n = v²/R   |   a = √(a_t²+a_n²)</a:t>
            </a:r>
          </a:p>
          <a:p>
            <a:pPr algn="ctr"/>
            <a:r>
              <a:rPr sz="800">
                <a:solidFill>
                  <a:srgbClr val="FDE68A"/>
                </a:solidFill>
              </a:rPr>
              <a:t>Tròn:  ω=dφ/dt,  β=dω/dt,  v=ωR,  a_t=βR,  a_n=ω²R</a:t>
            </a:r>
          </a:p>
        </p:txBody>
      </p:sp>
      <p:sp>
        <p:nvSpPr>
          <p:cNvPr id="16" name="Rounded Rectangle 15"/>
          <p:cNvSpPr/>
          <p:nvPr/>
        </p:nvSpPr>
        <p:spPr>
          <a:xfrm>
            <a:off x="7452360" y="4983480"/>
            <a:ext cx="4251960" cy="1417320"/>
          </a:xfrm>
          <a:prstGeom prst="roundRect">
            <a:avLst/>
          </a:prstGeom>
          <a:solidFill>
            <a:srgbClr val="FFF2F2"/>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5074920"/>
            <a:ext cx="3977639" cy="1234440"/>
          </a:xfrm>
          <a:prstGeom prst="rect">
            <a:avLst/>
          </a:prstGeom>
          <a:noFill/>
        </p:spPr>
        <p:txBody>
          <a:bodyPr wrap="square"/>
          <a:lstStyle/>
          <a:p>
            <a:pPr algn="l">
              <a:lnSpc>
                <a:spcPts val="937"/>
              </a:lnSpc>
              <a:defRPr sz="750" b="0">
                <a:solidFill>
                  <a:srgbClr val="B91C1C"/>
                </a:solidFill>
                <a:latin typeface="Calibri"/>
              </a:defRPr>
            </a:pPr>
            <a:r>
              <a:t>⚠️ Bẫy: Tốc độ TB = s/t (vô hướng), Vận tốc TB = Δr/t (vectơ). Tròn 1 vòng → v_TB=0 nhưng tốc độ TB = chu vi/chu kỳ.</a:t>
            </a:r>
          </a:p>
        </p:txBody>
      </p:sp>
      <p:sp>
        <p:nvSpPr>
          <p:cNvPr id="18" name="TextBox 17"/>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06 /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1</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C1. Ba chuyển động đơn giản hay thi (3/3)</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051560"/>
            <a:ext cx="11365992" cy="31089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88720"/>
            <a:ext cx="10881360" cy="256032"/>
          </a:xfrm>
          <a:prstGeom prst="rect">
            <a:avLst/>
          </a:prstGeom>
          <a:noFill/>
        </p:spPr>
        <p:txBody>
          <a:bodyPr wrap="square"/>
          <a:lstStyle/>
          <a:p>
            <a:pPr algn="l">
              <a:lnSpc>
                <a:spcPts val="1375"/>
              </a:lnSpc>
              <a:defRPr sz="1100" b="1">
                <a:solidFill>
                  <a:srgbClr val="0F172A"/>
                </a:solidFill>
                <a:latin typeface="Calibri"/>
              </a:defRPr>
            </a:pPr>
            <a:r>
              <a:t>📊  Ba dạng — thuộc 1 lần dùng cả kỳ</a:t>
            </a:r>
          </a:p>
        </p:txBody>
      </p:sp>
      <p:sp>
        <p:nvSpPr>
          <p:cNvPr id="8" name="Rounded Rectangle 7"/>
          <p:cNvSpPr/>
          <p:nvPr/>
        </p:nvSpPr>
        <p:spPr>
          <a:xfrm>
            <a:off x="548640" y="1554480"/>
            <a:ext cx="11091672" cy="329184"/>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609344"/>
            <a:ext cx="1682496" cy="219456"/>
          </a:xfrm>
          <a:prstGeom prst="rect">
            <a:avLst/>
          </a:prstGeom>
          <a:noFill/>
        </p:spPr>
        <p:txBody>
          <a:bodyPr wrap="square"/>
          <a:lstStyle/>
          <a:p>
            <a:pPr algn="ctr">
              <a:lnSpc>
                <a:spcPts val="875"/>
              </a:lnSpc>
              <a:defRPr sz="700" b="1">
                <a:solidFill>
                  <a:srgbClr val="475569"/>
                </a:solidFill>
                <a:latin typeface="Calibri"/>
              </a:defRPr>
            </a:pPr>
            <a:r>
              <a:t>LOẠI</a:t>
            </a:r>
          </a:p>
        </p:txBody>
      </p:sp>
      <p:sp>
        <p:nvSpPr>
          <p:cNvPr id="10" name="TextBox 9"/>
          <p:cNvSpPr txBox="1"/>
          <p:nvPr/>
        </p:nvSpPr>
        <p:spPr>
          <a:xfrm>
            <a:off x="2542032" y="1609344"/>
            <a:ext cx="2231136" cy="219456"/>
          </a:xfrm>
          <a:prstGeom prst="rect">
            <a:avLst/>
          </a:prstGeom>
          <a:noFill/>
        </p:spPr>
        <p:txBody>
          <a:bodyPr wrap="square"/>
          <a:lstStyle/>
          <a:p>
            <a:pPr algn="ctr">
              <a:lnSpc>
                <a:spcPts val="875"/>
              </a:lnSpc>
              <a:defRPr sz="700" b="1">
                <a:solidFill>
                  <a:srgbClr val="475569"/>
                </a:solidFill>
                <a:latin typeface="Calibri"/>
              </a:defRPr>
            </a:pPr>
            <a:r>
              <a:t>ĐẶC ĐIỂM</a:t>
            </a:r>
          </a:p>
        </p:txBody>
      </p:sp>
      <p:sp>
        <p:nvSpPr>
          <p:cNvPr id="11" name="TextBox 10"/>
          <p:cNvSpPr txBox="1"/>
          <p:nvPr/>
        </p:nvSpPr>
        <p:spPr>
          <a:xfrm>
            <a:off x="4919472" y="1609344"/>
            <a:ext cx="3419856" cy="219456"/>
          </a:xfrm>
          <a:prstGeom prst="rect">
            <a:avLst/>
          </a:prstGeom>
          <a:noFill/>
        </p:spPr>
        <p:txBody>
          <a:bodyPr wrap="square"/>
          <a:lstStyle/>
          <a:p>
            <a:pPr algn="ctr">
              <a:lnSpc>
                <a:spcPts val="875"/>
              </a:lnSpc>
              <a:defRPr sz="700" b="1">
                <a:solidFill>
                  <a:srgbClr val="475569"/>
                </a:solidFill>
                <a:latin typeface="Calibri"/>
              </a:defRPr>
            </a:pPr>
            <a:r>
              <a:t>CÔNG THỨC CHÍNH</a:t>
            </a:r>
          </a:p>
        </p:txBody>
      </p:sp>
      <p:sp>
        <p:nvSpPr>
          <p:cNvPr id="12" name="TextBox 11"/>
          <p:cNvSpPr txBox="1"/>
          <p:nvPr/>
        </p:nvSpPr>
        <p:spPr>
          <a:xfrm>
            <a:off x="8485632" y="1609344"/>
            <a:ext cx="2962656" cy="219456"/>
          </a:xfrm>
          <a:prstGeom prst="rect">
            <a:avLst/>
          </a:prstGeom>
          <a:noFill/>
        </p:spPr>
        <p:txBody>
          <a:bodyPr wrap="square"/>
          <a:lstStyle/>
          <a:p>
            <a:pPr algn="ctr">
              <a:lnSpc>
                <a:spcPts val="875"/>
              </a:lnSpc>
              <a:defRPr sz="700" b="1">
                <a:solidFill>
                  <a:srgbClr val="475569"/>
                </a:solidFill>
                <a:latin typeface="Calibri"/>
              </a:defRPr>
            </a:pPr>
            <a:r>
              <a:t>NÓI SAO CHO NHỚ</a:t>
            </a:r>
          </a:p>
        </p:txBody>
      </p:sp>
      <p:sp>
        <p:nvSpPr>
          <p:cNvPr id="13" name="Rounded Rectangle 12"/>
          <p:cNvSpPr/>
          <p:nvPr/>
        </p:nvSpPr>
        <p:spPr>
          <a:xfrm>
            <a:off x="548640" y="1883664"/>
            <a:ext cx="11091672" cy="713232"/>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020824"/>
            <a:ext cx="1682496" cy="438912"/>
          </a:xfrm>
          <a:prstGeom prst="rect">
            <a:avLst/>
          </a:prstGeom>
          <a:noFill/>
        </p:spPr>
        <p:txBody>
          <a:bodyPr wrap="square"/>
          <a:lstStyle/>
          <a:p>
            <a:pPr algn="ctr">
              <a:lnSpc>
                <a:spcPts val="1125"/>
              </a:lnSpc>
              <a:defRPr sz="900" b="1">
                <a:solidFill>
                  <a:srgbClr val="0F172A"/>
                </a:solidFill>
                <a:latin typeface="Calibri"/>
              </a:defRPr>
            </a:pPr>
            <a:r>
              <a:t>Thẳng đều</a:t>
            </a:r>
          </a:p>
        </p:txBody>
      </p:sp>
      <p:sp>
        <p:nvSpPr>
          <p:cNvPr id="15" name="TextBox 14"/>
          <p:cNvSpPr txBox="1"/>
          <p:nvPr/>
        </p:nvSpPr>
        <p:spPr>
          <a:xfrm>
            <a:off x="2542032" y="2020824"/>
            <a:ext cx="2231136" cy="438912"/>
          </a:xfrm>
          <a:prstGeom prst="rect">
            <a:avLst/>
          </a:prstGeom>
          <a:noFill/>
        </p:spPr>
        <p:txBody>
          <a:bodyPr wrap="square"/>
          <a:lstStyle/>
          <a:p>
            <a:pPr algn="ctr">
              <a:lnSpc>
                <a:spcPts val="1062"/>
              </a:lnSpc>
              <a:defRPr sz="850" b="0">
                <a:solidFill>
                  <a:srgbClr val="475569"/>
                </a:solidFill>
                <a:latin typeface="Calibri"/>
              </a:defRPr>
            </a:pPr>
            <a:r>
              <a:t>a=0, v=const</a:t>
            </a:r>
          </a:p>
        </p:txBody>
      </p:sp>
      <p:sp>
        <p:nvSpPr>
          <p:cNvPr id="16" name="TextBox 15"/>
          <p:cNvSpPr txBox="1"/>
          <p:nvPr/>
        </p:nvSpPr>
        <p:spPr>
          <a:xfrm>
            <a:off x="4919472" y="1956816"/>
            <a:ext cx="3419856" cy="566928"/>
          </a:xfrm>
          <a:prstGeom prst="rect">
            <a:avLst/>
          </a:prstGeom>
          <a:noFill/>
        </p:spPr>
        <p:txBody>
          <a:bodyPr wrap="square">
            <a:spAutoFit/>
          </a:bodyPr>
          <a:lstStyle/>
          <a:p>
            <a:pPr algn="ctr">
              <a:lnSpc>
                <a:spcPts val="900"/>
              </a:lnSpc>
              <a:defRPr sz="750">
                <a:solidFill>
                  <a:srgbClr val="1E293B"/>
                </a:solidFill>
                <a:latin typeface="Calibri"/>
              </a:defRPr>
            </a:pPr>
            <a:r>
              <a:t>x = x₀ + v·t</a:t>
            </a:r>
          </a:p>
        </p:txBody>
      </p:sp>
      <p:sp>
        <p:nvSpPr>
          <p:cNvPr id="17" name="TextBox 16"/>
          <p:cNvSpPr txBox="1"/>
          <p:nvPr/>
        </p:nvSpPr>
        <p:spPr>
          <a:xfrm>
            <a:off x="8485632" y="2020824"/>
            <a:ext cx="2962656" cy="438912"/>
          </a:xfrm>
          <a:prstGeom prst="rect">
            <a:avLst/>
          </a:prstGeom>
          <a:noFill/>
        </p:spPr>
        <p:txBody>
          <a:bodyPr wrap="square"/>
          <a:lstStyle/>
          <a:p>
            <a:pPr algn="ctr">
              <a:lnSpc>
                <a:spcPts val="1000"/>
              </a:lnSpc>
              <a:defRPr sz="800" b="0">
                <a:solidFill>
                  <a:srgbClr val="475569"/>
                </a:solidFill>
                <a:latin typeface="Calibri"/>
              </a:defRPr>
            </a:pPr>
            <a:r>
              <a:t>Đều là “đều đều” — không tăng không giảm</a:t>
            </a:r>
          </a:p>
        </p:txBody>
      </p:sp>
      <p:sp>
        <p:nvSpPr>
          <p:cNvPr id="18" name="Rounded Rectangle 17"/>
          <p:cNvSpPr/>
          <p:nvPr/>
        </p:nvSpPr>
        <p:spPr>
          <a:xfrm>
            <a:off x="548640" y="2596896"/>
            <a:ext cx="11091672" cy="713232"/>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2734056"/>
            <a:ext cx="1682496" cy="438912"/>
          </a:xfrm>
          <a:prstGeom prst="rect">
            <a:avLst/>
          </a:prstGeom>
          <a:noFill/>
        </p:spPr>
        <p:txBody>
          <a:bodyPr wrap="square"/>
          <a:lstStyle/>
          <a:p>
            <a:pPr algn="ctr">
              <a:lnSpc>
                <a:spcPts val="1125"/>
              </a:lnSpc>
              <a:defRPr sz="900" b="1">
                <a:solidFill>
                  <a:srgbClr val="0F172A"/>
                </a:solidFill>
                <a:latin typeface="Calibri"/>
              </a:defRPr>
            </a:pPr>
            <a:r>
              <a:t>Thẳng biến đổi đều</a:t>
            </a:r>
          </a:p>
        </p:txBody>
      </p:sp>
      <p:sp>
        <p:nvSpPr>
          <p:cNvPr id="20" name="TextBox 19"/>
          <p:cNvSpPr txBox="1"/>
          <p:nvPr/>
        </p:nvSpPr>
        <p:spPr>
          <a:xfrm>
            <a:off x="2542032" y="2734056"/>
            <a:ext cx="2231136" cy="438912"/>
          </a:xfrm>
          <a:prstGeom prst="rect">
            <a:avLst/>
          </a:prstGeom>
          <a:noFill/>
        </p:spPr>
        <p:txBody>
          <a:bodyPr wrap="square"/>
          <a:lstStyle/>
          <a:p>
            <a:pPr algn="ctr">
              <a:lnSpc>
                <a:spcPts val="1062"/>
              </a:lnSpc>
              <a:defRPr sz="850" b="0">
                <a:solidFill>
                  <a:srgbClr val="475569"/>
                </a:solidFill>
                <a:latin typeface="Calibri"/>
              </a:defRPr>
            </a:pPr>
            <a:r>
              <a:t>a=const</a:t>
            </a:r>
          </a:p>
        </p:txBody>
      </p:sp>
      <p:sp>
        <p:nvSpPr>
          <p:cNvPr id="21" name="TextBox 20"/>
          <p:cNvSpPr txBox="1"/>
          <p:nvPr/>
        </p:nvSpPr>
        <p:spPr>
          <a:xfrm>
            <a:off x="4919472" y="2670048"/>
            <a:ext cx="3419856" cy="566928"/>
          </a:xfrm>
          <a:prstGeom prst="rect">
            <a:avLst/>
          </a:prstGeom>
          <a:noFill/>
        </p:spPr>
        <p:txBody>
          <a:bodyPr wrap="square">
            <a:spAutoFit/>
          </a:bodyPr>
          <a:lstStyle/>
          <a:p>
            <a:pPr algn="ctr">
              <a:lnSpc>
                <a:spcPts val="900"/>
              </a:lnSpc>
              <a:defRPr sz="750">
                <a:solidFill>
                  <a:srgbClr val="1E293B"/>
                </a:solidFill>
                <a:latin typeface="Calibri"/>
              </a:defRPr>
            </a:pPr>
            <a:r>
              <a:t>v=v₀+at</a:t>
            </a:r>
            <a:br/>
            <a:r>
              <a:t>x=x₀+v₀t+½at²</a:t>
            </a:r>
            <a:br/>
            <a:r>
              <a:t>v²−v₀²=2aΔx</a:t>
            </a:r>
          </a:p>
        </p:txBody>
      </p:sp>
      <p:sp>
        <p:nvSpPr>
          <p:cNvPr id="22" name="TextBox 21"/>
          <p:cNvSpPr txBox="1"/>
          <p:nvPr/>
        </p:nvSpPr>
        <p:spPr>
          <a:xfrm>
            <a:off x="8485632" y="2734056"/>
            <a:ext cx="2962656" cy="438912"/>
          </a:xfrm>
          <a:prstGeom prst="rect">
            <a:avLst/>
          </a:prstGeom>
          <a:noFill/>
        </p:spPr>
        <p:txBody>
          <a:bodyPr wrap="square"/>
          <a:lstStyle/>
          <a:p>
            <a:pPr algn="ctr">
              <a:lnSpc>
                <a:spcPts val="1000"/>
              </a:lnSpc>
              <a:defRPr sz="800" b="0">
                <a:solidFill>
                  <a:srgbClr val="475569"/>
                </a:solidFill>
                <a:latin typeface="Calibri"/>
              </a:defRPr>
            </a:pPr>
            <a:r>
              <a:t>Nhớ như toán cấp 3, chỉ đổi x→s</a:t>
            </a:r>
          </a:p>
        </p:txBody>
      </p:sp>
      <p:sp>
        <p:nvSpPr>
          <p:cNvPr id="23" name="Rounded Rectangle 22"/>
          <p:cNvSpPr/>
          <p:nvPr/>
        </p:nvSpPr>
        <p:spPr>
          <a:xfrm>
            <a:off x="548640" y="3310128"/>
            <a:ext cx="11091672" cy="713232"/>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447288"/>
            <a:ext cx="1682496" cy="438912"/>
          </a:xfrm>
          <a:prstGeom prst="rect">
            <a:avLst/>
          </a:prstGeom>
          <a:noFill/>
        </p:spPr>
        <p:txBody>
          <a:bodyPr wrap="square"/>
          <a:lstStyle/>
          <a:p>
            <a:pPr algn="ctr">
              <a:lnSpc>
                <a:spcPts val="1125"/>
              </a:lnSpc>
              <a:defRPr sz="900" b="1">
                <a:solidFill>
                  <a:srgbClr val="0F172A"/>
                </a:solidFill>
                <a:latin typeface="Calibri"/>
              </a:defRPr>
            </a:pPr>
            <a:r>
              <a:t>Ném xiên (g=9.8)</a:t>
            </a:r>
          </a:p>
        </p:txBody>
      </p:sp>
      <p:sp>
        <p:nvSpPr>
          <p:cNvPr id="25" name="TextBox 24"/>
          <p:cNvSpPr txBox="1"/>
          <p:nvPr/>
        </p:nvSpPr>
        <p:spPr>
          <a:xfrm>
            <a:off x="2542032" y="3447288"/>
            <a:ext cx="2231136" cy="438912"/>
          </a:xfrm>
          <a:prstGeom prst="rect">
            <a:avLst/>
          </a:prstGeom>
          <a:noFill/>
        </p:spPr>
        <p:txBody>
          <a:bodyPr wrap="square"/>
          <a:lstStyle/>
          <a:p>
            <a:pPr algn="ctr">
              <a:lnSpc>
                <a:spcPts val="1062"/>
              </a:lnSpc>
              <a:defRPr sz="850" b="0">
                <a:solidFill>
                  <a:srgbClr val="475569"/>
                </a:solidFill>
                <a:latin typeface="Calibri"/>
              </a:defRPr>
            </a:pPr>
            <a:r>
              <a:t>a=g ↓</a:t>
            </a:r>
          </a:p>
        </p:txBody>
      </p:sp>
      <p:sp>
        <p:nvSpPr>
          <p:cNvPr id="26" name="TextBox 25"/>
          <p:cNvSpPr txBox="1"/>
          <p:nvPr/>
        </p:nvSpPr>
        <p:spPr>
          <a:xfrm>
            <a:off x="4919472" y="3383280"/>
            <a:ext cx="3419856" cy="566928"/>
          </a:xfrm>
          <a:prstGeom prst="rect">
            <a:avLst/>
          </a:prstGeom>
          <a:noFill/>
        </p:spPr>
        <p:txBody>
          <a:bodyPr wrap="square">
            <a:spAutoFit/>
          </a:bodyPr>
          <a:lstStyle/>
          <a:p>
            <a:pPr algn="ctr">
              <a:lnSpc>
                <a:spcPts val="900"/>
              </a:lnSpc>
              <a:defRPr sz="750">
                <a:solidFill>
                  <a:srgbClr val="1E293B"/>
                </a:solidFill>
                <a:latin typeface="Calibri"/>
              </a:defRPr>
            </a:pPr>
            <a:r>
              <a:t>x=v₀cosα·t</a:t>
            </a:r>
            <a:br/>
            <a:r>
              <a:t>y=v₀sinα·t−½gt²</a:t>
            </a:r>
            <a:br/>
            <a:r>
              <a:t>L=v₀²sin2α/g, H=v₀²sin²α/2g</a:t>
            </a:r>
          </a:p>
        </p:txBody>
      </p:sp>
      <p:sp>
        <p:nvSpPr>
          <p:cNvPr id="27" name="TextBox 26"/>
          <p:cNvSpPr txBox="1"/>
          <p:nvPr/>
        </p:nvSpPr>
        <p:spPr>
          <a:xfrm>
            <a:off x="8485632" y="3447288"/>
            <a:ext cx="2962656" cy="438912"/>
          </a:xfrm>
          <a:prstGeom prst="rect">
            <a:avLst/>
          </a:prstGeom>
          <a:noFill/>
        </p:spPr>
        <p:txBody>
          <a:bodyPr wrap="square"/>
          <a:lstStyle/>
          <a:p>
            <a:pPr algn="ctr">
              <a:lnSpc>
                <a:spcPts val="1000"/>
              </a:lnSpc>
              <a:defRPr sz="800" b="0">
                <a:solidFill>
                  <a:srgbClr val="475569"/>
                </a:solidFill>
                <a:latin typeface="Calibri"/>
              </a:defRPr>
            </a:pPr>
            <a:r>
              <a:t>Tách Ox đều, Oy rơi tự do. Đỉnh thì vy=0</a:t>
            </a:r>
          </a:p>
        </p:txBody>
      </p:sp>
      <p:sp>
        <p:nvSpPr>
          <p:cNvPr id="28" name="Rounded Rectangle 27"/>
          <p:cNvSpPr/>
          <p:nvPr/>
        </p:nvSpPr>
        <p:spPr>
          <a:xfrm>
            <a:off x="411480" y="4434840"/>
            <a:ext cx="11365992" cy="17830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572000"/>
            <a:ext cx="10881360" cy="256032"/>
          </a:xfrm>
          <a:prstGeom prst="rect">
            <a:avLst/>
          </a:prstGeom>
          <a:noFill/>
        </p:spPr>
        <p:txBody>
          <a:bodyPr wrap="square"/>
          <a:lstStyle/>
          <a:p>
            <a:pPr algn="l">
              <a:lnSpc>
                <a:spcPts val="1250"/>
              </a:lnSpc>
              <a:defRPr sz="1000" b="1">
                <a:solidFill>
                  <a:srgbClr val="0F172A"/>
                </a:solidFill>
                <a:latin typeface="Calibri"/>
              </a:defRPr>
            </a:pPr>
            <a:r>
              <a:t>📝  Ví dụ nói mẫu (15 giây):</a:t>
            </a:r>
          </a:p>
        </p:txBody>
      </p:sp>
      <p:sp>
        <p:nvSpPr>
          <p:cNvPr id="30" name="TextBox 29"/>
          <p:cNvSpPr txBox="1"/>
          <p:nvPr/>
        </p:nvSpPr>
        <p:spPr>
          <a:xfrm>
            <a:off x="640080" y="4864608"/>
            <a:ext cx="10881360" cy="1234440"/>
          </a:xfrm>
          <a:prstGeom prst="rect">
            <a:avLst/>
          </a:prstGeom>
          <a:noFill/>
        </p:spPr>
        <p:txBody>
          <a:bodyPr wrap="square"/>
          <a:lstStyle/>
          <a:p>
            <a:pPr algn="l">
              <a:lnSpc>
                <a:spcPts val="1125"/>
              </a:lnSpc>
              <a:defRPr sz="900" b="0">
                <a:solidFill>
                  <a:srgbClr val="475569"/>
                </a:solidFill>
                <a:latin typeface="Calibri"/>
              </a:defRPr>
            </a:pPr>
            <a:r>
              <a:t>“Vật ném xiên 20 m/s góc 45° → Tầm xa L=40m, độ cao H=10m. Nếu muốn xa nhất → bắn 45°, muốn cao nhất → bắn 90°. Ox đều nên x tỉ lệ t, Oy chậm dần rồi nhanh dần do g.”</a:t>
            </a:r>
            <a:br/>
            <a:r>
              <a:t>→ Khán giả nhớ ngay L= v₀²sin2α/g lớn nhất khi sin2α=1 → α=45°.</a:t>
            </a:r>
          </a:p>
        </p:txBody>
      </p:sp>
      <p:sp>
        <p:nvSpPr>
          <p:cNvPr id="31" name="TextBox 30"/>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07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2</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C2. Ba định luật Newton — Chỉ cần nhớ F=ma (1/3)</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6766560" cy="5440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6309360" cy="256032"/>
          </a:xfrm>
          <a:prstGeom prst="rect">
            <a:avLst/>
          </a:prstGeom>
          <a:noFill/>
        </p:spPr>
        <p:txBody>
          <a:bodyPr wrap="square"/>
          <a:lstStyle/>
          <a:p>
            <a:pPr algn="l">
              <a:lnSpc>
                <a:spcPts val="1375"/>
              </a:lnSpc>
              <a:defRPr sz="1100" b="1">
                <a:solidFill>
                  <a:srgbClr val="0F172A"/>
                </a:solidFill>
                <a:latin typeface="Calibri"/>
              </a:defRPr>
            </a:pPr>
            <a:r>
              <a:t>⚖️  Ba định luật — Ba câu chuyện</a:t>
            </a:r>
          </a:p>
        </p:txBody>
      </p:sp>
      <p:sp>
        <p:nvSpPr>
          <p:cNvPr id="8" name="TextBox 7"/>
          <p:cNvSpPr txBox="1"/>
          <p:nvPr/>
        </p:nvSpPr>
        <p:spPr>
          <a:xfrm>
            <a:off x="640080" y="1463040"/>
            <a:ext cx="320040" cy="256032"/>
          </a:xfrm>
          <a:prstGeom prst="rect">
            <a:avLst/>
          </a:prstGeom>
          <a:noFill/>
        </p:spPr>
        <p:txBody>
          <a:bodyPr wrap="square"/>
          <a:lstStyle/>
          <a:p>
            <a:pPr algn="ctr">
              <a:lnSpc>
                <a:spcPts val="1500"/>
              </a:lnSpc>
              <a:defRPr sz="1200" b="0">
                <a:solidFill>
                  <a:srgbClr val="1E293B"/>
                </a:solidFill>
                <a:latin typeface="Calibri"/>
              </a:defRPr>
            </a:pPr>
            <a:r>
              <a:t>🛋️</a:t>
            </a:r>
          </a:p>
        </p:txBody>
      </p:sp>
      <p:sp>
        <p:nvSpPr>
          <p:cNvPr id="9" name="TextBox 8"/>
          <p:cNvSpPr txBox="1"/>
          <p:nvPr/>
        </p:nvSpPr>
        <p:spPr>
          <a:xfrm>
            <a:off x="960120" y="1463040"/>
            <a:ext cx="5943600" cy="256032"/>
          </a:xfrm>
          <a:prstGeom prst="rect">
            <a:avLst/>
          </a:prstGeom>
          <a:noFill/>
        </p:spPr>
        <p:txBody>
          <a:bodyPr wrap="square"/>
          <a:lstStyle/>
          <a:p>
            <a:pPr algn="l">
              <a:lnSpc>
                <a:spcPts val="1187"/>
              </a:lnSpc>
              <a:defRPr sz="950" b="1">
                <a:solidFill>
                  <a:srgbClr val="0F172A"/>
                </a:solidFill>
                <a:latin typeface="Calibri"/>
              </a:defRPr>
            </a:pPr>
            <a:r>
              <a:t>I. Quán tính — “Lười”</a:t>
            </a:r>
          </a:p>
        </p:txBody>
      </p:sp>
      <p:sp>
        <p:nvSpPr>
          <p:cNvPr id="10" name="TextBox 9"/>
          <p:cNvSpPr txBox="1"/>
          <p:nvPr/>
        </p:nvSpPr>
        <p:spPr>
          <a:xfrm>
            <a:off x="960120" y="1737360"/>
            <a:ext cx="5943600" cy="777240"/>
          </a:xfrm>
          <a:prstGeom prst="rect">
            <a:avLst/>
          </a:prstGeom>
          <a:noFill/>
        </p:spPr>
        <p:txBody>
          <a:bodyPr wrap="square"/>
          <a:lstStyle/>
          <a:p>
            <a:pPr algn="l">
              <a:lnSpc>
                <a:spcPts val="1000"/>
              </a:lnSpc>
              <a:defRPr sz="800" b="0">
                <a:solidFill>
                  <a:srgbClr val="475569"/>
                </a:solidFill>
                <a:latin typeface="Calibri"/>
              </a:defRPr>
            </a:pPr>
            <a:r>
              <a:t>ΣF=0 → v=const</a:t>
            </a:r>
            <a:br/>
            <a:r>
              <a:t>Hệ quy chiếu quán tính: đứng yên hoặc thẳng đều. Hệ quay/tăng tốc là không quán tính (phải thêm lực quán tính).</a:t>
            </a:r>
          </a:p>
        </p:txBody>
      </p:sp>
      <p:sp>
        <p:nvSpPr>
          <p:cNvPr id="11" name="TextBox 10"/>
          <p:cNvSpPr txBox="1"/>
          <p:nvPr/>
        </p:nvSpPr>
        <p:spPr>
          <a:xfrm>
            <a:off x="640080" y="2788920"/>
            <a:ext cx="320040" cy="256032"/>
          </a:xfrm>
          <a:prstGeom prst="rect">
            <a:avLst/>
          </a:prstGeom>
          <a:noFill/>
        </p:spPr>
        <p:txBody>
          <a:bodyPr wrap="square"/>
          <a:lstStyle/>
          <a:p>
            <a:pPr algn="ctr">
              <a:lnSpc>
                <a:spcPts val="1500"/>
              </a:lnSpc>
              <a:defRPr sz="1200" b="0">
                <a:solidFill>
                  <a:srgbClr val="1E293B"/>
                </a:solidFill>
                <a:latin typeface="Calibri"/>
              </a:defRPr>
            </a:pPr>
            <a:r>
              <a:t>🏋️</a:t>
            </a:r>
          </a:p>
        </p:txBody>
      </p:sp>
      <p:sp>
        <p:nvSpPr>
          <p:cNvPr id="12" name="TextBox 11"/>
          <p:cNvSpPr txBox="1"/>
          <p:nvPr/>
        </p:nvSpPr>
        <p:spPr>
          <a:xfrm>
            <a:off x="960120" y="2788920"/>
            <a:ext cx="5943600" cy="256032"/>
          </a:xfrm>
          <a:prstGeom prst="rect">
            <a:avLst/>
          </a:prstGeom>
          <a:noFill/>
        </p:spPr>
        <p:txBody>
          <a:bodyPr wrap="square"/>
          <a:lstStyle/>
          <a:p>
            <a:pPr algn="l">
              <a:lnSpc>
                <a:spcPts val="1187"/>
              </a:lnSpc>
              <a:defRPr sz="950" b="1">
                <a:solidFill>
                  <a:srgbClr val="0F172A"/>
                </a:solidFill>
                <a:latin typeface="Calibri"/>
              </a:defRPr>
            </a:pPr>
            <a:r>
              <a:t>II. F = m·a — “Lì”</a:t>
            </a:r>
          </a:p>
        </p:txBody>
      </p:sp>
      <p:sp>
        <p:nvSpPr>
          <p:cNvPr id="13" name="TextBox 12"/>
          <p:cNvSpPr txBox="1"/>
          <p:nvPr/>
        </p:nvSpPr>
        <p:spPr>
          <a:xfrm>
            <a:off x="960120" y="3063240"/>
            <a:ext cx="5943600" cy="777240"/>
          </a:xfrm>
          <a:prstGeom prst="rect">
            <a:avLst/>
          </a:prstGeom>
          <a:noFill/>
        </p:spPr>
        <p:txBody>
          <a:bodyPr wrap="square"/>
          <a:lstStyle/>
          <a:p>
            <a:pPr algn="l">
              <a:lnSpc>
                <a:spcPts val="1000"/>
              </a:lnSpc>
              <a:defRPr sz="800" b="0">
                <a:solidFill>
                  <a:srgbClr val="475569"/>
                </a:solidFill>
                <a:latin typeface="Calibri"/>
              </a:defRPr>
            </a:pPr>
            <a:r>
              <a:t>ΣF = m·a (vectơ)</a:t>
            </a:r>
            <a:br/>
            <a:r>
              <a:t>Chiếu: ΣFx=m·ax, ΣFy=m·ay</a:t>
            </a:r>
            <a:br/>
            <a:r>
              <a:t>1 N = 1 kg·m/s². m bất biến, P=mg đổi theo g.</a:t>
            </a:r>
          </a:p>
        </p:txBody>
      </p:sp>
      <p:sp>
        <p:nvSpPr>
          <p:cNvPr id="14" name="TextBox 13"/>
          <p:cNvSpPr txBox="1"/>
          <p:nvPr/>
        </p:nvSpPr>
        <p:spPr>
          <a:xfrm>
            <a:off x="640080" y="4114800"/>
            <a:ext cx="320040" cy="256032"/>
          </a:xfrm>
          <a:prstGeom prst="rect">
            <a:avLst/>
          </a:prstGeom>
          <a:noFill/>
        </p:spPr>
        <p:txBody>
          <a:bodyPr wrap="square"/>
          <a:lstStyle/>
          <a:p>
            <a:pPr algn="ctr">
              <a:lnSpc>
                <a:spcPts val="1500"/>
              </a:lnSpc>
              <a:defRPr sz="1200" b="0">
                <a:solidFill>
                  <a:srgbClr val="1E293B"/>
                </a:solidFill>
                <a:latin typeface="Calibri"/>
              </a:defRPr>
            </a:pPr>
            <a:r>
              <a:t>🤝</a:t>
            </a:r>
          </a:p>
        </p:txBody>
      </p:sp>
      <p:sp>
        <p:nvSpPr>
          <p:cNvPr id="15" name="TextBox 14"/>
          <p:cNvSpPr txBox="1"/>
          <p:nvPr/>
        </p:nvSpPr>
        <p:spPr>
          <a:xfrm>
            <a:off x="960120" y="4114800"/>
            <a:ext cx="5943600" cy="256032"/>
          </a:xfrm>
          <a:prstGeom prst="rect">
            <a:avLst/>
          </a:prstGeom>
          <a:noFill/>
        </p:spPr>
        <p:txBody>
          <a:bodyPr wrap="square"/>
          <a:lstStyle/>
          <a:p>
            <a:pPr algn="l">
              <a:lnSpc>
                <a:spcPts val="1187"/>
              </a:lnSpc>
              <a:defRPr sz="950" b="1">
                <a:solidFill>
                  <a:srgbClr val="0F172A"/>
                </a:solidFill>
                <a:latin typeface="Calibri"/>
              </a:defRPr>
            </a:pPr>
            <a:r>
              <a:t>III. Có qua có lại</a:t>
            </a:r>
          </a:p>
        </p:txBody>
      </p:sp>
      <p:sp>
        <p:nvSpPr>
          <p:cNvPr id="16" name="TextBox 15"/>
          <p:cNvSpPr txBox="1"/>
          <p:nvPr/>
        </p:nvSpPr>
        <p:spPr>
          <a:xfrm>
            <a:off x="960120" y="4389120"/>
            <a:ext cx="5943600" cy="777240"/>
          </a:xfrm>
          <a:prstGeom prst="rect">
            <a:avLst/>
          </a:prstGeom>
          <a:noFill/>
        </p:spPr>
        <p:txBody>
          <a:bodyPr wrap="square"/>
          <a:lstStyle/>
          <a:p>
            <a:pPr algn="l">
              <a:lnSpc>
                <a:spcPts val="1000"/>
              </a:lnSpc>
              <a:defRPr sz="800" b="0">
                <a:solidFill>
                  <a:srgbClr val="475569"/>
                </a:solidFill>
                <a:latin typeface="Calibri"/>
              </a:defRPr>
            </a:pPr>
            <a:r>
              <a:t>F_AB = −F_BA</a:t>
            </a:r>
            <a:br/>
            <a:r>
              <a:t>Cùng độ lớn, ngược chiều, khác điểm đặt → không triệt tiêu. Đấm tường 50N → tường đấm lại 50N.</a:t>
            </a:r>
          </a:p>
        </p:txBody>
      </p:sp>
      <p:sp>
        <p:nvSpPr>
          <p:cNvPr id="17" name="Rounded Rectangle 16"/>
          <p:cNvSpPr/>
          <p:nvPr/>
        </p:nvSpPr>
        <p:spPr>
          <a:xfrm>
            <a:off x="640080" y="5532120"/>
            <a:ext cx="6309360" cy="777240"/>
          </a:xfrm>
          <a:prstGeom prst="roundRect">
            <a:avLst/>
          </a:prstGeom>
          <a:solidFill>
            <a:srgbClr val="F0FDFA"/>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5623560"/>
            <a:ext cx="6080760" cy="594360"/>
          </a:xfrm>
          <a:prstGeom prst="rect">
            <a:avLst/>
          </a:prstGeom>
          <a:noFill/>
        </p:spPr>
        <p:txBody>
          <a:bodyPr wrap="square"/>
          <a:lstStyle/>
          <a:p>
            <a:pPr algn="l">
              <a:lnSpc>
                <a:spcPts val="1000"/>
              </a:lnSpc>
              <a:defRPr sz="800" b="0">
                <a:solidFill>
                  <a:srgbClr val="0F766E"/>
                </a:solidFill>
                <a:latin typeface="Calibri"/>
              </a:defRPr>
            </a:pPr>
            <a:r>
              <a:t>💡 Mẹo nói: I=“Lười” (không ai đẩy thì không đổi), II=“Lì” (m lớn thì a nhỏ), III=“Sòng phẳng” (đấm ai bị đấm lại).</a:t>
            </a:r>
          </a:p>
        </p:txBody>
      </p:sp>
      <p:pic>
        <p:nvPicPr>
          <p:cNvPr id="19" name="Picture 18" descr="c2_newton.jpg"/>
          <p:cNvPicPr>
            <a:picLocks noChangeAspect="1"/>
          </p:cNvPicPr>
          <p:nvPr/>
        </p:nvPicPr>
        <p:blipFill>
          <a:blip r:embed="rId2"/>
          <a:stretch>
            <a:fillRect/>
          </a:stretch>
        </p:blipFill>
        <p:spPr>
          <a:xfrm>
            <a:off x="7452360" y="960120"/>
            <a:ext cx="4251960" cy="2331720"/>
          </a:xfrm>
          <a:prstGeom prst="rect">
            <a:avLst/>
          </a:prstGeom>
        </p:spPr>
      </p:pic>
      <p:sp>
        <p:nvSpPr>
          <p:cNvPr id="20" name="TextBox 19"/>
          <p:cNvSpPr txBox="1"/>
          <p:nvPr/>
        </p:nvSpPr>
        <p:spPr>
          <a:xfrm>
            <a:off x="7452360" y="3337560"/>
            <a:ext cx="4251960" cy="256032"/>
          </a:xfrm>
          <a:prstGeom prst="rect">
            <a:avLst/>
          </a:prstGeom>
          <a:noFill/>
        </p:spPr>
        <p:txBody>
          <a:bodyPr wrap="square"/>
          <a:lstStyle/>
          <a:p>
            <a:pPr algn="ctr">
              <a:lnSpc>
                <a:spcPts val="875"/>
              </a:lnSpc>
              <a:defRPr sz="700" b="0">
                <a:solidFill>
                  <a:srgbClr val="94A3B8"/>
                </a:solidFill>
                <a:latin typeface="Calibri"/>
              </a:defRPr>
            </a:pPr>
            <a:r>
              <a:t>Hình 3 — 4 lực &amp; phương pháp chiếu</a:t>
            </a:r>
          </a:p>
        </p:txBody>
      </p:sp>
      <p:sp>
        <p:nvSpPr>
          <p:cNvPr id="21" name="Rounded Rectangle 20"/>
          <p:cNvSpPr/>
          <p:nvPr/>
        </p:nvSpPr>
        <p:spPr>
          <a:xfrm>
            <a:off x="7452360" y="3703320"/>
            <a:ext cx="4251960" cy="123444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38BDF8"/>
                </a:solidFill>
              </a:rPr>
              <a:t>ΣF = m·a   |   F_AB = −F_BA</a:t>
            </a:r>
          </a:p>
          <a:p>
            <a:pPr algn="ctr"/>
            <a:r>
              <a:rPr sz="750">
                <a:solidFill>
                  <a:srgbClr val="FDE68A"/>
                </a:solidFill>
              </a:rPr>
              <a:t>P=mg  |  F_hd=Gm₁m₂/r²  |  F_đh=−kΔl  |  F_ms=μN</a:t>
            </a:r>
          </a:p>
        </p:txBody>
      </p:sp>
      <p:sp>
        <p:nvSpPr>
          <p:cNvPr id="22" name="Rounded Rectangle 21"/>
          <p:cNvSpPr/>
          <p:nvPr/>
        </p:nvSpPr>
        <p:spPr>
          <a:xfrm>
            <a:off x="7452360" y="5074920"/>
            <a:ext cx="4251960" cy="132588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0" y="5166360"/>
            <a:ext cx="3977639" cy="1143000"/>
          </a:xfrm>
          <a:prstGeom prst="rect">
            <a:avLst/>
          </a:prstGeom>
          <a:noFill/>
        </p:spPr>
        <p:txBody>
          <a:bodyPr wrap="square"/>
          <a:lstStyle/>
          <a:p>
            <a:pPr algn="l">
              <a:lnSpc>
                <a:spcPts val="875"/>
              </a:lnSpc>
              <a:defRPr sz="700" b="0">
                <a:solidFill>
                  <a:srgbClr val="475569"/>
                </a:solidFill>
                <a:latin typeface="Calibri"/>
              </a:defRPr>
            </a:pPr>
            <a:r>
              <a:t>📌 Chú thích: m (kg) bất biến, P (N) đổi theo g, G=6.67×10⁻¹¹, k (N/m), μ (—), N (N) vuông góc mặt đỡ</a:t>
            </a:r>
          </a:p>
        </p:txBody>
      </p:sp>
      <p:sp>
        <p:nvSpPr>
          <p:cNvPr id="24" name="TextBox 23"/>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08 /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2</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C2. Bốn lực cơ học — Hiểu là nhớ (2/3)</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11365992"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10607040" cy="256032"/>
          </a:xfrm>
          <a:prstGeom prst="rect">
            <a:avLst/>
          </a:prstGeom>
          <a:noFill/>
        </p:spPr>
        <p:txBody>
          <a:bodyPr wrap="square"/>
          <a:lstStyle/>
          <a:p>
            <a:pPr algn="l">
              <a:lnSpc>
                <a:spcPts val="1375"/>
              </a:lnSpc>
              <a:defRPr sz="1100" b="1">
                <a:solidFill>
                  <a:srgbClr val="0F172A"/>
                </a:solidFill>
                <a:latin typeface="Calibri"/>
              </a:defRPr>
            </a:pPr>
            <a:r>
              <a:t>Bốn lực hay gặp — Không học vẹt, hiểu bản chất</a:t>
            </a:r>
          </a:p>
        </p:txBody>
      </p:sp>
      <p:sp>
        <p:nvSpPr>
          <p:cNvPr id="8" name="Rounded Rectangle 7"/>
          <p:cNvSpPr/>
          <p:nvPr/>
        </p:nvSpPr>
        <p:spPr>
          <a:xfrm>
            <a:off x="548640" y="1463040"/>
            <a:ext cx="11091672" cy="310896"/>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517904"/>
            <a:ext cx="1865376" cy="201168"/>
          </a:xfrm>
          <a:prstGeom prst="rect">
            <a:avLst/>
          </a:prstGeom>
          <a:noFill/>
        </p:spPr>
        <p:txBody>
          <a:bodyPr wrap="square"/>
          <a:lstStyle/>
          <a:p>
            <a:pPr algn="ctr">
              <a:lnSpc>
                <a:spcPts val="875"/>
              </a:lnSpc>
              <a:defRPr sz="700" b="1">
                <a:solidFill>
                  <a:srgbClr val="475569"/>
                </a:solidFill>
                <a:latin typeface="Calibri"/>
              </a:defRPr>
            </a:pPr>
            <a:r>
              <a:t>LỰC</a:t>
            </a:r>
          </a:p>
        </p:txBody>
      </p:sp>
      <p:sp>
        <p:nvSpPr>
          <p:cNvPr id="10" name="TextBox 9"/>
          <p:cNvSpPr txBox="1"/>
          <p:nvPr/>
        </p:nvSpPr>
        <p:spPr>
          <a:xfrm>
            <a:off x="2724912" y="1517904"/>
            <a:ext cx="2779776" cy="201168"/>
          </a:xfrm>
          <a:prstGeom prst="rect">
            <a:avLst/>
          </a:prstGeom>
          <a:noFill/>
        </p:spPr>
        <p:txBody>
          <a:bodyPr wrap="square"/>
          <a:lstStyle/>
          <a:p>
            <a:pPr algn="ctr">
              <a:lnSpc>
                <a:spcPts val="875"/>
              </a:lnSpc>
              <a:defRPr sz="700" b="1">
                <a:solidFill>
                  <a:srgbClr val="475569"/>
                </a:solidFill>
                <a:latin typeface="Calibri"/>
              </a:defRPr>
            </a:pPr>
            <a:r>
              <a:t>CÔNG THỨC</a:t>
            </a:r>
          </a:p>
        </p:txBody>
      </p:sp>
      <p:sp>
        <p:nvSpPr>
          <p:cNvPr id="11" name="TextBox 10"/>
          <p:cNvSpPr txBox="1"/>
          <p:nvPr/>
        </p:nvSpPr>
        <p:spPr>
          <a:xfrm>
            <a:off x="5650992" y="1517904"/>
            <a:ext cx="5980176" cy="201168"/>
          </a:xfrm>
          <a:prstGeom prst="rect">
            <a:avLst/>
          </a:prstGeom>
          <a:noFill/>
        </p:spPr>
        <p:txBody>
          <a:bodyPr wrap="square"/>
          <a:lstStyle/>
          <a:p>
            <a:pPr algn="ctr">
              <a:lnSpc>
                <a:spcPts val="875"/>
              </a:lnSpc>
              <a:defRPr sz="700" b="1">
                <a:solidFill>
                  <a:srgbClr val="475569"/>
                </a:solidFill>
                <a:latin typeface="Calibri"/>
              </a:defRPr>
            </a:pPr>
            <a:r>
              <a:t>ĐẶC ĐIỂM &amp; CHÚ Ý</a:t>
            </a:r>
          </a:p>
        </p:txBody>
      </p:sp>
      <p:sp>
        <p:nvSpPr>
          <p:cNvPr id="12" name="Rounded Rectangle 11"/>
          <p:cNvSpPr/>
          <p:nvPr/>
        </p:nvSpPr>
        <p:spPr>
          <a:xfrm>
            <a:off x="548640" y="1773936"/>
            <a:ext cx="11091672" cy="530352"/>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1911096"/>
            <a:ext cx="1865376" cy="256032"/>
          </a:xfrm>
          <a:prstGeom prst="rect">
            <a:avLst/>
          </a:prstGeom>
          <a:noFill/>
        </p:spPr>
        <p:txBody>
          <a:bodyPr wrap="square"/>
          <a:lstStyle/>
          <a:p>
            <a:pPr algn="ctr">
              <a:lnSpc>
                <a:spcPts val="1125"/>
              </a:lnSpc>
              <a:defRPr sz="900" b="1">
                <a:solidFill>
                  <a:srgbClr val="0F172A"/>
                </a:solidFill>
                <a:latin typeface="Calibri"/>
              </a:defRPr>
            </a:pPr>
            <a:r>
              <a:t>Trọng lực</a:t>
            </a:r>
          </a:p>
        </p:txBody>
      </p:sp>
      <p:sp>
        <p:nvSpPr>
          <p:cNvPr id="14" name="TextBox 13"/>
          <p:cNvSpPr txBox="1"/>
          <p:nvPr/>
        </p:nvSpPr>
        <p:spPr>
          <a:xfrm>
            <a:off x="2724912" y="1911096"/>
            <a:ext cx="2779776" cy="256032"/>
          </a:xfrm>
          <a:prstGeom prst="rect">
            <a:avLst/>
          </a:prstGeom>
          <a:noFill/>
        </p:spPr>
        <p:txBody>
          <a:bodyPr wrap="square"/>
          <a:lstStyle/>
          <a:p>
            <a:pPr algn="ctr">
              <a:lnSpc>
                <a:spcPts val="1125"/>
              </a:lnSpc>
              <a:defRPr sz="900" b="1">
                <a:solidFill>
                  <a:srgbClr val="4F46E5"/>
                </a:solidFill>
                <a:latin typeface="Calibri"/>
              </a:defRPr>
            </a:pPr>
            <a:r>
              <a:t>P = m·g</a:t>
            </a:r>
          </a:p>
        </p:txBody>
      </p:sp>
      <p:sp>
        <p:nvSpPr>
          <p:cNvPr id="15" name="TextBox 14"/>
          <p:cNvSpPr txBox="1"/>
          <p:nvPr/>
        </p:nvSpPr>
        <p:spPr>
          <a:xfrm>
            <a:off x="5650992" y="1828800"/>
            <a:ext cx="5980176" cy="420624"/>
          </a:xfrm>
          <a:prstGeom prst="rect">
            <a:avLst/>
          </a:prstGeom>
          <a:noFill/>
        </p:spPr>
        <p:txBody>
          <a:bodyPr wrap="square"/>
          <a:lstStyle/>
          <a:p>
            <a:pPr algn="l">
              <a:lnSpc>
                <a:spcPts val="1000"/>
              </a:lnSpc>
              <a:defRPr sz="800" b="0">
                <a:solidFill>
                  <a:srgbClr val="475569"/>
                </a:solidFill>
                <a:latin typeface="Calibri"/>
              </a:defRPr>
            </a:pPr>
            <a:r>
              <a:t>Hướng xuống, g≈9.81 m/s² (giảm khi lên cao). Tổng quát: F_hd=G·m₁m₂/r²</a:t>
            </a:r>
          </a:p>
        </p:txBody>
      </p:sp>
      <p:sp>
        <p:nvSpPr>
          <p:cNvPr id="16" name="Rounded Rectangle 15"/>
          <p:cNvSpPr/>
          <p:nvPr/>
        </p:nvSpPr>
        <p:spPr>
          <a:xfrm>
            <a:off x="548640" y="2304288"/>
            <a:ext cx="11091672" cy="530352"/>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2441448"/>
            <a:ext cx="1865376" cy="256032"/>
          </a:xfrm>
          <a:prstGeom prst="rect">
            <a:avLst/>
          </a:prstGeom>
          <a:noFill/>
        </p:spPr>
        <p:txBody>
          <a:bodyPr wrap="square"/>
          <a:lstStyle/>
          <a:p>
            <a:pPr algn="ctr">
              <a:lnSpc>
                <a:spcPts val="1125"/>
              </a:lnSpc>
              <a:defRPr sz="900" b="1">
                <a:solidFill>
                  <a:srgbClr val="0F172A"/>
                </a:solidFill>
                <a:latin typeface="Calibri"/>
              </a:defRPr>
            </a:pPr>
            <a:r>
              <a:t>Phản lực N</a:t>
            </a:r>
          </a:p>
        </p:txBody>
      </p:sp>
      <p:sp>
        <p:nvSpPr>
          <p:cNvPr id="18" name="TextBox 17"/>
          <p:cNvSpPr txBox="1"/>
          <p:nvPr/>
        </p:nvSpPr>
        <p:spPr>
          <a:xfrm>
            <a:off x="2724912" y="2441448"/>
            <a:ext cx="2779776" cy="256032"/>
          </a:xfrm>
          <a:prstGeom prst="rect">
            <a:avLst/>
          </a:prstGeom>
          <a:noFill/>
        </p:spPr>
        <p:txBody>
          <a:bodyPr wrap="square"/>
          <a:lstStyle/>
          <a:p>
            <a:pPr algn="ctr">
              <a:lnSpc>
                <a:spcPts val="1125"/>
              </a:lnSpc>
              <a:defRPr sz="900" b="1">
                <a:solidFill>
                  <a:srgbClr val="4F46E5"/>
                </a:solidFill>
                <a:latin typeface="Calibri"/>
              </a:defRPr>
            </a:pPr>
            <a:r>
              <a:t>— (tìm bằng chiếu)</a:t>
            </a:r>
          </a:p>
        </p:txBody>
      </p:sp>
      <p:sp>
        <p:nvSpPr>
          <p:cNvPr id="19" name="TextBox 18"/>
          <p:cNvSpPr txBox="1"/>
          <p:nvPr/>
        </p:nvSpPr>
        <p:spPr>
          <a:xfrm>
            <a:off x="5650992" y="2359152"/>
            <a:ext cx="5980176" cy="420624"/>
          </a:xfrm>
          <a:prstGeom prst="rect">
            <a:avLst/>
          </a:prstGeom>
          <a:noFill/>
        </p:spPr>
        <p:txBody>
          <a:bodyPr wrap="square"/>
          <a:lstStyle/>
          <a:p>
            <a:pPr algn="l">
              <a:lnSpc>
                <a:spcPts val="1000"/>
              </a:lnSpc>
              <a:defRPr sz="800" b="0">
                <a:solidFill>
                  <a:srgbClr val="475569"/>
                </a:solidFill>
                <a:latin typeface="Calibri"/>
              </a:defRPr>
            </a:pPr>
            <a:r>
              <a:t>Vuông góc mặt đỡ, không có công thức cố định. Tìm bằng ΣFy=0</a:t>
            </a:r>
          </a:p>
        </p:txBody>
      </p:sp>
      <p:sp>
        <p:nvSpPr>
          <p:cNvPr id="20" name="Rounded Rectangle 19"/>
          <p:cNvSpPr/>
          <p:nvPr/>
        </p:nvSpPr>
        <p:spPr>
          <a:xfrm>
            <a:off x="548640" y="2834640"/>
            <a:ext cx="11091672" cy="530352"/>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2971800"/>
            <a:ext cx="1865376" cy="256032"/>
          </a:xfrm>
          <a:prstGeom prst="rect">
            <a:avLst/>
          </a:prstGeom>
          <a:noFill/>
        </p:spPr>
        <p:txBody>
          <a:bodyPr wrap="square"/>
          <a:lstStyle/>
          <a:p>
            <a:pPr algn="ctr">
              <a:lnSpc>
                <a:spcPts val="1125"/>
              </a:lnSpc>
              <a:defRPr sz="900" b="1">
                <a:solidFill>
                  <a:srgbClr val="0F172A"/>
                </a:solidFill>
                <a:latin typeface="Calibri"/>
              </a:defRPr>
            </a:pPr>
            <a:r>
              <a:t>Ma sát</a:t>
            </a:r>
          </a:p>
        </p:txBody>
      </p:sp>
      <p:sp>
        <p:nvSpPr>
          <p:cNvPr id="22" name="TextBox 21"/>
          <p:cNvSpPr txBox="1"/>
          <p:nvPr/>
        </p:nvSpPr>
        <p:spPr>
          <a:xfrm>
            <a:off x="2724912" y="2971800"/>
            <a:ext cx="2779776" cy="256032"/>
          </a:xfrm>
          <a:prstGeom prst="rect">
            <a:avLst/>
          </a:prstGeom>
          <a:noFill/>
        </p:spPr>
        <p:txBody>
          <a:bodyPr wrap="square"/>
          <a:lstStyle/>
          <a:p>
            <a:pPr algn="ctr">
              <a:lnSpc>
                <a:spcPts val="1125"/>
              </a:lnSpc>
              <a:defRPr sz="900" b="1">
                <a:solidFill>
                  <a:srgbClr val="4F46E5"/>
                </a:solidFill>
                <a:latin typeface="Calibri"/>
              </a:defRPr>
            </a:pPr>
            <a:r>
              <a:t>F_ms = μ·N</a:t>
            </a:r>
          </a:p>
        </p:txBody>
      </p:sp>
      <p:sp>
        <p:nvSpPr>
          <p:cNvPr id="23" name="TextBox 22"/>
          <p:cNvSpPr txBox="1"/>
          <p:nvPr/>
        </p:nvSpPr>
        <p:spPr>
          <a:xfrm>
            <a:off x="5650992" y="2889504"/>
            <a:ext cx="5980176" cy="420624"/>
          </a:xfrm>
          <a:prstGeom prst="rect">
            <a:avLst/>
          </a:prstGeom>
          <a:noFill/>
        </p:spPr>
        <p:txBody>
          <a:bodyPr wrap="square"/>
          <a:lstStyle/>
          <a:p>
            <a:pPr algn="l">
              <a:lnSpc>
                <a:spcPts val="1000"/>
              </a:lnSpc>
              <a:defRPr sz="800" b="0">
                <a:solidFill>
                  <a:srgbClr val="475569"/>
                </a:solidFill>
                <a:latin typeface="Calibri"/>
              </a:defRPr>
            </a:pPr>
            <a:r>
              <a:t>Ngược chiều CĐ. Nghỉ ≤μ_n·N, trượt =μ_t·N. μ không đơn vị</a:t>
            </a:r>
          </a:p>
        </p:txBody>
      </p:sp>
      <p:sp>
        <p:nvSpPr>
          <p:cNvPr id="24" name="Rounded Rectangle 23"/>
          <p:cNvSpPr/>
          <p:nvPr/>
        </p:nvSpPr>
        <p:spPr>
          <a:xfrm>
            <a:off x="548640" y="3364991"/>
            <a:ext cx="11091672" cy="530352"/>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3502151"/>
            <a:ext cx="1865376" cy="256032"/>
          </a:xfrm>
          <a:prstGeom prst="rect">
            <a:avLst/>
          </a:prstGeom>
          <a:noFill/>
        </p:spPr>
        <p:txBody>
          <a:bodyPr wrap="square"/>
          <a:lstStyle/>
          <a:p>
            <a:pPr algn="ctr">
              <a:lnSpc>
                <a:spcPts val="1125"/>
              </a:lnSpc>
              <a:defRPr sz="900" b="1">
                <a:solidFill>
                  <a:srgbClr val="0F172A"/>
                </a:solidFill>
                <a:latin typeface="Calibri"/>
              </a:defRPr>
            </a:pPr>
            <a:r>
              <a:t>Đàn hồi</a:t>
            </a:r>
          </a:p>
        </p:txBody>
      </p:sp>
      <p:sp>
        <p:nvSpPr>
          <p:cNvPr id="26" name="TextBox 25"/>
          <p:cNvSpPr txBox="1"/>
          <p:nvPr/>
        </p:nvSpPr>
        <p:spPr>
          <a:xfrm>
            <a:off x="2724912" y="3502151"/>
            <a:ext cx="2779776" cy="256032"/>
          </a:xfrm>
          <a:prstGeom prst="rect">
            <a:avLst/>
          </a:prstGeom>
          <a:noFill/>
        </p:spPr>
        <p:txBody>
          <a:bodyPr wrap="square"/>
          <a:lstStyle/>
          <a:p>
            <a:pPr algn="ctr">
              <a:lnSpc>
                <a:spcPts val="1125"/>
              </a:lnSpc>
              <a:defRPr sz="900" b="1">
                <a:solidFill>
                  <a:srgbClr val="4F46E5"/>
                </a:solidFill>
                <a:latin typeface="Calibri"/>
              </a:defRPr>
            </a:pPr>
            <a:r>
              <a:t>F_đh = −k·Δl</a:t>
            </a:r>
          </a:p>
        </p:txBody>
      </p:sp>
      <p:sp>
        <p:nvSpPr>
          <p:cNvPr id="27" name="TextBox 26"/>
          <p:cNvSpPr txBox="1"/>
          <p:nvPr/>
        </p:nvSpPr>
        <p:spPr>
          <a:xfrm>
            <a:off x="5650992" y="3419855"/>
            <a:ext cx="5980176" cy="420624"/>
          </a:xfrm>
          <a:prstGeom prst="rect">
            <a:avLst/>
          </a:prstGeom>
          <a:noFill/>
        </p:spPr>
        <p:txBody>
          <a:bodyPr wrap="square"/>
          <a:lstStyle/>
          <a:p>
            <a:pPr algn="l">
              <a:lnSpc>
                <a:spcPts val="1000"/>
              </a:lnSpc>
              <a:defRPr sz="800" b="0">
                <a:solidFill>
                  <a:srgbClr val="475569"/>
                </a:solidFill>
                <a:latin typeface="Calibri"/>
              </a:defRPr>
            </a:pPr>
            <a:r>
              <a:t>k (N/m) độ cứng, Δl (m) biến dạng. Dấu − : luôn chống lại biến dạng</a:t>
            </a:r>
          </a:p>
        </p:txBody>
      </p:sp>
      <p:sp>
        <p:nvSpPr>
          <p:cNvPr id="28" name="Rounded Rectangle 27"/>
          <p:cNvSpPr/>
          <p:nvPr/>
        </p:nvSpPr>
        <p:spPr>
          <a:xfrm>
            <a:off x="411480" y="4434840"/>
            <a:ext cx="11365992"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572000"/>
            <a:ext cx="10881360" cy="256032"/>
          </a:xfrm>
          <a:prstGeom prst="rect">
            <a:avLst/>
          </a:prstGeom>
          <a:noFill/>
        </p:spPr>
        <p:txBody>
          <a:bodyPr wrap="square"/>
          <a:lstStyle/>
          <a:p>
            <a:pPr algn="l">
              <a:lnSpc>
                <a:spcPts val="1375"/>
              </a:lnSpc>
              <a:defRPr sz="1100" b="1">
                <a:solidFill>
                  <a:srgbClr val="0F172A"/>
                </a:solidFill>
                <a:latin typeface="Calibri"/>
              </a:defRPr>
            </a:pPr>
            <a:r>
              <a:t>🛠️  Phương pháp 4 bước — Giải mọi bài C2</a:t>
            </a:r>
          </a:p>
        </p:txBody>
      </p:sp>
      <p:sp>
        <p:nvSpPr>
          <p:cNvPr id="30" name="Oval 29"/>
          <p:cNvSpPr/>
          <p:nvPr/>
        </p:nvSpPr>
        <p:spPr>
          <a:xfrm>
            <a:off x="640080" y="4937760"/>
            <a:ext cx="292608" cy="292608"/>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a:t>
            </a:r>
          </a:p>
        </p:txBody>
      </p:sp>
      <p:sp>
        <p:nvSpPr>
          <p:cNvPr id="31" name="TextBox 30"/>
          <p:cNvSpPr txBox="1"/>
          <p:nvPr/>
        </p:nvSpPr>
        <p:spPr>
          <a:xfrm>
            <a:off x="1005840" y="4956048"/>
            <a:ext cx="2286000" cy="256032"/>
          </a:xfrm>
          <a:prstGeom prst="rect">
            <a:avLst/>
          </a:prstGeom>
          <a:noFill/>
        </p:spPr>
        <p:txBody>
          <a:bodyPr wrap="square"/>
          <a:lstStyle/>
          <a:p>
            <a:pPr algn="l">
              <a:lnSpc>
                <a:spcPts val="1125"/>
              </a:lnSpc>
              <a:defRPr sz="900" b="1">
                <a:solidFill>
                  <a:srgbClr val="0F172A"/>
                </a:solidFill>
                <a:latin typeface="Calibri"/>
              </a:defRPr>
            </a:pPr>
            <a:r>
              <a:t>Chọn trục</a:t>
            </a:r>
          </a:p>
        </p:txBody>
      </p:sp>
      <p:sp>
        <p:nvSpPr>
          <p:cNvPr id="32" name="TextBox 31"/>
          <p:cNvSpPr txBox="1"/>
          <p:nvPr/>
        </p:nvSpPr>
        <p:spPr>
          <a:xfrm>
            <a:off x="1005840" y="5212080"/>
            <a:ext cx="2286000" cy="320040"/>
          </a:xfrm>
          <a:prstGeom prst="rect">
            <a:avLst/>
          </a:prstGeom>
          <a:noFill/>
        </p:spPr>
        <p:txBody>
          <a:bodyPr wrap="square"/>
          <a:lstStyle/>
          <a:p>
            <a:pPr algn="l">
              <a:lnSpc>
                <a:spcPts val="1000"/>
              </a:lnSpc>
              <a:defRPr sz="800" b="0">
                <a:solidFill>
                  <a:srgbClr val="475569"/>
                </a:solidFill>
                <a:latin typeface="Calibri"/>
              </a:defRPr>
            </a:pPr>
            <a:r>
              <a:t>Ox theo CĐ, Oy vuông góc → ay=0</a:t>
            </a:r>
          </a:p>
        </p:txBody>
      </p:sp>
      <p:sp>
        <p:nvSpPr>
          <p:cNvPr id="33" name="TextBox 32"/>
          <p:cNvSpPr txBox="1"/>
          <p:nvPr/>
        </p:nvSpPr>
        <p:spPr>
          <a:xfrm>
            <a:off x="3337560" y="4983480"/>
            <a:ext cx="228600" cy="256032"/>
          </a:xfrm>
          <a:prstGeom prst="rect">
            <a:avLst/>
          </a:prstGeom>
          <a:noFill/>
        </p:spPr>
        <p:txBody>
          <a:bodyPr wrap="square"/>
          <a:lstStyle/>
          <a:p>
            <a:pPr algn="ctr">
              <a:lnSpc>
                <a:spcPts val="1500"/>
              </a:lnSpc>
              <a:defRPr sz="1200" b="0">
                <a:solidFill>
                  <a:srgbClr val="94A3B8"/>
                </a:solidFill>
                <a:latin typeface="Calibri"/>
              </a:defRPr>
            </a:pPr>
            <a:r>
              <a:t>→</a:t>
            </a:r>
          </a:p>
        </p:txBody>
      </p:sp>
      <p:sp>
        <p:nvSpPr>
          <p:cNvPr id="34" name="Oval 33"/>
          <p:cNvSpPr/>
          <p:nvPr/>
        </p:nvSpPr>
        <p:spPr>
          <a:xfrm>
            <a:off x="3429000" y="4937760"/>
            <a:ext cx="292608" cy="292608"/>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2</a:t>
            </a:r>
          </a:p>
        </p:txBody>
      </p:sp>
      <p:sp>
        <p:nvSpPr>
          <p:cNvPr id="35" name="TextBox 34"/>
          <p:cNvSpPr txBox="1"/>
          <p:nvPr/>
        </p:nvSpPr>
        <p:spPr>
          <a:xfrm>
            <a:off x="3794760" y="4956048"/>
            <a:ext cx="2286000" cy="256032"/>
          </a:xfrm>
          <a:prstGeom prst="rect">
            <a:avLst/>
          </a:prstGeom>
          <a:noFill/>
        </p:spPr>
        <p:txBody>
          <a:bodyPr wrap="square"/>
          <a:lstStyle/>
          <a:p>
            <a:pPr algn="l">
              <a:lnSpc>
                <a:spcPts val="1125"/>
              </a:lnSpc>
              <a:defRPr sz="900" b="1">
                <a:solidFill>
                  <a:srgbClr val="0F172A"/>
                </a:solidFill>
                <a:latin typeface="Calibri"/>
              </a:defRPr>
            </a:pPr>
            <a:r>
              <a:t>Vẽ hết lực</a:t>
            </a:r>
          </a:p>
        </p:txBody>
      </p:sp>
      <p:sp>
        <p:nvSpPr>
          <p:cNvPr id="36" name="TextBox 35"/>
          <p:cNvSpPr txBox="1"/>
          <p:nvPr/>
        </p:nvSpPr>
        <p:spPr>
          <a:xfrm>
            <a:off x="3794760" y="5212080"/>
            <a:ext cx="2286000" cy="320040"/>
          </a:xfrm>
          <a:prstGeom prst="rect">
            <a:avLst/>
          </a:prstGeom>
          <a:noFill/>
        </p:spPr>
        <p:txBody>
          <a:bodyPr wrap="square"/>
          <a:lstStyle/>
          <a:p>
            <a:pPr algn="l">
              <a:lnSpc>
                <a:spcPts val="1000"/>
              </a:lnSpc>
              <a:defRPr sz="800" b="0">
                <a:solidFill>
                  <a:srgbClr val="475569"/>
                </a:solidFill>
                <a:latin typeface="Calibri"/>
              </a:defRPr>
            </a:pPr>
            <a:r>
              <a:t>P, N, F_ms, F_kéo, T… đúng điểm đặt/phương/chiều</a:t>
            </a:r>
          </a:p>
        </p:txBody>
      </p:sp>
      <p:sp>
        <p:nvSpPr>
          <p:cNvPr id="37" name="TextBox 36"/>
          <p:cNvSpPr txBox="1"/>
          <p:nvPr/>
        </p:nvSpPr>
        <p:spPr>
          <a:xfrm>
            <a:off x="6126480" y="4983480"/>
            <a:ext cx="228600" cy="256032"/>
          </a:xfrm>
          <a:prstGeom prst="rect">
            <a:avLst/>
          </a:prstGeom>
          <a:noFill/>
        </p:spPr>
        <p:txBody>
          <a:bodyPr wrap="square"/>
          <a:lstStyle/>
          <a:p>
            <a:pPr algn="ctr">
              <a:lnSpc>
                <a:spcPts val="1500"/>
              </a:lnSpc>
              <a:defRPr sz="1200" b="0">
                <a:solidFill>
                  <a:srgbClr val="94A3B8"/>
                </a:solidFill>
                <a:latin typeface="Calibri"/>
              </a:defRPr>
            </a:pPr>
            <a:r>
              <a:t>→</a:t>
            </a:r>
          </a:p>
        </p:txBody>
      </p:sp>
      <p:sp>
        <p:nvSpPr>
          <p:cNvPr id="38" name="Oval 37"/>
          <p:cNvSpPr/>
          <p:nvPr/>
        </p:nvSpPr>
        <p:spPr>
          <a:xfrm>
            <a:off x="6217920" y="4937760"/>
            <a:ext cx="292608" cy="292608"/>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3</a:t>
            </a:r>
          </a:p>
        </p:txBody>
      </p:sp>
      <p:sp>
        <p:nvSpPr>
          <p:cNvPr id="39" name="TextBox 38"/>
          <p:cNvSpPr txBox="1"/>
          <p:nvPr/>
        </p:nvSpPr>
        <p:spPr>
          <a:xfrm>
            <a:off x="6583680" y="4956048"/>
            <a:ext cx="2286000" cy="256032"/>
          </a:xfrm>
          <a:prstGeom prst="rect">
            <a:avLst/>
          </a:prstGeom>
          <a:noFill/>
        </p:spPr>
        <p:txBody>
          <a:bodyPr wrap="square"/>
          <a:lstStyle/>
          <a:p>
            <a:pPr algn="l">
              <a:lnSpc>
                <a:spcPts val="1125"/>
              </a:lnSpc>
              <a:defRPr sz="900" b="1">
                <a:solidFill>
                  <a:srgbClr val="0F172A"/>
                </a:solidFill>
                <a:latin typeface="Calibri"/>
              </a:defRPr>
            </a:pPr>
            <a:r>
              <a:t>Chiếu ΣF=ma</a:t>
            </a:r>
          </a:p>
        </p:txBody>
      </p:sp>
      <p:sp>
        <p:nvSpPr>
          <p:cNvPr id="40" name="TextBox 39"/>
          <p:cNvSpPr txBox="1"/>
          <p:nvPr/>
        </p:nvSpPr>
        <p:spPr>
          <a:xfrm>
            <a:off x="6583680" y="5212080"/>
            <a:ext cx="2286000" cy="320040"/>
          </a:xfrm>
          <a:prstGeom prst="rect">
            <a:avLst/>
          </a:prstGeom>
          <a:noFill/>
        </p:spPr>
        <p:txBody>
          <a:bodyPr wrap="square"/>
          <a:lstStyle/>
          <a:p>
            <a:pPr algn="l">
              <a:lnSpc>
                <a:spcPts val="1000"/>
              </a:lnSpc>
              <a:defRPr sz="800" b="0">
                <a:solidFill>
                  <a:srgbClr val="475569"/>
                </a:solidFill>
                <a:latin typeface="Calibri"/>
              </a:defRPr>
            </a:pPr>
            <a:r>
              <a:t>ΣFx=m·ax, ΣFy=m·ay. Nhiều vật → viết cho từng vật</a:t>
            </a:r>
          </a:p>
        </p:txBody>
      </p:sp>
      <p:sp>
        <p:nvSpPr>
          <p:cNvPr id="41" name="TextBox 40"/>
          <p:cNvSpPr txBox="1"/>
          <p:nvPr/>
        </p:nvSpPr>
        <p:spPr>
          <a:xfrm>
            <a:off x="8915400" y="4983480"/>
            <a:ext cx="228600" cy="256032"/>
          </a:xfrm>
          <a:prstGeom prst="rect">
            <a:avLst/>
          </a:prstGeom>
          <a:noFill/>
        </p:spPr>
        <p:txBody>
          <a:bodyPr wrap="square"/>
          <a:lstStyle/>
          <a:p>
            <a:pPr algn="ctr">
              <a:lnSpc>
                <a:spcPts val="1500"/>
              </a:lnSpc>
              <a:defRPr sz="1200" b="0">
                <a:solidFill>
                  <a:srgbClr val="94A3B8"/>
                </a:solidFill>
                <a:latin typeface="Calibri"/>
              </a:defRPr>
            </a:pPr>
            <a:r>
              <a:t>→</a:t>
            </a:r>
          </a:p>
        </p:txBody>
      </p:sp>
      <p:sp>
        <p:nvSpPr>
          <p:cNvPr id="42" name="Oval 41"/>
          <p:cNvSpPr/>
          <p:nvPr/>
        </p:nvSpPr>
        <p:spPr>
          <a:xfrm>
            <a:off x="9006839" y="4937760"/>
            <a:ext cx="292608" cy="292608"/>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4</a:t>
            </a:r>
          </a:p>
        </p:txBody>
      </p:sp>
      <p:sp>
        <p:nvSpPr>
          <p:cNvPr id="43" name="TextBox 42"/>
          <p:cNvSpPr txBox="1"/>
          <p:nvPr/>
        </p:nvSpPr>
        <p:spPr>
          <a:xfrm>
            <a:off x="9372599" y="4956048"/>
            <a:ext cx="2286000" cy="256032"/>
          </a:xfrm>
          <a:prstGeom prst="rect">
            <a:avLst/>
          </a:prstGeom>
          <a:noFill/>
        </p:spPr>
        <p:txBody>
          <a:bodyPr wrap="square"/>
          <a:lstStyle/>
          <a:p>
            <a:pPr algn="l">
              <a:lnSpc>
                <a:spcPts val="1125"/>
              </a:lnSpc>
              <a:defRPr sz="900" b="1">
                <a:solidFill>
                  <a:srgbClr val="0F172A"/>
                </a:solidFill>
                <a:latin typeface="Calibri"/>
              </a:defRPr>
            </a:pPr>
            <a:r>
              <a:t>Giải hệ</a:t>
            </a:r>
          </a:p>
        </p:txBody>
      </p:sp>
      <p:sp>
        <p:nvSpPr>
          <p:cNvPr id="44" name="TextBox 43"/>
          <p:cNvSpPr txBox="1"/>
          <p:nvPr/>
        </p:nvSpPr>
        <p:spPr>
          <a:xfrm>
            <a:off x="9372599" y="5212080"/>
            <a:ext cx="2286000" cy="320040"/>
          </a:xfrm>
          <a:prstGeom prst="rect">
            <a:avLst/>
          </a:prstGeom>
          <a:noFill/>
        </p:spPr>
        <p:txBody>
          <a:bodyPr wrap="square"/>
          <a:lstStyle/>
          <a:p>
            <a:pPr algn="l">
              <a:lnSpc>
                <a:spcPts val="1000"/>
              </a:lnSpc>
              <a:defRPr sz="800" b="0">
                <a:solidFill>
                  <a:srgbClr val="475569"/>
                </a:solidFill>
                <a:latin typeface="Calibri"/>
              </a:defRPr>
            </a:pPr>
            <a:r>
              <a:t>Thêm điều kiện dây không giãn → a₁=a₂</a:t>
            </a:r>
          </a:p>
        </p:txBody>
      </p:sp>
      <p:sp>
        <p:nvSpPr>
          <p:cNvPr id="45" name="TextBox 44"/>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09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2</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C2. Ví dụ mẫu — Nói sao cho khán giả hiểu (3/3)</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7132320" cy="5440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6675120" cy="256032"/>
          </a:xfrm>
          <a:prstGeom prst="rect">
            <a:avLst/>
          </a:prstGeom>
          <a:noFill/>
        </p:spPr>
        <p:txBody>
          <a:bodyPr wrap="square"/>
          <a:lstStyle/>
          <a:p>
            <a:pPr algn="l">
              <a:lnSpc>
                <a:spcPts val="1250"/>
              </a:lnSpc>
              <a:defRPr sz="1000" b="1">
                <a:solidFill>
                  <a:srgbClr val="0F172A"/>
                </a:solidFill>
                <a:latin typeface="Calibri"/>
              </a:defRPr>
            </a:pPr>
            <a:r>
              <a:t>📝  Ví dụ 1: Thùng 20kg, kéo 100N nghiêng 30°, μ=0.2</a:t>
            </a:r>
          </a:p>
        </p:txBody>
      </p:sp>
      <p:sp>
        <p:nvSpPr>
          <p:cNvPr id="8" name="TextBox 7"/>
          <p:cNvSpPr txBox="1"/>
          <p:nvPr/>
        </p:nvSpPr>
        <p:spPr>
          <a:xfrm>
            <a:off x="640080" y="1463040"/>
            <a:ext cx="6675120" cy="2377440"/>
          </a:xfrm>
          <a:prstGeom prst="rect">
            <a:avLst/>
          </a:prstGeom>
          <a:noFill/>
        </p:spPr>
        <p:txBody>
          <a:bodyPr wrap="square">
            <a:spAutoFit/>
          </a:bodyPr>
          <a:lstStyle/>
          <a:p>
            <a:pPr>
              <a:spcAft>
                <a:spcPts val="600"/>
              </a:spcAft>
            </a:pPr>
            <a:r>
              <a:rPr sz="900" b="1">
                <a:solidFill>
                  <a:srgbClr val="4F46E5"/>
                </a:solidFill>
              </a:rPr>
              <a:t>Bước 1: </a:t>
            </a:r>
            <a:r>
              <a:rPr sz="900">
                <a:solidFill>
                  <a:srgbClr val="1E293B"/>
                </a:solidFill>
              </a:rPr>
              <a:t>Ox ngang, Oy đứng → ay=0</a:t>
            </a:r>
          </a:p>
          <a:p>
            <a:pPr>
              <a:spcAft>
                <a:spcPts val="600"/>
              </a:spcAft>
            </a:pPr>
            <a:r>
              <a:rPr sz="900" b="1">
                <a:solidFill>
                  <a:srgbClr val="4F46E5"/>
                </a:solidFill>
              </a:rPr>
              <a:t>Bước 2: </a:t>
            </a:r>
            <a:r>
              <a:rPr sz="900">
                <a:solidFill>
                  <a:srgbClr val="1E293B"/>
                </a:solidFill>
              </a:rPr>
              <a:t>Vẽ: F=100N, P=196N, N, F_ms</a:t>
            </a:r>
          </a:p>
          <a:p>
            <a:pPr>
              <a:spcAft>
                <a:spcPts val="600"/>
              </a:spcAft>
            </a:pPr>
            <a:r>
              <a:rPr sz="900" b="1">
                <a:solidFill>
                  <a:srgbClr val="4F46E5"/>
                </a:solidFill>
              </a:rPr>
              <a:t>Bước 3: </a:t>
            </a:r>
            <a:r>
              <a:rPr sz="900">
                <a:solidFill>
                  <a:srgbClr val="1E293B"/>
                </a:solidFill>
              </a:rPr>
              <a:t>Oy: N +100sin30° −mg=0 → N=146N → F_ms=29.2N</a:t>
            </a:r>
          </a:p>
          <a:p>
            <a:pPr>
              <a:spcAft>
                <a:spcPts val="600"/>
              </a:spcAft>
            </a:pPr>
            <a:r>
              <a:rPr sz="900" b="1">
                <a:solidFill>
                  <a:srgbClr val="4F46E5"/>
                </a:solidFill>
              </a:rPr>
              <a:t>Bước 4: </a:t>
            </a:r>
            <a:r>
              <a:rPr sz="900">
                <a:solidFill>
                  <a:srgbClr val="1E293B"/>
                </a:solidFill>
              </a:rPr>
              <a:t>Ox: 100cos30° −F_ms = m·a → a=2.87 m/s²</a:t>
            </a:r>
          </a:p>
          <a:p>
            <a:pPr lvl="1">
              <a:spcAft>
                <a:spcPts val="400"/>
              </a:spcAft>
            </a:pPr>
            <a:r>
              <a:rPr sz="800" i="1">
                <a:solidFill>
                  <a:srgbClr val="475569"/>
                </a:solidFill>
              </a:rPr>
              <a:t>→ Không ma sát thì a=4.33 → ma sát “ăn” 34% lực</a:t>
            </a:r>
          </a:p>
        </p:txBody>
      </p:sp>
      <p:sp>
        <p:nvSpPr>
          <p:cNvPr id="9" name="TextBox 8"/>
          <p:cNvSpPr txBox="1"/>
          <p:nvPr/>
        </p:nvSpPr>
        <p:spPr>
          <a:xfrm>
            <a:off x="640080" y="3977639"/>
            <a:ext cx="6675120" cy="256032"/>
          </a:xfrm>
          <a:prstGeom prst="rect">
            <a:avLst/>
          </a:prstGeom>
          <a:noFill/>
        </p:spPr>
        <p:txBody>
          <a:bodyPr wrap="square"/>
          <a:lstStyle/>
          <a:p>
            <a:pPr algn="l">
              <a:lnSpc>
                <a:spcPts val="1250"/>
              </a:lnSpc>
              <a:defRPr sz="1000" b="1">
                <a:solidFill>
                  <a:srgbClr val="0F172A"/>
                </a:solidFill>
                <a:latin typeface="Calibri"/>
              </a:defRPr>
            </a:pPr>
            <a:r>
              <a:t>📝  Ví dụ 2: Thang máy</a:t>
            </a:r>
          </a:p>
        </p:txBody>
      </p:sp>
      <p:sp>
        <p:nvSpPr>
          <p:cNvPr id="10" name="TextBox 9"/>
          <p:cNvSpPr txBox="1"/>
          <p:nvPr/>
        </p:nvSpPr>
        <p:spPr>
          <a:xfrm>
            <a:off x="640080" y="4251960"/>
            <a:ext cx="6675120" cy="1234440"/>
          </a:xfrm>
          <a:prstGeom prst="rect">
            <a:avLst/>
          </a:prstGeom>
          <a:noFill/>
        </p:spPr>
        <p:txBody>
          <a:bodyPr wrap="square"/>
          <a:lstStyle/>
          <a:p>
            <a:pPr algn="l">
              <a:lnSpc>
                <a:spcPts val="1125"/>
              </a:lnSpc>
              <a:defRPr sz="900" b="0">
                <a:solidFill>
                  <a:srgbClr val="475569"/>
                </a:solidFill>
                <a:latin typeface="Calibri"/>
              </a:defRPr>
            </a:pPr>
            <a:r>
              <a:t>N − mg = m·a → N = m(g+a)</a:t>
            </a:r>
            <a:br/>
            <a:r>
              <a:t>• Đi lên nhanh dần (a&gt;0): N&gt;m·g → nặng hơn</a:t>
            </a:r>
            <a:br/>
            <a:r>
              <a:t>• Đi xuống nhanh dần (a&lt;0): N&lt;m·g → nhẹ hơn</a:t>
            </a:r>
            <a:br/>
            <a:r>
              <a:t>• Rơi tự do a=−g → N=0 → không trọng lượng (phi hành gia)</a:t>
            </a:r>
          </a:p>
        </p:txBody>
      </p:sp>
      <p:sp>
        <p:nvSpPr>
          <p:cNvPr id="11" name="Rounded Rectangle 10"/>
          <p:cNvSpPr/>
          <p:nvPr/>
        </p:nvSpPr>
        <p:spPr>
          <a:xfrm>
            <a:off x="7818120" y="960120"/>
            <a:ext cx="3886200" cy="5440680"/>
          </a:xfrm>
          <a:prstGeom prst="roundRect">
            <a:avLst/>
          </a:prstGeom>
          <a:solidFill>
            <a:srgbClr val="FFF2F2"/>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1143000"/>
            <a:ext cx="3429000" cy="256032"/>
          </a:xfrm>
          <a:prstGeom prst="rect">
            <a:avLst/>
          </a:prstGeom>
          <a:noFill/>
        </p:spPr>
        <p:txBody>
          <a:bodyPr wrap="square"/>
          <a:lstStyle/>
          <a:p>
            <a:pPr algn="l">
              <a:lnSpc>
                <a:spcPts val="1375"/>
              </a:lnSpc>
              <a:defRPr sz="1100" b="1">
                <a:solidFill>
                  <a:srgbClr val="B91C1C"/>
                </a:solidFill>
                <a:latin typeface="Calibri"/>
              </a:defRPr>
            </a:pPr>
            <a:r>
              <a:t>⚠️  Bẫy hay sai</a:t>
            </a:r>
          </a:p>
        </p:txBody>
      </p:sp>
      <p:sp>
        <p:nvSpPr>
          <p:cNvPr id="13" name="TextBox 12"/>
          <p:cNvSpPr txBox="1"/>
          <p:nvPr/>
        </p:nvSpPr>
        <p:spPr>
          <a:xfrm>
            <a:off x="8046720" y="1463040"/>
            <a:ext cx="3429000" cy="4572000"/>
          </a:xfrm>
          <a:prstGeom prst="rect">
            <a:avLst/>
          </a:prstGeom>
          <a:noFill/>
        </p:spPr>
        <p:txBody>
          <a:bodyPr wrap="square">
            <a:spAutoFit/>
          </a:bodyPr>
          <a:lstStyle/>
          <a:p>
            <a:pPr>
              <a:spcAft>
                <a:spcPts val="1000"/>
              </a:spcAft>
            </a:pPr>
            <a:r>
              <a:rPr sz="850" b="1">
                <a:solidFill>
                  <a:srgbClr val="B91C1C"/>
                </a:solidFill>
              </a:rPr>
              <a:t>• Khối lượng vs Trọng lượng: </a:t>
            </a:r>
            <a:r>
              <a:rPr sz="800">
                <a:solidFill>
                  <a:srgbClr val="475569"/>
                </a:solidFill>
              </a:rPr>
              <a:t>m (kg) bất biến, P=mg (N) đổi theo g. Ở Mặt Trăng g=1.62 → P giảm 6 lần nhưng m không đổi.</a:t>
            </a:r>
          </a:p>
          <a:p>
            <a:pPr>
              <a:spcAft>
                <a:spcPts val="1000"/>
              </a:spcAft>
            </a:pPr>
            <a:r>
              <a:rPr sz="850" b="1">
                <a:solidFill>
                  <a:srgbClr val="B91C1C"/>
                </a:solidFill>
              </a:rPr>
              <a:t>• Cặp ĐL III không triệt tiêu: </a:t>
            </a:r>
            <a:r>
              <a:rPr sz="800">
                <a:solidFill>
                  <a:srgbClr val="475569"/>
                </a:solidFill>
              </a:rPr>
              <a:t>F_AB và F_BA đặt lên 2 vật khác nhau.</a:t>
            </a:r>
          </a:p>
          <a:p>
            <a:pPr>
              <a:spcAft>
                <a:spcPts val="1000"/>
              </a:spcAft>
            </a:pPr>
            <a:r>
              <a:rPr sz="850" b="1">
                <a:solidFill>
                  <a:srgbClr val="B91C1C"/>
                </a:solidFill>
              </a:rPr>
              <a:t>• N không luôn = mg: </a:t>
            </a:r>
            <a:r>
              <a:rPr sz="800">
                <a:solidFill>
                  <a:srgbClr val="475569"/>
                </a:solidFill>
              </a:rPr>
              <a:t>Mặt nghiêng N=mg cosα, thang máy N=m(g±a). Phải chiếu mới ra.</a:t>
            </a:r>
          </a:p>
        </p:txBody>
      </p:sp>
      <p:sp>
        <p:nvSpPr>
          <p:cNvPr id="14" name="TextBox 13"/>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10 /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3</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C3. Động lượng &amp; Mômen động lượng — “Đà” của vật (1/3)</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6766560" cy="5440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6309360" cy="256032"/>
          </a:xfrm>
          <a:prstGeom prst="rect">
            <a:avLst/>
          </a:prstGeom>
          <a:noFill/>
        </p:spPr>
        <p:txBody>
          <a:bodyPr wrap="square"/>
          <a:lstStyle/>
          <a:p>
            <a:pPr algn="l">
              <a:lnSpc>
                <a:spcPts val="1375"/>
              </a:lnSpc>
              <a:defRPr sz="1100" b="1">
                <a:solidFill>
                  <a:srgbClr val="0F172A"/>
                </a:solidFill>
                <a:latin typeface="Calibri"/>
              </a:defRPr>
            </a:pPr>
            <a:r>
              <a:t>💥  Động lượng p = m·v (kg·m/s)</a:t>
            </a:r>
          </a:p>
        </p:txBody>
      </p:sp>
      <p:sp>
        <p:nvSpPr>
          <p:cNvPr id="8" name="TextBox 7"/>
          <p:cNvSpPr txBox="1"/>
          <p:nvPr/>
        </p:nvSpPr>
        <p:spPr>
          <a:xfrm>
            <a:off x="640080" y="1463040"/>
            <a:ext cx="6309360" cy="1234440"/>
          </a:xfrm>
          <a:prstGeom prst="rect">
            <a:avLst/>
          </a:prstGeom>
          <a:noFill/>
        </p:spPr>
        <p:txBody>
          <a:bodyPr wrap="square"/>
          <a:lstStyle/>
          <a:p>
            <a:pPr algn="l">
              <a:lnSpc>
                <a:spcPts val="1125"/>
              </a:lnSpc>
              <a:defRPr sz="900" b="0">
                <a:solidFill>
                  <a:srgbClr val="475569"/>
                </a:solidFill>
                <a:latin typeface="Calibri"/>
              </a:defRPr>
            </a:pPr>
            <a:r>
              <a:t>• p là “đà” — vật nặng &amp; nhanh thì đà lớn, khó dừng.</a:t>
            </a:r>
            <a:br/>
            <a:r>
              <a:t>• Xung lượng: F·Δt = Δp  |  Dạng vi phân: F = dp/dt</a:t>
            </a:r>
            <a:br/>
            <a:r>
              <a:t>• Bảo toàn: ΣF_ngoài=0 ⇒ Σp = const (vectơ) — hệ cô lập.</a:t>
            </a:r>
            <a:br/>
            <a:r>
              <a:t>• Ứng dụng: pháo giật lùi, tên lửa, va chạm.</a:t>
            </a:r>
          </a:p>
        </p:txBody>
      </p:sp>
      <p:sp>
        <p:nvSpPr>
          <p:cNvPr id="9" name="TextBox 8"/>
          <p:cNvSpPr txBox="1"/>
          <p:nvPr/>
        </p:nvSpPr>
        <p:spPr>
          <a:xfrm>
            <a:off x="640080" y="2788920"/>
            <a:ext cx="6309360" cy="256032"/>
          </a:xfrm>
          <a:prstGeom prst="rect">
            <a:avLst/>
          </a:prstGeom>
          <a:noFill/>
        </p:spPr>
        <p:txBody>
          <a:bodyPr wrap="square"/>
          <a:lstStyle/>
          <a:p>
            <a:pPr algn="l">
              <a:lnSpc>
                <a:spcPts val="1375"/>
              </a:lnSpc>
              <a:defRPr sz="1100" b="1">
                <a:solidFill>
                  <a:srgbClr val="0F172A"/>
                </a:solidFill>
                <a:latin typeface="Calibri"/>
              </a:defRPr>
            </a:pPr>
            <a:r>
              <a:t>🎯  Khối tâm &amp; Mômen động lượng</a:t>
            </a:r>
          </a:p>
        </p:txBody>
      </p:sp>
      <p:sp>
        <p:nvSpPr>
          <p:cNvPr id="10" name="TextBox 9"/>
          <p:cNvSpPr txBox="1"/>
          <p:nvPr/>
        </p:nvSpPr>
        <p:spPr>
          <a:xfrm>
            <a:off x="640080" y="3108960"/>
            <a:ext cx="6309360" cy="1691640"/>
          </a:xfrm>
          <a:prstGeom prst="rect">
            <a:avLst/>
          </a:prstGeom>
          <a:noFill/>
        </p:spPr>
        <p:txBody>
          <a:bodyPr wrap="square"/>
          <a:lstStyle/>
          <a:p>
            <a:pPr algn="l">
              <a:lnSpc>
                <a:spcPts val="1125"/>
              </a:lnSpc>
              <a:defRPr sz="900" b="0">
                <a:solidFill>
                  <a:srgbClr val="475569"/>
                </a:solidFill>
                <a:latin typeface="Calibri"/>
              </a:defRPr>
            </a:pPr>
            <a:r>
              <a:t>• Khối tâm: r_G = Σ m_i r_i / Σ m_i . Thanh đều → G ở giữa.</a:t>
            </a:r>
            <a:br/>
            <a:r>
              <a:t>  Định lý: M·a_G = ΣF_ngoài (CĐ của G như chất điểm M).</a:t>
            </a:r>
            <a:br/>
            <a:r>
              <a:t>• Mômen lực: M = r × F (N·m) — khả năng gây quay.</a:t>
            </a:r>
            <a:br/>
            <a:r>
              <a:t>• Mômen động lượng: L = r × p (kg·m²/s)</a:t>
            </a:r>
            <a:br/>
            <a:r>
              <a:t>• Liên hệ: dL/dt = M. Nếu M_ngoài=0 ⇒ L = const</a:t>
            </a:r>
            <a:br/>
            <a:r>
              <a:t>  VD: vũ công khép tay → I giảm → ω tăng để L=Iω không đổi.</a:t>
            </a:r>
          </a:p>
        </p:txBody>
      </p:sp>
      <p:sp>
        <p:nvSpPr>
          <p:cNvPr id="11" name="Rounded Rectangle 10"/>
          <p:cNvSpPr/>
          <p:nvPr/>
        </p:nvSpPr>
        <p:spPr>
          <a:xfrm>
            <a:off x="640080" y="4892040"/>
            <a:ext cx="6309360" cy="1325880"/>
          </a:xfrm>
          <a:prstGeom prst="roundRect">
            <a:avLst/>
          </a:prstGeom>
          <a:solidFill>
            <a:srgbClr val="F0FDFA"/>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4983480"/>
            <a:ext cx="6080760" cy="1143000"/>
          </a:xfrm>
          <a:prstGeom prst="rect">
            <a:avLst/>
          </a:prstGeom>
          <a:noFill/>
        </p:spPr>
        <p:txBody>
          <a:bodyPr wrap="square"/>
          <a:lstStyle/>
          <a:p>
            <a:pPr algn="l">
              <a:lnSpc>
                <a:spcPts val="1062"/>
              </a:lnSpc>
              <a:defRPr sz="850" b="0">
                <a:solidFill>
                  <a:srgbClr val="0F766E"/>
                </a:solidFill>
                <a:latin typeface="Calibri"/>
              </a:defRPr>
            </a:pPr>
            <a:r>
              <a:t>📝 Ví dụ pháo giật lùi: Pháo 1000kg bắn đạn 10kg 500 m/s.</a:t>
            </a:r>
            <a:br/>
            <a:r>
              <a:t>Ban đầu p=0 → 10·500 +1000·V=0 → V=−5 m/s (giật lùi). Không cần biết lực nổ, chỉ cần bảo toàn p.</a:t>
            </a:r>
          </a:p>
        </p:txBody>
      </p:sp>
      <p:pic>
        <p:nvPicPr>
          <p:cNvPr id="13" name="Picture 12" descr="c3_baotoan.jpg"/>
          <p:cNvPicPr>
            <a:picLocks noChangeAspect="1"/>
          </p:cNvPicPr>
          <p:nvPr/>
        </p:nvPicPr>
        <p:blipFill>
          <a:blip r:embed="rId2"/>
          <a:stretch>
            <a:fillRect/>
          </a:stretch>
        </p:blipFill>
        <p:spPr>
          <a:xfrm>
            <a:off x="7452360" y="960120"/>
            <a:ext cx="4251960" cy="2331720"/>
          </a:xfrm>
          <a:prstGeom prst="rect">
            <a:avLst/>
          </a:prstGeom>
        </p:spPr>
      </p:pic>
      <p:sp>
        <p:nvSpPr>
          <p:cNvPr id="14" name="TextBox 13"/>
          <p:cNvSpPr txBox="1"/>
          <p:nvPr/>
        </p:nvSpPr>
        <p:spPr>
          <a:xfrm>
            <a:off x="7452360" y="3337560"/>
            <a:ext cx="4251960" cy="256032"/>
          </a:xfrm>
          <a:prstGeom prst="rect">
            <a:avLst/>
          </a:prstGeom>
          <a:noFill/>
        </p:spPr>
        <p:txBody>
          <a:bodyPr wrap="square"/>
          <a:lstStyle/>
          <a:p>
            <a:pPr algn="ctr">
              <a:lnSpc>
                <a:spcPts val="875"/>
              </a:lnSpc>
              <a:defRPr sz="700" b="0">
                <a:solidFill>
                  <a:srgbClr val="94A3B8"/>
                </a:solidFill>
                <a:latin typeface="Calibri"/>
              </a:defRPr>
            </a:pPr>
            <a:r>
              <a:t>Hình 4 — Đàn hồi vs Mềm</a:t>
            </a:r>
          </a:p>
        </p:txBody>
      </p:sp>
      <p:sp>
        <p:nvSpPr>
          <p:cNvPr id="15" name="Rounded Rectangle 14"/>
          <p:cNvSpPr/>
          <p:nvPr/>
        </p:nvSpPr>
        <p:spPr>
          <a:xfrm>
            <a:off x="7452360" y="3703320"/>
            <a:ext cx="4251960" cy="123444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38BDF8"/>
                </a:solidFill>
              </a:rPr>
              <a:t>p = m·v  |  F = dp/dt  |  Σp = const (nếu ΣF=0)</a:t>
            </a:r>
          </a:p>
          <a:p>
            <a:pPr algn="ctr"/>
            <a:r>
              <a:rPr sz="800">
                <a:solidFill>
                  <a:srgbClr val="FDE68A"/>
                </a:solidFill>
              </a:rPr>
              <a:t>L = r×p  |  M = r×F  |  dL/dt = M</a:t>
            </a:r>
          </a:p>
        </p:txBody>
      </p:sp>
      <p:sp>
        <p:nvSpPr>
          <p:cNvPr id="16" name="Rounded Rectangle 15"/>
          <p:cNvSpPr/>
          <p:nvPr/>
        </p:nvSpPr>
        <p:spPr>
          <a:xfrm>
            <a:off x="7452360" y="5074920"/>
            <a:ext cx="4251960" cy="132588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5166360"/>
            <a:ext cx="3977639" cy="1143000"/>
          </a:xfrm>
          <a:prstGeom prst="rect">
            <a:avLst/>
          </a:prstGeom>
          <a:noFill/>
        </p:spPr>
        <p:txBody>
          <a:bodyPr wrap="square"/>
          <a:lstStyle/>
          <a:p>
            <a:pPr algn="l">
              <a:lnSpc>
                <a:spcPts val="875"/>
              </a:lnSpc>
              <a:defRPr sz="700" b="0">
                <a:solidFill>
                  <a:srgbClr val="475569"/>
                </a:solidFill>
                <a:latin typeface="Calibri"/>
              </a:defRPr>
            </a:pPr>
            <a:r>
              <a:t>📌 Chú thích: p (kg·m/s) động lượng, L (kg·m²/s) mômen động lượng, M (N·m) mômen lực, × là tích có hướng</a:t>
            </a:r>
          </a:p>
        </p:txBody>
      </p:sp>
      <p:sp>
        <p:nvSpPr>
          <p:cNvPr id="18" name="TextBox 17"/>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11 /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3</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C3. Công – Năng lượng – Cơ năng (2/3)</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11365992" cy="27432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10881360" cy="256032"/>
          </a:xfrm>
          <a:prstGeom prst="rect">
            <a:avLst/>
          </a:prstGeom>
          <a:noFill/>
        </p:spPr>
        <p:txBody>
          <a:bodyPr wrap="square"/>
          <a:lstStyle/>
          <a:p>
            <a:pPr algn="l">
              <a:lnSpc>
                <a:spcPts val="1375"/>
              </a:lnSpc>
              <a:defRPr sz="1100" b="1">
                <a:solidFill>
                  <a:srgbClr val="0F172A"/>
                </a:solidFill>
                <a:latin typeface="Calibri"/>
              </a:defRPr>
            </a:pPr>
            <a:r>
              <a:t>⚡  Công &amp; Năng lượng</a:t>
            </a:r>
          </a:p>
        </p:txBody>
      </p:sp>
      <p:sp>
        <p:nvSpPr>
          <p:cNvPr id="8" name="TextBox 7"/>
          <p:cNvSpPr txBox="1"/>
          <p:nvPr/>
        </p:nvSpPr>
        <p:spPr>
          <a:xfrm>
            <a:off x="640080" y="1463040"/>
            <a:ext cx="5394960" cy="2011680"/>
          </a:xfrm>
          <a:prstGeom prst="rect">
            <a:avLst/>
          </a:prstGeom>
          <a:noFill/>
        </p:spPr>
        <p:txBody>
          <a:bodyPr wrap="square">
            <a:spAutoFit/>
          </a:bodyPr>
          <a:lstStyle/>
          <a:p>
            <a:pPr>
              <a:spcAft>
                <a:spcPts val="400"/>
              </a:spcAft>
            </a:pPr>
            <a:r>
              <a:rPr sz="850" b="1">
                <a:solidFill>
                  <a:srgbClr val="1E293B"/>
                </a:solidFill>
              </a:rPr>
              <a:t>• Công: </a:t>
            </a:r>
            <a:r>
              <a:rPr sz="800">
                <a:solidFill>
                  <a:srgbClr val="475569"/>
                </a:solidFill>
              </a:rPr>
              <a:t>A = ∫F·ds = F·s·cosα (J). α là góc F–ds. Cùng chiều → A&gt;0, ngược → A&lt;0, vuông → A=0.</a:t>
            </a:r>
          </a:p>
          <a:p>
            <a:pPr>
              <a:spcAft>
                <a:spcPts val="400"/>
              </a:spcAft>
            </a:pPr>
            <a:r>
              <a:rPr sz="850" b="1">
                <a:solidFill>
                  <a:srgbClr val="1E293B"/>
                </a:solidFill>
              </a:rPr>
              <a:t>• Công suất: </a:t>
            </a:r>
            <a:r>
              <a:rPr sz="800">
                <a:solidFill>
                  <a:srgbClr val="475569"/>
                </a:solidFill>
              </a:rPr>
              <a:t>P = dA/dt = F·v (W) — làm việc nhanh thế nào.</a:t>
            </a:r>
          </a:p>
          <a:p>
            <a:pPr>
              <a:spcAft>
                <a:spcPts val="400"/>
              </a:spcAft>
            </a:pPr>
            <a:r>
              <a:rPr sz="850" b="1">
                <a:solidFill>
                  <a:srgbClr val="1E293B"/>
                </a:solidFill>
              </a:rPr>
              <a:t>• Động năng: </a:t>
            </a:r>
            <a:r>
              <a:rPr sz="800">
                <a:solidFill>
                  <a:srgbClr val="475569"/>
                </a:solidFill>
              </a:rPr>
              <a:t>Wđ = ½ m v² (J) — do CĐ, luôn ≥0.</a:t>
            </a:r>
          </a:p>
          <a:p>
            <a:pPr>
              <a:spcAft>
                <a:spcPts val="400"/>
              </a:spcAft>
            </a:pPr>
            <a:r>
              <a:rPr sz="850" b="1">
                <a:solidFill>
                  <a:srgbClr val="1E293B"/>
                </a:solidFill>
              </a:rPr>
              <a:t>• Thế năng: </a:t>
            </a:r>
            <a:r>
              <a:rPr sz="800">
                <a:solidFill>
                  <a:srgbClr val="475569"/>
                </a:solidFill>
              </a:rPr>
              <a:t>Wt = m g h (trọng) | ½ k x² (đàn hồi) — do vị trí/biến dạng.</a:t>
            </a:r>
          </a:p>
        </p:txBody>
      </p:sp>
      <p:sp>
        <p:nvSpPr>
          <p:cNvPr id="9" name="TextBox 8"/>
          <p:cNvSpPr txBox="1"/>
          <p:nvPr/>
        </p:nvSpPr>
        <p:spPr>
          <a:xfrm>
            <a:off x="6263640" y="1463040"/>
            <a:ext cx="5394960" cy="2011680"/>
          </a:xfrm>
          <a:prstGeom prst="rect">
            <a:avLst/>
          </a:prstGeom>
          <a:noFill/>
        </p:spPr>
        <p:txBody>
          <a:bodyPr wrap="square">
            <a:spAutoFit/>
          </a:bodyPr>
          <a:lstStyle/>
          <a:p>
            <a:r>
              <a:rPr sz="900" b="1">
                <a:solidFill>
                  <a:srgbClr val="0F172A"/>
                </a:solidFill>
              </a:rPr>
              <a:t>Hai định lý quan trọng:</a:t>
            </a:r>
          </a:p>
          <a:p>
            <a:pPr>
              <a:spcAft>
                <a:spcPts val="400"/>
              </a:spcAft>
            </a:pPr>
            <a:r>
              <a:rPr sz="850" b="1">
                <a:solidFill>
                  <a:srgbClr val="1E293B"/>
                </a:solidFill>
              </a:rPr>
              <a:t>1. Định lý động năng: A_mọi lực = ΔWđ = Wđ2−Wđ1</a:t>
            </a:r>
          </a:p>
          <a:p>
            <a:r>
              <a:rPr sz="800">
                <a:solidFill>
                  <a:srgbClr val="475569"/>
                </a:solidFill>
              </a:rPr>
              <a:t>   Dùng khi có ma sát/lực kéo.</a:t>
            </a:r>
          </a:p>
          <a:p>
            <a:pPr>
              <a:spcAft>
                <a:spcPts val="400"/>
              </a:spcAft>
            </a:pPr>
            <a:r>
              <a:rPr sz="850" b="1">
                <a:solidFill>
                  <a:srgbClr val="1E293B"/>
                </a:solidFill>
              </a:rPr>
              <a:t>2. Bảo toàn cơ năng: W = Wđ+Wt = const</a:t>
            </a:r>
          </a:p>
          <a:p>
            <a:r>
              <a:rPr sz="800">
                <a:solidFill>
                  <a:srgbClr val="475569"/>
                </a:solidFill>
              </a:rPr>
              <a:t>   Chỉ khi lực thế làm việc (không ma sát). Nếu có ma sát: ΔW = A_không thế (&lt;0).</a:t>
            </a:r>
          </a:p>
        </p:txBody>
      </p:sp>
      <p:sp>
        <p:nvSpPr>
          <p:cNvPr id="10" name="Rounded Rectangle 9"/>
          <p:cNvSpPr/>
          <p:nvPr/>
        </p:nvSpPr>
        <p:spPr>
          <a:xfrm>
            <a:off x="411480" y="3886200"/>
            <a:ext cx="11365992" cy="2560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023360"/>
            <a:ext cx="10881360" cy="256032"/>
          </a:xfrm>
          <a:prstGeom prst="rect">
            <a:avLst/>
          </a:prstGeom>
          <a:noFill/>
        </p:spPr>
        <p:txBody>
          <a:bodyPr wrap="square"/>
          <a:lstStyle/>
          <a:p>
            <a:pPr algn="l">
              <a:lnSpc>
                <a:spcPts val="1250"/>
              </a:lnSpc>
              <a:defRPr sz="1000" b="1">
                <a:solidFill>
                  <a:srgbClr val="0F172A"/>
                </a:solidFill>
                <a:latin typeface="Calibri"/>
              </a:defRPr>
            </a:pPr>
            <a:r>
              <a:t>🎯  Khi nào dùng gì? — Nói 1 câu là khán giả nhớ</a:t>
            </a:r>
          </a:p>
        </p:txBody>
      </p:sp>
      <p:sp>
        <p:nvSpPr>
          <p:cNvPr id="12" name="Rounded Rectangle 11"/>
          <p:cNvSpPr/>
          <p:nvPr/>
        </p:nvSpPr>
        <p:spPr>
          <a:xfrm>
            <a:off x="548640" y="4343400"/>
            <a:ext cx="11091672" cy="310896"/>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4398264"/>
            <a:ext cx="3328416" cy="201168"/>
          </a:xfrm>
          <a:prstGeom prst="rect">
            <a:avLst/>
          </a:prstGeom>
          <a:noFill/>
        </p:spPr>
        <p:txBody>
          <a:bodyPr wrap="square"/>
          <a:lstStyle/>
          <a:p>
            <a:pPr algn="ctr">
              <a:lnSpc>
                <a:spcPts val="875"/>
              </a:lnSpc>
              <a:defRPr sz="700" b="1">
                <a:solidFill>
                  <a:srgbClr val="475569"/>
                </a:solidFill>
                <a:latin typeface="Calibri"/>
              </a:defRPr>
            </a:pPr>
            <a:r>
              <a:t>TÌNH HUỐNG</a:t>
            </a:r>
          </a:p>
        </p:txBody>
      </p:sp>
      <p:sp>
        <p:nvSpPr>
          <p:cNvPr id="14" name="TextBox 13"/>
          <p:cNvSpPr txBox="1"/>
          <p:nvPr/>
        </p:nvSpPr>
        <p:spPr>
          <a:xfrm>
            <a:off x="4187952" y="4398264"/>
            <a:ext cx="3694176" cy="201168"/>
          </a:xfrm>
          <a:prstGeom prst="rect">
            <a:avLst/>
          </a:prstGeom>
          <a:noFill/>
        </p:spPr>
        <p:txBody>
          <a:bodyPr wrap="square"/>
          <a:lstStyle/>
          <a:p>
            <a:pPr algn="ctr">
              <a:lnSpc>
                <a:spcPts val="875"/>
              </a:lnSpc>
              <a:defRPr sz="700" b="1">
                <a:solidFill>
                  <a:srgbClr val="475569"/>
                </a:solidFill>
                <a:latin typeface="Calibri"/>
              </a:defRPr>
            </a:pPr>
            <a:r>
              <a:t>DÙNG ĐỊNH LÝ NÀO?</a:t>
            </a:r>
          </a:p>
        </p:txBody>
      </p:sp>
      <p:sp>
        <p:nvSpPr>
          <p:cNvPr id="15" name="TextBox 14"/>
          <p:cNvSpPr txBox="1"/>
          <p:nvPr/>
        </p:nvSpPr>
        <p:spPr>
          <a:xfrm>
            <a:off x="8028431" y="4398264"/>
            <a:ext cx="3602735" cy="201168"/>
          </a:xfrm>
          <a:prstGeom prst="rect">
            <a:avLst/>
          </a:prstGeom>
          <a:noFill/>
        </p:spPr>
        <p:txBody>
          <a:bodyPr wrap="square"/>
          <a:lstStyle/>
          <a:p>
            <a:pPr algn="ctr">
              <a:lnSpc>
                <a:spcPts val="875"/>
              </a:lnSpc>
              <a:defRPr sz="700" b="1">
                <a:solidFill>
                  <a:srgbClr val="475569"/>
                </a:solidFill>
                <a:latin typeface="Calibri"/>
              </a:defRPr>
            </a:pPr>
            <a:r>
              <a:t>VÍ DỤ</a:t>
            </a:r>
          </a:p>
        </p:txBody>
      </p:sp>
      <p:sp>
        <p:nvSpPr>
          <p:cNvPr id="16" name="Rounded Rectangle 15"/>
          <p:cNvSpPr/>
          <p:nvPr/>
        </p:nvSpPr>
        <p:spPr>
          <a:xfrm>
            <a:off x="548640" y="4654296"/>
            <a:ext cx="11091672" cy="475488"/>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4764024"/>
            <a:ext cx="3328416" cy="256032"/>
          </a:xfrm>
          <a:prstGeom prst="rect">
            <a:avLst/>
          </a:prstGeom>
          <a:noFill/>
        </p:spPr>
        <p:txBody>
          <a:bodyPr wrap="square"/>
          <a:lstStyle/>
          <a:p>
            <a:pPr algn="ctr">
              <a:lnSpc>
                <a:spcPts val="1062"/>
              </a:lnSpc>
              <a:defRPr sz="850" b="0">
                <a:solidFill>
                  <a:srgbClr val="1E293B"/>
                </a:solidFill>
                <a:latin typeface="Calibri"/>
              </a:defRPr>
            </a:pPr>
            <a:r>
              <a:t>Chỉ trọng lực/đàn hồi</a:t>
            </a:r>
          </a:p>
        </p:txBody>
      </p:sp>
      <p:sp>
        <p:nvSpPr>
          <p:cNvPr id="18" name="TextBox 17"/>
          <p:cNvSpPr txBox="1"/>
          <p:nvPr/>
        </p:nvSpPr>
        <p:spPr>
          <a:xfrm>
            <a:off x="4187952" y="4764024"/>
            <a:ext cx="3694176" cy="256032"/>
          </a:xfrm>
          <a:prstGeom prst="rect">
            <a:avLst/>
          </a:prstGeom>
          <a:noFill/>
        </p:spPr>
        <p:txBody>
          <a:bodyPr wrap="square"/>
          <a:lstStyle/>
          <a:p>
            <a:pPr algn="ctr">
              <a:lnSpc>
                <a:spcPts val="1062"/>
              </a:lnSpc>
              <a:defRPr sz="850" b="1">
                <a:solidFill>
                  <a:srgbClr val="0F172A"/>
                </a:solidFill>
                <a:latin typeface="Calibri"/>
              </a:defRPr>
            </a:pPr>
            <a:r>
              <a:t>Bảo toàn cơ năng W=const</a:t>
            </a:r>
          </a:p>
        </p:txBody>
      </p:sp>
      <p:sp>
        <p:nvSpPr>
          <p:cNvPr id="19" name="TextBox 18"/>
          <p:cNvSpPr txBox="1"/>
          <p:nvPr/>
        </p:nvSpPr>
        <p:spPr>
          <a:xfrm>
            <a:off x="8028431" y="4764024"/>
            <a:ext cx="3602735" cy="256032"/>
          </a:xfrm>
          <a:prstGeom prst="rect">
            <a:avLst/>
          </a:prstGeom>
          <a:noFill/>
        </p:spPr>
        <p:txBody>
          <a:bodyPr wrap="square"/>
          <a:lstStyle/>
          <a:p>
            <a:pPr algn="ctr">
              <a:lnSpc>
                <a:spcPts val="1000"/>
              </a:lnSpc>
              <a:defRPr sz="800" b="0">
                <a:solidFill>
                  <a:srgbClr val="475569"/>
                </a:solidFill>
                <a:latin typeface="Calibri"/>
              </a:defRPr>
            </a:pPr>
            <a:r>
              <a:t>Rơi tự do, con lắc, lò xo</a:t>
            </a:r>
          </a:p>
        </p:txBody>
      </p:sp>
      <p:sp>
        <p:nvSpPr>
          <p:cNvPr id="20" name="Rounded Rectangle 19"/>
          <p:cNvSpPr/>
          <p:nvPr/>
        </p:nvSpPr>
        <p:spPr>
          <a:xfrm>
            <a:off x="548640" y="5129784"/>
            <a:ext cx="11091672" cy="475488"/>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239512"/>
            <a:ext cx="3328416" cy="256032"/>
          </a:xfrm>
          <a:prstGeom prst="rect">
            <a:avLst/>
          </a:prstGeom>
          <a:noFill/>
        </p:spPr>
        <p:txBody>
          <a:bodyPr wrap="square"/>
          <a:lstStyle/>
          <a:p>
            <a:pPr algn="ctr">
              <a:lnSpc>
                <a:spcPts val="1062"/>
              </a:lnSpc>
              <a:defRPr sz="850" b="0">
                <a:solidFill>
                  <a:srgbClr val="1E293B"/>
                </a:solidFill>
                <a:latin typeface="Calibri"/>
              </a:defRPr>
            </a:pPr>
            <a:r>
              <a:t>Có ma sát/lực kéo</a:t>
            </a:r>
          </a:p>
        </p:txBody>
      </p:sp>
      <p:sp>
        <p:nvSpPr>
          <p:cNvPr id="22" name="TextBox 21"/>
          <p:cNvSpPr txBox="1"/>
          <p:nvPr/>
        </p:nvSpPr>
        <p:spPr>
          <a:xfrm>
            <a:off x="4187952" y="5239512"/>
            <a:ext cx="3694176" cy="256032"/>
          </a:xfrm>
          <a:prstGeom prst="rect">
            <a:avLst/>
          </a:prstGeom>
          <a:noFill/>
        </p:spPr>
        <p:txBody>
          <a:bodyPr wrap="square"/>
          <a:lstStyle/>
          <a:p>
            <a:pPr algn="ctr">
              <a:lnSpc>
                <a:spcPts val="1062"/>
              </a:lnSpc>
              <a:defRPr sz="850" b="1">
                <a:solidFill>
                  <a:srgbClr val="0F172A"/>
                </a:solidFill>
                <a:latin typeface="Calibri"/>
              </a:defRPr>
            </a:pPr>
            <a:r>
              <a:t>A = ΔWđ</a:t>
            </a:r>
          </a:p>
        </p:txBody>
      </p:sp>
      <p:sp>
        <p:nvSpPr>
          <p:cNvPr id="23" name="TextBox 22"/>
          <p:cNvSpPr txBox="1"/>
          <p:nvPr/>
        </p:nvSpPr>
        <p:spPr>
          <a:xfrm>
            <a:off x="8028431" y="5239512"/>
            <a:ext cx="3602735" cy="256032"/>
          </a:xfrm>
          <a:prstGeom prst="rect">
            <a:avLst/>
          </a:prstGeom>
          <a:noFill/>
        </p:spPr>
        <p:txBody>
          <a:bodyPr wrap="square"/>
          <a:lstStyle/>
          <a:p>
            <a:pPr algn="ctr">
              <a:lnSpc>
                <a:spcPts val="1000"/>
              </a:lnSpc>
              <a:defRPr sz="800" b="0">
                <a:solidFill>
                  <a:srgbClr val="475569"/>
                </a:solidFill>
                <a:latin typeface="Calibri"/>
              </a:defRPr>
            </a:pPr>
            <a:r>
              <a:t>Xe thắng gấp, kéo thùng nhám</a:t>
            </a:r>
          </a:p>
        </p:txBody>
      </p:sp>
      <p:sp>
        <p:nvSpPr>
          <p:cNvPr id="24" name="Rounded Rectangle 23"/>
          <p:cNvSpPr/>
          <p:nvPr/>
        </p:nvSpPr>
        <p:spPr>
          <a:xfrm>
            <a:off x="548640" y="5605272"/>
            <a:ext cx="11091672" cy="475488"/>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5715000"/>
            <a:ext cx="3328416" cy="256032"/>
          </a:xfrm>
          <a:prstGeom prst="rect">
            <a:avLst/>
          </a:prstGeom>
          <a:noFill/>
        </p:spPr>
        <p:txBody>
          <a:bodyPr wrap="square"/>
          <a:lstStyle/>
          <a:p>
            <a:pPr algn="ctr">
              <a:lnSpc>
                <a:spcPts val="1062"/>
              </a:lnSpc>
              <a:defRPr sz="850" b="0">
                <a:solidFill>
                  <a:srgbClr val="1E293B"/>
                </a:solidFill>
                <a:latin typeface="Calibri"/>
              </a:defRPr>
            </a:pPr>
            <a:r>
              <a:t>Hệ nhiều vật</a:t>
            </a:r>
          </a:p>
        </p:txBody>
      </p:sp>
      <p:sp>
        <p:nvSpPr>
          <p:cNvPr id="26" name="TextBox 25"/>
          <p:cNvSpPr txBox="1"/>
          <p:nvPr/>
        </p:nvSpPr>
        <p:spPr>
          <a:xfrm>
            <a:off x="4187952" y="5715000"/>
            <a:ext cx="3694176" cy="256032"/>
          </a:xfrm>
          <a:prstGeom prst="rect">
            <a:avLst/>
          </a:prstGeom>
          <a:noFill/>
        </p:spPr>
        <p:txBody>
          <a:bodyPr wrap="square"/>
          <a:lstStyle/>
          <a:p>
            <a:pPr algn="ctr">
              <a:lnSpc>
                <a:spcPts val="1062"/>
              </a:lnSpc>
              <a:defRPr sz="850" b="1">
                <a:solidFill>
                  <a:srgbClr val="0F172A"/>
                </a:solidFill>
                <a:latin typeface="Calibri"/>
              </a:defRPr>
            </a:pPr>
            <a:r>
              <a:t>p + W</a:t>
            </a:r>
          </a:p>
        </p:txBody>
      </p:sp>
      <p:sp>
        <p:nvSpPr>
          <p:cNvPr id="27" name="TextBox 26"/>
          <p:cNvSpPr txBox="1"/>
          <p:nvPr/>
        </p:nvSpPr>
        <p:spPr>
          <a:xfrm>
            <a:off x="8028431" y="5715000"/>
            <a:ext cx="3602735" cy="256032"/>
          </a:xfrm>
          <a:prstGeom prst="rect">
            <a:avLst/>
          </a:prstGeom>
          <a:noFill/>
        </p:spPr>
        <p:txBody>
          <a:bodyPr wrap="square"/>
          <a:lstStyle/>
          <a:p>
            <a:pPr algn="ctr">
              <a:lnSpc>
                <a:spcPts val="1000"/>
              </a:lnSpc>
              <a:defRPr sz="800" b="0">
                <a:solidFill>
                  <a:srgbClr val="475569"/>
                </a:solidFill>
                <a:latin typeface="Calibri"/>
              </a:defRPr>
            </a:pPr>
            <a:r>
              <a:t>Va chạm (bảo toàn p, W tùy loại)</a:t>
            </a:r>
          </a:p>
        </p:txBody>
      </p:sp>
      <p:sp>
        <p:nvSpPr>
          <p:cNvPr id="28" name="Rounded Rectangle 27"/>
          <p:cNvSpPr/>
          <p:nvPr/>
        </p:nvSpPr>
        <p:spPr>
          <a:xfrm>
            <a:off x="411480" y="6537960"/>
            <a:ext cx="11365992" cy="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11480" y="6263640"/>
            <a:ext cx="11365992" cy="41148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6309360"/>
            <a:ext cx="11091672" cy="320040"/>
          </a:xfrm>
          <a:prstGeom prst="rect">
            <a:avLst/>
          </a:prstGeom>
          <a:noFill/>
        </p:spPr>
        <p:txBody>
          <a:bodyPr wrap="square"/>
          <a:lstStyle/>
          <a:p>
            <a:pPr algn="ctr">
              <a:lnSpc>
                <a:spcPts val="1000"/>
              </a:lnSpc>
              <a:defRPr sz="800" b="1">
                <a:solidFill>
                  <a:srgbClr val="38BDF8"/>
                </a:solidFill>
                <a:latin typeface="Calibri"/>
              </a:defRPr>
            </a:pPr>
            <a:r>
              <a:t>A = ∫F·ds  |  P=F·v  |  Wđ=½mv²  |  Wt=mgh , ½kx²  |  W=Wđ+Wt  |  Chỉ lực thế ⇒ W=const</a:t>
            </a:r>
          </a:p>
        </p:txBody>
      </p:sp>
      <p:sp>
        <p:nvSpPr>
          <p:cNvPr id="31" name="TextBox 30"/>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12 /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3</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C3. Bài toán va chạm — Phân biệt để không mất điểm (3/3)</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11365992" cy="31089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10881360" cy="256032"/>
          </a:xfrm>
          <a:prstGeom prst="rect">
            <a:avLst/>
          </a:prstGeom>
          <a:noFill/>
        </p:spPr>
        <p:txBody>
          <a:bodyPr wrap="square"/>
          <a:lstStyle/>
          <a:p>
            <a:pPr algn="l">
              <a:lnSpc>
                <a:spcPts val="1250"/>
              </a:lnSpc>
              <a:defRPr sz="1000" b="1">
                <a:solidFill>
                  <a:srgbClr val="0F172A"/>
                </a:solidFill>
                <a:latin typeface="Calibri"/>
              </a:defRPr>
            </a:pPr>
            <a:r>
              <a:t>🎯  Va chạm: Nội lực &gt;&gt; Ngoại lực trong thời gian ngắn → coi hệ cô lập → bảo toàn p luôn đúng</a:t>
            </a:r>
          </a:p>
        </p:txBody>
      </p:sp>
      <p:sp>
        <p:nvSpPr>
          <p:cNvPr id="8" name="Rounded Rectangle 7"/>
          <p:cNvSpPr/>
          <p:nvPr/>
        </p:nvSpPr>
        <p:spPr>
          <a:xfrm>
            <a:off x="548640" y="1463040"/>
            <a:ext cx="11091672" cy="310896"/>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517904"/>
            <a:ext cx="2231136" cy="201168"/>
          </a:xfrm>
          <a:prstGeom prst="rect">
            <a:avLst/>
          </a:prstGeom>
          <a:noFill/>
        </p:spPr>
        <p:txBody>
          <a:bodyPr wrap="square"/>
          <a:lstStyle/>
          <a:p>
            <a:pPr algn="ctr">
              <a:lnSpc>
                <a:spcPts val="875"/>
              </a:lnSpc>
              <a:defRPr sz="700" b="1">
                <a:solidFill>
                  <a:srgbClr val="475569"/>
                </a:solidFill>
                <a:latin typeface="Calibri"/>
              </a:defRPr>
            </a:pPr>
            <a:r>
              <a:t>LOẠI</a:t>
            </a:r>
          </a:p>
        </p:txBody>
      </p:sp>
      <p:sp>
        <p:nvSpPr>
          <p:cNvPr id="10" name="TextBox 9"/>
          <p:cNvSpPr txBox="1"/>
          <p:nvPr/>
        </p:nvSpPr>
        <p:spPr>
          <a:xfrm>
            <a:off x="3090672" y="1517904"/>
            <a:ext cx="2322576" cy="201168"/>
          </a:xfrm>
          <a:prstGeom prst="rect">
            <a:avLst/>
          </a:prstGeom>
          <a:noFill/>
        </p:spPr>
        <p:txBody>
          <a:bodyPr wrap="square"/>
          <a:lstStyle/>
          <a:p>
            <a:pPr algn="ctr">
              <a:lnSpc>
                <a:spcPts val="875"/>
              </a:lnSpc>
              <a:defRPr sz="700" b="1">
                <a:solidFill>
                  <a:srgbClr val="475569"/>
                </a:solidFill>
                <a:latin typeface="Calibri"/>
              </a:defRPr>
            </a:pPr>
            <a:r>
              <a:t>BẢO TOÀN GÌ?</a:t>
            </a:r>
          </a:p>
        </p:txBody>
      </p:sp>
      <p:sp>
        <p:nvSpPr>
          <p:cNvPr id="11" name="TextBox 10"/>
          <p:cNvSpPr txBox="1"/>
          <p:nvPr/>
        </p:nvSpPr>
        <p:spPr>
          <a:xfrm>
            <a:off x="5559552" y="1517904"/>
            <a:ext cx="6071616" cy="201168"/>
          </a:xfrm>
          <a:prstGeom prst="rect">
            <a:avLst/>
          </a:prstGeom>
          <a:noFill/>
        </p:spPr>
        <p:txBody>
          <a:bodyPr wrap="square"/>
          <a:lstStyle/>
          <a:p>
            <a:pPr algn="ctr">
              <a:lnSpc>
                <a:spcPts val="875"/>
              </a:lnSpc>
              <a:defRPr sz="700" b="1">
                <a:solidFill>
                  <a:srgbClr val="475569"/>
                </a:solidFill>
                <a:latin typeface="Calibri"/>
              </a:defRPr>
            </a:pPr>
            <a:r>
              <a:t>CÔNG THỨC 1 CHIỀU &amp; NÓI SAO CHO NHỚ</a:t>
            </a:r>
          </a:p>
        </p:txBody>
      </p:sp>
      <p:sp>
        <p:nvSpPr>
          <p:cNvPr id="12" name="Rounded Rectangle 11"/>
          <p:cNvSpPr/>
          <p:nvPr/>
        </p:nvSpPr>
        <p:spPr>
          <a:xfrm>
            <a:off x="548640" y="1773936"/>
            <a:ext cx="11091672" cy="713232"/>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1956816"/>
            <a:ext cx="2231136" cy="347472"/>
          </a:xfrm>
          <a:prstGeom prst="rect">
            <a:avLst/>
          </a:prstGeom>
          <a:noFill/>
        </p:spPr>
        <p:txBody>
          <a:bodyPr wrap="square"/>
          <a:lstStyle/>
          <a:p>
            <a:pPr algn="ctr">
              <a:lnSpc>
                <a:spcPts val="1125"/>
              </a:lnSpc>
              <a:defRPr sz="900" b="1">
                <a:solidFill>
                  <a:srgbClr val="0F172A"/>
                </a:solidFill>
                <a:latin typeface="Calibri"/>
              </a:defRPr>
            </a:pPr>
            <a:r>
              <a:t>Đàn hồi (bi-a)</a:t>
            </a:r>
          </a:p>
        </p:txBody>
      </p:sp>
      <p:sp>
        <p:nvSpPr>
          <p:cNvPr id="14" name="TextBox 13"/>
          <p:cNvSpPr txBox="1"/>
          <p:nvPr/>
        </p:nvSpPr>
        <p:spPr>
          <a:xfrm>
            <a:off x="3090672" y="1956816"/>
            <a:ext cx="2322576" cy="347472"/>
          </a:xfrm>
          <a:prstGeom prst="rect">
            <a:avLst/>
          </a:prstGeom>
          <a:noFill/>
        </p:spPr>
        <p:txBody>
          <a:bodyPr wrap="square"/>
          <a:lstStyle/>
          <a:p>
            <a:pPr algn="ctr">
              <a:lnSpc>
                <a:spcPts val="1062"/>
              </a:lnSpc>
              <a:defRPr sz="850" b="1">
                <a:solidFill>
                  <a:srgbClr val="10B981"/>
                </a:solidFill>
                <a:latin typeface="Calibri"/>
              </a:defRPr>
            </a:pPr>
            <a:r>
              <a:t>p và Wđ đều BT</a:t>
            </a:r>
          </a:p>
        </p:txBody>
      </p:sp>
      <p:sp>
        <p:nvSpPr>
          <p:cNvPr id="15" name="TextBox 14"/>
          <p:cNvSpPr txBox="1"/>
          <p:nvPr/>
        </p:nvSpPr>
        <p:spPr>
          <a:xfrm>
            <a:off x="5559552" y="1847088"/>
            <a:ext cx="6071616" cy="566928"/>
          </a:xfrm>
          <a:prstGeom prst="rect">
            <a:avLst/>
          </a:prstGeom>
          <a:noFill/>
        </p:spPr>
        <p:txBody>
          <a:bodyPr wrap="square">
            <a:spAutoFit/>
          </a:bodyPr>
          <a:lstStyle/>
          <a:p>
            <a:pPr>
              <a:lnSpc>
                <a:spcPts val="900"/>
              </a:lnSpc>
              <a:defRPr sz="750">
                <a:solidFill>
                  <a:srgbClr val="475569"/>
                </a:solidFill>
                <a:latin typeface="Calibri"/>
              </a:defRPr>
            </a:pPr>
            <a:r>
              <a:t>m₁v₁+m₂v₂=m₁v₁'+m₂v₂'  &amp;  ½m₁v₁²+... = ½m₁v₁'²+...</a:t>
            </a:r>
            <a:br/>
            <a:r>
              <a:t>Nếu m₁=m₂ → đổi chỗ vận tốc. “Nảy tưng tưng”</a:t>
            </a:r>
          </a:p>
        </p:txBody>
      </p:sp>
      <p:sp>
        <p:nvSpPr>
          <p:cNvPr id="16" name="Rounded Rectangle 15"/>
          <p:cNvSpPr/>
          <p:nvPr/>
        </p:nvSpPr>
        <p:spPr>
          <a:xfrm>
            <a:off x="548640" y="2487168"/>
            <a:ext cx="11091672" cy="713232"/>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2670048"/>
            <a:ext cx="2231136" cy="347472"/>
          </a:xfrm>
          <a:prstGeom prst="rect">
            <a:avLst/>
          </a:prstGeom>
          <a:noFill/>
        </p:spPr>
        <p:txBody>
          <a:bodyPr wrap="square"/>
          <a:lstStyle/>
          <a:p>
            <a:pPr algn="ctr">
              <a:lnSpc>
                <a:spcPts val="1125"/>
              </a:lnSpc>
              <a:defRPr sz="900" b="1">
                <a:solidFill>
                  <a:srgbClr val="0F172A"/>
                </a:solidFill>
                <a:latin typeface="Calibri"/>
              </a:defRPr>
            </a:pPr>
            <a:r>
              <a:t>Mềm (đạn ghim gỗ)</a:t>
            </a:r>
          </a:p>
        </p:txBody>
      </p:sp>
      <p:sp>
        <p:nvSpPr>
          <p:cNvPr id="18" name="TextBox 17"/>
          <p:cNvSpPr txBox="1"/>
          <p:nvPr/>
        </p:nvSpPr>
        <p:spPr>
          <a:xfrm>
            <a:off x="3090672" y="2670048"/>
            <a:ext cx="2322576" cy="347472"/>
          </a:xfrm>
          <a:prstGeom prst="rect">
            <a:avLst/>
          </a:prstGeom>
          <a:noFill/>
        </p:spPr>
        <p:txBody>
          <a:bodyPr wrap="square"/>
          <a:lstStyle/>
          <a:p>
            <a:pPr algn="ctr">
              <a:lnSpc>
                <a:spcPts val="1062"/>
              </a:lnSpc>
              <a:defRPr sz="850" b="1">
                <a:solidFill>
                  <a:srgbClr val="F59E0B"/>
                </a:solidFill>
                <a:latin typeface="Calibri"/>
              </a:defRPr>
            </a:pPr>
            <a:r>
              <a:t>Chỉ p BT</a:t>
            </a:r>
          </a:p>
        </p:txBody>
      </p:sp>
      <p:sp>
        <p:nvSpPr>
          <p:cNvPr id="19" name="TextBox 18"/>
          <p:cNvSpPr txBox="1"/>
          <p:nvPr/>
        </p:nvSpPr>
        <p:spPr>
          <a:xfrm>
            <a:off x="5559552" y="2560320"/>
            <a:ext cx="6071616" cy="566928"/>
          </a:xfrm>
          <a:prstGeom prst="rect">
            <a:avLst/>
          </a:prstGeom>
          <a:noFill/>
        </p:spPr>
        <p:txBody>
          <a:bodyPr wrap="square">
            <a:spAutoFit/>
          </a:bodyPr>
          <a:lstStyle/>
          <a:p>
            <a:pPr>
              <a:lnSpc>
                <a:spcPts val="900"/>
              </a:lnSpc>
              <a:defRPr sz="750">
                <a:solidFill>
                  <a:srgbClr val="475569"/>
                </a:solidFill>
                <a:latin typeface="Calibri"/>
              </a:defRPr>
            </a:pPr>
            <a:r>
              <a:t>m₁v₁+m₂v₂=(m₁+m₂)v' (dính, cùng v'). Wđ giảm → nhiệt. “Dính chùm”</a:t>
            </a:r>
          </a:p>
        </p:txBody>
      </p:sp>
      <p:sp>
        <p:nvSpPr>
          <p:cNvPr id="20" name="Rounded Rectangle 19"/>
          <p:cNvSpPr/>
          <p:nvPr/>
        </p:nvSpPr>
        <p:spPr>
          <a:xfrm>
            <a:off x="548640" y="3200400"/>
            <a:ext cx="11091672" cy="713232"/>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3383280"/>
            <a:ext cx="2231136" cy="347472"/>
          </a:xfrm>
          <a:prstGeom prst="rect">
            <a:avLst/>
          </a:prstGeom>
          <a:noFill/>
        </p:spPr>
        <p:txBody>
          <a:bodyPr wrap="square"/>
          <a:lstStyle/>
          <a:p>
            <a:pPr algn="ctr">
              <a:lnSpc>
                <a:spcPts val="1125"/>
              </a:lnSpc>
              <a:defRPr sz="900" b="1">
                <a:solidFill>
                  <a:srgbClr val="0F172A"/>
                </a:solidFill>
                <a:latin typeface="Calibri"/>
              </a:defRPr>
            </a:pPr>
            <a:r>
              <a:t>Va chạm xiên (2D)</a:t>
            </a:r>
          </a:p>
        </p:txBody>
      </p:sp>
      <p:sp>
        <p:nvSpPr>
          <p:cNvPr id="22" name="TextBox 21"/>
          <p:cNvSpPr txBox="1"/>
          <p:nvPr/>
        </p:nvSpPr>
        <p:spPr>
          <a:xfrm>
            <a:off x="3090672" y="3383280"/>
            <a:ext cx="2322576" cy="347472"/>
          </a:xfrm>
          <a:prstGeom prst="rect">
            <a:avLst/>
          </a:prstGeom>
          <a:noFill/>
        </p:spPr>
        <p:txBody>
          <a:bodyPr wrap="square"/>
          <a:lstStyle/>
          <a:p>
            <a:pPr algn="ctr">
              <a:lnSpc>
                <a:spcPts val="1062"/>
              </a:lnSpc>
              <a:defRPr sz="850" b="1">
                <a:solidFill>
                  <a:srgbClr val="10B981"/>
                </a:solidFill>
                <a:latin typeface="Calibri"/>
              </a:defRPr>
            </a:pPr>
            <a:r>
              <a:t>p theo x,y</a:t>
            </a:r>
          </a:p>
        </p:txBody>
      </p:sp>
      <p:sp>
        <p:nvSpPr>
          <p:cNvPr id="23" name="TextBox 22"/>
          <p:cNvSpPr txBox="1"/>
          <p:nvPr/>
        </p:nvSpPr>
        <p:spPr>
          <a:xfrm>
            <a:off x="5559552" y="3273552"/>
            <a:ext cx="6071616" cy="566928"/>
          </a:xfrm>
          <a:prstGeom prst="rect">
            <a:avLst/>
          </a:prstGeom>
          <a:noFill/>
        </p:spPr>
        <p:txBody>
          <a:bodyPr wrap="square">
            <a:spAutoFit/>
          </a:bodyPr>
          <a:lstStyle/>
          <a:p>
            <a:pPr>
              <a:lnSpc>
                <a:spcPts val="900"/>
              </a:lnSpc>
              <a:defRPr sz="750">
                <a:solidFill>
                  <a:srgbClr val="475569"/>
                </a:solidFill>
                <a:latin typeface="Calibri"/>
              </a:defRPr>
            </a:pPr>
            <a:r>
              <a:t>Viết 2 PT: p_x=const, p_y=const. Động lượng là vectơ!</a:t>
            </a:r>
          </a:p>
        </p:txBody>
      </p:sp>
      <p:sp>
        <p:nvSpPr>
          <p:cNvPr id="24" name="Rounded Rectangle 23"/>
          <p:cNvSpPr/>
          <p:nvPr/>
        </p:nvSpPr>
        <p:spPr>
          <a:xfrm>
            <a:off x="411480" y="4251960"/>
            <a:ext cx="713232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389120"/>
            <a:ext cx="6675120" cy="256032"/>
          </a:xfrm>
          <a:prstGeom prst="rect">
            <a:avLst/>
          </a:prstGeom>
          <a:noFill/>
        </p:spPr>
        <p:txBody>
          <a:bodyPr wrap="square"/>
          <a:lstStyle/>
          <a:p>
            <a:pPr algn="l">
              <a:lnSpc>
                <a:spcPts val="1250"/>
              </a:lnSpc>
              <a:defRPr sz="1000" b="1">
                <a:solidFill>
                  <a:srgbClr val="0F172A"/>
                </a:solidFill>
                <a:latin typeface="Calibri"/>
              </a:defRPr>
            </a:pPr>
            <a:r>
              <a:t>📝  Ví dụ nói mẫu:</a:t>
            </a:r>
          </a:p>
        </p:txBody>
      </p:sp>
      <p:sp>
        <p:nvSpPr>
          <p:cNvPr id="26" name="TextBox 25"/>
          <p:cNvSpPr txBox="1"/>
          <p:nvPr/>
        </p:nvSpPr>
        <p:spPr>
          <a:xfrm>
            <a:off x="640080" y="4663440"/>
            <a:ext cx="6675120" cy="1508760"/>
          </a:xfrm>
          <a:prstGeom prst="rect">
            <a:avLst/>
          </a:prstGeom>
          <a:noFill/>
        </p:spPr>
        <p:txBody>
          <a:bodyPr wrap="square"/>
          <a:lstStyle/>
          <a:p>
            <a:pPr algn="l">
              <a:lnSpc>
                <a:spcPts val="1062"/>
              </a:lnSpc>
              <a:defRPr sz="850" b="0">
                <a:solidFill>
                  <a:srgbClr val="475569"/>
                </a:solidFill>
                <a:latin typeface="Calibri"/>
              </a:defRPr>
            </a:pPr>
            <a:r>
              <a:t>Đạn 10g 300 m/s ghim vào gỗ 2kg đứng yên.</a:t>
            </a:r>
            <a:br/>
            <a:r>
              <a:t>• p trước =0.01×300=3 → p sau =(2.01)v' → v'≈1.49 m/s</a:t>
            </a:r>
            <a:br/>
            <a:r>
              <a:t>• Wđ trước =450 J, sau =2.2 J → mất 99.5% thành nhiệt/biến dạng → va chạm mềm “nóng”.</a:t>
            </a:r>
            <a:br/>
            <a:r>
              <a:t>→ Nhớ: mềm thì chỉ dùng p, đừng dùng W!</a:t>
            </a:r>
          </a:p>
        </p:txBody>
      </p:sp>
      <p:sp>
        <p:nvSpPr>
          <p:cNvPr id="27" name="Rounded Rectangle 26"/>
          <p:cNvSpPr/>
          <p:nvPr/>
        </p:nvSpPr>
        <p:spPr>
          <a:xfrm>
            <a:off x="7818120" y="4251960"/>
            <a:ext cx="3886200" cy="2103120"/>
          </a:xfrm>
          <a:prstGeom prst="roundRect">
            <a:avLst/>
          </a:prstGeom>
          <a:solidFill>
            <a:srgbClr val="FFF2F2"/>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0" y="4389120"/>
            <a:ext cx="3429000" cy="256032"/>
          </a:xfrm>
          <a:prstGeom prst="rect">
            <a:avLst/>
          </a:prstGeom>
          <a:noFill/>
        </p:spPr>
        <p:txBody>
          <a:bodyPr wrap="square"/>
          <a:lstStyle/>
          <a:p>
            <a:pPr algn="l">
              <a:lnSpc>
                <a:spcPts val="1250"/>
              </a:lnSpc>
              <a:defRPr sz="1000" b="1">
                <a:solidFill>
                  <a:srgbClr val="B91C1C"/>
                </a:solidFill>
                <a:latin typeface="Calibri"/>
              </a:defRPr>
            </a:pPr>
            <a:r>
              <a:t>⚠️  Bẫy lớn nhất C3</a:t>
            </a:r>
          </a:p>
        </p:txBody>
      </p:sp>
      <p:sp>
        <p:nvSpPr>
          <p:cNvPr id="29" name="TextBox 28"/>
          <p:cNvSpPr txBox="1"/>
          <p:nvPr/>
        </p:nvSpPr>
        <p:spPr>
          <a:xfrm>
            <a:off x="8046720" y="4663440"/>
            <a:ext cx="3429000" cy="1508760"/>
          </a:xfrm>
          <a:prstGeom prst="rect">
            <a:avLst/>
          </a:prstGeom>
          <a:noFill/>
        </p:spPr>
        <p:txBody>
          <a:bodyPr wrap="square"/>
          <a:lstStyle/>
          <a:p>
            <a:pPr algn="l">
              <a:lnSpc>
                <a:spcPts val="1062"/>
              </a:lnSpc>
              <a:defRPr sz="850" b="0">
                <a:solidFill>
                  <a:srgbClr val="B91C1C"/>
                </a:solidFill>
                <a:latin typeface="Calibri"/>
              </a:defRPr>
            </a:pPr>
            <a:r>
              <a:t>• Dùng bảo toàn cơ năng cho va chạm mềm → SAI. Chỉ đàn hồi mới BT cơ năng.</a:t>
            </a:r>
            <a:br/>
            <a:r>
              <a:t>• Đề ghi “dính vào nhau” = gợi ý chỉ dùng p.</a:t>
            </a:r>
            <a:br/>
            <a:r>
              <a:t>• Có ma sát → W giảm đúng bằng A_ms. “Mặt nhám” là bẫy.</a:t>
            </a:r>
          </a:p>
        </p:txBody>
      </p:sp>
      <p:sp>
        <p:nvSpPr>
          <p:cNvPr id="30" name="TextBox 29"/>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13 /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4</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C4. Cơ học vật rắn — M = I·β (1/2)</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6766560" cy="5440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6309360" cy="256032"/>
          </a:xfrm>
          <a:prstGeom prst="rect">
            <a:avLst/>
          </a:prstGeom>
          <a:noFill/>
        </p:spPr>
        <p:txBody>
          <a:bodyPr wrap="square"/>
          <a:lstStyle/>
          <a:p>
            <a:pPr algn="l">
              <a:lnSpc>
                <a:spcPts val="1375"/>
              </a:lnSpc>
              <a:defRPr sz="1100" b="1">
                <a:solidFill>
                  <a:srgbClr val="0F172A"/>
                </a:solidFill>
                <a:latin typeface="Calibri"/>
              </a:defRPr>
            </a:pPr>
            <a:r>
              <a:t>🌀  Vật rắn = Tịnh tiến (G) + Quay (quanh G)</a:t>
            </a:r>
          </a:p>
        </p:txBody>
      </p:sp>
      <p:sp>
        <p:nvSpPr>
          <p:cNvPr id="8" name="TextBox 7"/>
          <p:cNvSpPr txBox="1"/>
          <p:nvPr/>
        </p:nvSpPr>
        <p:spPr>
          <a:xfrm>
            <a:off x="640080" y="1463040"/>
            <a:ext cx="6309360" cy="1051560"/>
          </a:xfrm>
          <a:prstGeom prst="rect">
            <a:avLst/>
          </a:prstGeom>
          <a:noFill/>
        </p:spPr>
        <p:txBody>
          <a:bodyPr wrap="square"/>
          <a:lstStyle/>
          <a:p>
            <a:pPr algn="l">
              <a:lnSpc>
                <a:spcPts val="1125"/>
              </a:lnSpc>
              <a:defRPr sz="900" b="0">
                <a:solidFill>
                  <a:srgbClr val="475569"/>
                </a:solidFill>
                <a:latin typeface="Calibri"/>
              </a:defRPr>
            </a:pPr>
            <a:r>
              <a:t>• Tịnh tiến: mọi điểm cùng v,a → M·a_G = ΣF_ngoài</a:t>
            </a:r>
            <a:br/>
            <a:r>
              <a:t>• Quay quanh trục cố định: mọi điểm quay trên đường tròn, cùng φ, ω, β</a:t>
            </a:r>
          </a:p>
        </p:txBody>
      </p:sp>
      <p:sp>
        <p:nvSpPr>
          <p:cNvPr id="9" name="TextBox 8"/>
          <p:cNvSpPr txBox="1"/>
          <p:nvPr/>
        </p:nvSpPr>
        <p:spPr>
          <a:xfrm>
            <a:off x="640080" y="2606040"/>
            <a:ext cx="6309360" cy="256032"/>
          </a:xfrm>
          <a:prstGeom prst="rect">
            <a:avLst/>
          </a:prstGeom>
          <a:noFill/>
        </p:spPr>
        <p:txBody>
          <a:bodyPr wrap="square"/>
          <a:lstStyle/>
          <a:p>
            <a:pPr algn="l">
              <a:lnSpc>
                <a:spcPts val="1375"/>
              </a:lnSpc>
              <a:defRPr sz="1100" b="1">
                <a:solidFill>
                  <a:srgbClr val="0F172A"/>
                </a:solidFill>
                <a:latin typeface="Calibri"/>
              </a:defRPr>
            </a:pPr>
            <a:r>
              <a:t>⚙️  Phương trình quay: M = I·β — “F=ma phiên bản quay”</a:t>
            </a:r>
          </a:p>
        </p:txBody>
      </p:sp>
      <p:sp>
        <p:nvSpPr>
          <p:cNvPr id="10" name="TextBox 9"/>
          <p:cNvSpPr txBox="1"/>
          <p:nvPr/>
        </p:nvSpPr>
        <p:spPr>
          <a:xfrm>
            <a:off x="640080" y="2926080"/>
            <a:ext cx="6309360" cy="1783080"/>
          </a:xfrm>
          <a:prstGeom prst="rect">
            <a:avLst/>
          </a:prstGeom>
          <a:noFill/>
        </p:spPr>
        <p:txBody>
          <a:bodyPr wrap="square">
            <a:spAutoFit/>
          </a:bodyPr>
          <a:lstStyle/>
          <a:p>
            <a:pPr>
              <a:spcAft>
                <a:spcPts val="400"/>
              </a:spcAft>
            </a:pPr>
            <a:r>
              <a:rPr sz="850" b="1">
                <a:solidFill>
                  <a:srgbClr val="1E293B"/>
                </a:solidFill>
              </a:rPr>
              <a:t>• F → M = r×F (N·m): </a:t>
            </a:r>
            <a:r>
              <a:rPr sz="800">
                <a:solidFill>
                  <a:srgbClr val="475569"/>
                </a:solidFill>
              </a:rPr>
              <a:t>mômen lực — khả năng gây quay</a:t>
            </a:r>
          </a:p>
          <a:p>
            <a:pPr>
              <a:spcAft>
                <a:spcPts val="400"/>
              </a:spcAft>
            </a:pPr>
            <a:r>
              <a:rPr sz="850" b="1">
                <a:solidFill>
                  <a:srgbClr val="1E293B"/>
                </a:solidFill>
              </a:rPr>
              <a:t>• m → I = Σ m_i r_i² (kg·m²): </a:t>
            </a:r>
            <a:r>
              <a:rPr sz="800">
                <a:solidFill>
                  <a:srgbClr val="475569"/>
                </a:solidFill>
              </a:rPr>
              <a:t>mômen quán tính — “lì quay”, xa trục → I lớn</a:t>
            </a:r>
          </a:p>
          <a:p>
            <a:pPr>
              <a:spcAft>
                <a:spcPts val="400"/>
              </a:spcAft>
            </a:pPr>
            <a:r>
              <a:rPr sz="850" b="1">
                <a:solidFill>
                  <a:srgbClr val="1E293B"/>
                </a:solidFill>
              </a:rPr>
              <a:t>• a → β = dω/dt (rad/s²): </a:t>
            </a:r>
            <a:r>
              <a:rPr sz="800">
                <a:solidFill>
                  <a:srgbClr val="475569"/>
                </a:solidFill>
              </a:rPr>
              <a:t>gia tốc góc</a:t>
            </a:r>
          </a:p>
          <a:p>
            <a:pPr>
              <a:spcAft>
                <a:spcPts val="400"/>
              </a:spcAft>
            </a:pPr>
            <a:r>
              <a:rPr sz="850" b="1">
                <a:solidFill>
                  <a:srgbClr val="1E293B"/>
                </a:solidFill>
              </a:rPr>
              <a:t>• → M = I·β,  L = I·ω,  W_quay = ½ I ω² </a:t>
            </a:r>
            <a:r>
              <a:rPr sz="800">
                <a:solidFill>
                  <a:srgbClr val="475569"/>
                </a:solidFill>
              </a:rPr>
              <a:t>Hoàn toàn tương tự F=ma, p=mv, ½mv²</a:t>
            </a:r>
          </a:p>
        </p:txBody>
      </p:sp>
      <p:sp>
        <p:nvSpPr>
          <p:cNvPr id="11" name="Rounded Rectangle 10"/>
          <p:cNvSpPr/>
          <p:nvPr/>
        </p:nvSpPr>
        <p:spPr>
          <a:xfrm>
            <a:off x="640080" y="4800600"/>
            <a:ext cx="6309360" cy="1417320"/>
          </a:xfrm>
          <a:prstGeom prst="roundRect">
            <a:avLst/>
          </a:prstGeom>
          <a:solidFill>
            <a:srgbClr val="F0FDFA"/>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4892040"/>
            <a:ext cx="6080760" cy="1234440"/>
          </a:xfrm>
          <a:prstGeom prst="rect">
            <a:avLst/>
          </a:prstGeom>
          <a:noFill/>
        </p:spPr>
        <p:txBody>
          <a:bodyPr wrap="square"/>
          <a:lstStyle/>
          <a:p>
            <a:pPr algn="l">
              <a:lnSpc>
                <a:spcPts val="1062"/>
              </a:lnSpc>
              <a:defRPr sz="850" b="0">
                <a:solidFill>
                  <a:srgbClr val="0F766E"/>
                </a:solidFill>
                <a:latin typeface="Calibri"/>
              </a:defRPr>
            </a:pPr>
            <a:r>
              <a:t>💡 Mẹo nói: Đặt cạnh nhau F↔M, m↔I, a↔β, p↔L, ½mv²↔½Iω².</a:t>
            </a:r>
            <a:br/>
            <a:r>
              <a:t>Học 1 bộ tịnh tiến là nhớ luôn bộ quay. Dùng bảng so sánh để khán giả “à” lên.</a:t>
            </a:r>
          </a:p>
        </p:txBody>
      </p:sp>
      <p:pic>
        <p:nvPicPr>
          <p:cNvPr id="13" name="Picture 12" descr="c4_vatran.jpg"/>
          <p:cNvPicPr>
            <a:picLocks noChangeAspect="1"/>
          </p:cNvPicPr>
          <p:nvPr/>
        </p:nvPicPr>
        <p:blipFill>
          <a:blip r:embed="rId2"/>
          <a:stretch>
            <a:fillRect/>
          </a:stretch>
        </p:blipFill>
        <p:spPr>
          <a:xfrm>
            <a:off x="7452360" y="960120"/>
            <a:ext cx="4251960" cy="2331720"/>
          </a:xfrm>
          <a:prstGeom prst="rect">
            <a:avLst/>
          </a:prstGeom>
        </p:spPr>
      </p:pic>
      <p:sp>
        <p:nvSpPr>
          <p:cNvPr id="14" name="TextBox 13"/>
          <p:cNvSpPr txBox="1"/>
          <p:nvPr/>
        </p:nvSpPr>
        <p:spPr>
          <a:xfrm>
            <a:off x="7452360" y="3337560"/>
            <a:ext cx="4251960" cy="256032"/>
          </a:xfrm>
          <a:prstGeom prst="rect">
            <a:avLst/>
          </a:prstGeom>
          <a:noFill/>
        </p:spPr>
        <p:txBody>
          <a:bodyPr wrap="square"/>
          <a:lstStyle/>
          <a:p>
            <a:pPr algn="ctr">
              <a:lnSpc>
                <a:spcPts val="875"/>
              </a:lnSpc>
              <a:defRPr sz="700" b="0">
                <a:solidFill>
                  <a:srgbClr val="94A3B8"/>
                </a:solidFill>
                <a:latin typeface="Calibri"/>
              </a:defRPr>
            </a:pPr>
            <a:r>
              <a:t>Hình 5 — I của thanh/đĩa/vành/cầu</a:t>
            </a:r>
          </a:p>
        </p:txBody>
      </p:sp>
      <p:sp>
        <p:nvSpPr>
          <p:cNvPr id="15" name="Rounded Rectangle 14"/>
          <p:cNvSpPr/>
          <p:nvPr/>
        </p:nvSpPr>
        <p:spPr>
          <a:xfrm>
            <a:off x="7452360" y="3703320"/>
            <a:ext cx="4251960" cy="11430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38BDF8"/>
                </a:solidFill>
              </a:rPr>
              <a:t>M = I·β  |  I = Σ m_i r_i²  |  I = I_G + m d²</a:t>
            </a:r>
          </a:p>
          <a:p>
            <a:pPr algn="ctr"/>
            <a:r>
              <a:rPr sz="750">
                <a:solidFill>
                  <a:srgbClr val="FDE68A"/>
                </a:solidFill>
              </a:rPr>
              <a:t>L = I·ω  |  W_quay = ½ I ω²  |  v_G = ω·R (lăn không trượt)</a:t>
            </a:r>
          </a:p>
        </p:txBody>
      </p:sp>
      <p:sp>
        <p:nvSpPr>
          <p:cNvPr id="16" name="Rounded Rectangle 15"/>
          <p:cNvSpPr/>
          <p:nvPr/>
        </p:nvSpPr>
        <p:spPr>
          <a:xfrm>
            <a:off x="7452360" y="4983480"/>
            <a:ext cx="4251960" cy="132588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5074920"/>
            <a:ext cx="3977639" cy="1143000"/>
          </a:xfrm>
          <a:prstGeom prst="rect">
            <a:avLst/>
          </a:prstGeom>
          <a:noFill/>
        </p:spPr>
        <p:txBody>
          <a:bodyPr wrap="square"/>
          <a:lstStyle/>
          <a:p>
            <a:pPr algn="l">
              <a:lnSpc>
                <a:spcPts val="875"/>
              </a:lnSpc>
              <a:defRPr sz="700" b="0">
                <a:solidFill>
                  <a:srgbClr val="475569"/>
                </a:solidFill>
                <a:latin typeface="Calibri"/>
              </a:defRPr>
            </a:pPr>
            <a:r>
              <a:t>📌 Chú thích: I (kg·m²), M (N·m), ω (rad/s), β (rad/s²), d (m) khoảng cách dời trục (Steiner)</a:t>
            </a:r>
          </a:p>
        </p:txBody>
      </p:sp>
      <p:sp>
        <p:nvSpPr>
          <p:cNvPr id="18" name="TextBox 17"/>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14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4</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C4. Mômen quán tính &amp; Steiner — Nhớ 4 hình là đủ (2/2)</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11365992" cy="31089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10881360" cy="256032"/>
          </a:xfrm>
          <a:prstGeom prst="rect">
            <a:avLst/>
          </a:prstGeom>
          <a:noFill/>
        </p:spPr>
        <p:txBody>
          <a:bodyPr wrap="square"/>
          <a:lstStyle/>
          <a:p>
            <a:pPr algn="l">
              <a:lnSpc>
                <a:spcPts val="1375"/>
              </a:lnSpc>
              <a:defRPr sz="1100" b="1">
                <a:solidFill>
                  <a:srgbClr val="0F172A"/>
                </a:solidFill>
                <a:latin typeface="Calibri"/>
              </a:defRPr>
            </a:pPr>
            <a:r>
              <a:t>📊  I_G qua khối tâm (trục vuông góc) — Chỉ cần nhớ 4 cái</a:t>
            </a:r>
          </a:p>
        </p:txBody>
      </p:sp>
      <p:sp>
        <p:nvSpPr>
          <p:cNvPr id="8" name="Rounded Rectangle 7"/>
          <p:cNvSpPr/>
          <p:nvPr/>
        </p:nvSpPr>
        <p:spPr>
          <a:xfrm>
            <a:off x="548640" y="1463040"/>
            <a:ext cx="11091672" cy="310896"/>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517904"/>
            <a:ext cx="2779776" cy="201168"/>
          </a:xfrm>
          <a:prstGeom prst="rect">
            <a:avLst/>
          </a:prstGeom>
          <a:noFill/>
        </p:spPr>
        <p:txBody>
          <a:bodyPr wrap="square"/>
          <a:lstStyle/>
          <a:p>
            <a:pPr algn="ctr">
              <a:lnSpc>
                <a:spcPts val="875"/>
              </a:lnSpc>
              <a:defRPr sz="700" b="1">
                <a:solidFill>
                  <a:srgbClr val="475569"/>
                </a:solidFill>
                <a:latin typeface="Calibri"/>
              </a:defRPr>
            </a:pPr>
            <a:r>
              <a:t>VẬT</a:t>
            </a:r>
          </a:p>
        </p:txBody>
      </p:sp>
      <p:sp>
        <p:nvSpPr>
          <p:cNvPr id="10" name="TextBox 9"/>
          <p:cNvSpPr txBox="1"/>
          <p:nvPr/>
        </p:nvSpPr>
        <p:spPr>
          <a:xfrm>
            <a:off x="3639312" y="1517904"/>
            <a:ext cx="2414016" cy="201168"/>
          </a:xfrm>
          <a:prstGeom prst="rect">
            <a:avLst/>
          </a:prstGeom>
          <a:noFill/>
        </p:spPr>
        <p:txBody>
          <a:bodyPr wrap="square"/>
          <a:lstStyle/>
          <a:p>
            <a:pPr algn="ctr">
              <a:lnSpc>
                <a:spcPts val="875"/>
              </a:lnSpc>
              <a:defRPr sz="700" b="1">
                <a:solidFill>
                  <a:srgbClr val="475569"/>
                </a:solidFill>
                <a:latin typeface="Calibri"/>
              </a:defRPr>
            </a:pPr>
            <a:r>
              <a:t>I_G</a:t>
            </a:r>
          </a:p>
        </p:txBody>
      </p:sp>
      <p:sp>
        <p:nvSpPr>
          <p:cNvPr id="11" name="TextBox 10"/>
          <p:cNvSpPr txBox="1"/>
          <p:nvPr/>
        </p:nvSpPr>
        <p:spPr>
          <a:xfrm>
            <a:off x="6199632" y="1517904"/>
            <a:ext cx="5431536" cy="201168"/>
          </a:xfrm>
          <a:prstGeom prst="rect">
            <a:avLst/>
          </a:prstGeom>
          <a:noFill/>
        </p:spPr>
        <p:txBody>
          <a:bodyPr wrap="square"/>
          <a:lstStyle/>
          <a:p>
            <a:pPr algn="ctr">
              <a:lnSpc>
                <a:spcPts val="875"/>
              </a:lnSpc>
              <a:defRPr sz="700" b="1">
                <a:solidFill>
                  <a:srgbClr val="475569"/>
                </a:solidFill>
                <a:latin typeface="Calibri"/>
              </a:defRPr>
            </a:pPr>
            <a:r>
              <a:t>QUA ĐẦU / SO SÁNH &amp; MẸO NHỚ</a:t>
            </a:r>
          </a:p>
        </p:txBody>
      </p:sp>
      <p:sp>
        <p:nvSpPr>
          <p:cNvPr id="12" name="Rounded Rectangle 11"/>
          <p:cNvSpPr/>
          <p:nvPr/>
        </p:nvSpPr>
        <p:spPr>
          <a:xfrm>
            <a:off x="548640" y="1773936"/>
            <a:ext cx="11091672" cy="566928"/>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1911096"/>
            <a:ext cx="2779776" cy="292608"/>
          </a:xfrm>
          <a:prstGeom prst="rect">
            <a:avLst/>
          </a:prstGeom>
          <a:noFill/>
        </p:spPr>
        <p:txBody>
          <a:bodyPr wrap="square"/>
          <a:lstStyle/>
          <a:p>
            <a:pPr algn="ctr">
              <a:lnSpc>
                <a:spcPts val="1125"/>
              </a:lnSpc>
              <a:defRPr sz="900" b="1">
                <a:solidFill>
                  <a:srgbClr val="0F172A"/>
                </a:solidFill>
                <a:latin typeface="Calibri"/>
              </a:defRPr>
            </a:pPr>
            <a:r>
              <a:t>Thanh mảnh l</a:t>
            </a:r>
          </a:p>
        </p:txBody>
      </p:sp>
      <p:sp>
        <p:nvSpPr>
          <p:cNvPr id="14" name="TextBox 13"/>
          <p:cNvSpPr txBox="1"/>
          <p:nvPr/>
        </p:nvSpPr>
        <p:spPr>
          <a:xfrm>
            <a:off x="3639312" y="1911096"/>
            <a:ext cx="2414016" cy="292608"/>
          </a:xfrm>
          <a:prstGeom prst="rect">
            <a:avLst/>
          </a:prstGeom>
          <a:noFill/>
        </p:spPr>
        <p:txBody>
          <a:bodyPr wrap="square"/>
          <a:lstStyle/>
          <a:p>
            <a:pPr algn="ctr">
              <a:lnSpc>
                <a:spcPts val="1125"/>
              </a:lnSpc>
              <a:defRPr sz="900" b="1">
                <a:solidFill>
                  <a:srgbClr val="047857"/>
                </a:solidFill>
                <a:latin typeface="Calibri"/>
              </a:defRPr>
            </a:pPr>
            <a:r>
              <a:t>1/12 m·l²</a:t>
            </a:r>
          </a:p>
        </p:txBody>
      </p:sp>
      <p:sp>
        <p:nvSpPr>
          <p:cNvPr id="15" name="TextBox 14"/>
          <p:cNvSpPr txBox="1"/>
          <p:nvPr/>
        </p:nvSpPr>
        <p:spPr>
          <a:xfrm>
            <a:off x="6199632" y="1847088"/>
            <a:ext cx="5431536" cy="420624"/>
          </a:xfrm>
          <a:prstGeom prst="rect">
            <a:avLst/>
          </a:prstGeom>
          <a:noFill/>
        </p:spPr>
        <p:txBody>
          <a:bodyPr wrap="square"/>
          <a:lstStyle/>
          <a:p>
            <a:pPr algn="l">
              <a:lnSpc>
                <a:spcPts val="1000"/>
              </a:lnSpc>
              <a:defRPr sz="800" b="0">
                <a:solidFill>
                  <a:srgbClr val="475569"/>
                </a:solidFill>
                <a:latin typeface="Calibri"/>
              </a:defRPr>
            </a:pPr>
            <a:r>
              <a:t>Qua đầu: 1/3 m·l² (=4×). Xa hơn → I lớn. “Cầm búa xa cán nặng hơn”</a:t>
            </a:r>
          </a:p>
        </p:txBody>
      </p:sp>
      <p:sp>
        <p:nvSpPr>
          <p:cNvPr id="16" name="Rounded Rectangle 15"/>
          <p:cNvSpPr/>
          <p:nvPr/>
        </p:nvSpPr>
        <p:spPr>
          <a:xfrm>
            <a:off x="548640" y="2340864"/>
            <a:ext cx="11091672" cy="566928"/>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2478024"/>
            <a:ext cx="2779776" cy="292608"/>
          </a:xfrm>
          <a:prstGeom prst="rect">
            <a:avLst/>
          </a:prstGeom>
          <a:noFill/>
        </p:spPr>
        <p:txBody>
          <a:bodyPr wrap="square"/>
          <a:lstStyle/>
          <a:p>
            <a:pPr algn="ctr">
              <a:lnSpc>
                <a:spcPts val="1125"/>
              </a:lnSpc>
              <a:defRPr sz="900" b="1">
                <a:solidFill>
                  <a:srgbClr val="0F172A"/>
                </a:solidFill>
                <a:latin typeface="Calibri"/>
              </a:defRPr>
            </a:pPr>
            <a:r>
              <a:t>Đĩa/trụ đặc R</a:t>
            </a:r>
          </a:p>
        </p:txBody>
      </p:sp>
      <p:sp>
        <p:nvSpPr>
          <p:cNvPr id="18" name="TextBox 17"/>
          <p:cNvSpPr txBox="1"/>
          <p:nvPr/>
        </p:nvSpPr>
        <p:spPr>
          <a:xfrm>
            <a:off x="3639312" y="2478024"/>
            <a:ext cx="2414016" cy="292608"/>
          </a:xfrm>
          <a:prstGeom prst="rect">
            <a:avLst/>
          </a:prstGeom>
          <a:noFill/>
        </p:spPr>
        <p:txBody>
          <a:bodyPr wrap="square"/>
          <a:lstStyle/>
          <a:p>
            <a:pPr algn="ctr">
              <a:lnSpc>
                <a:spcPts val="1125"/>
              </a:lnSpc>
              <a:defRPr sz="900" b="1">
                <a:solidFill>
                  <a:srgbClr val="047857"/>
                </a:solidFill>
                <a:latin typeface="Calibri"/>
              </a:defRPr>
            </a:pPr>
            <a:r>
              <a:t>½ m·R²</a:t>
            </a:r>
          </a:p>
        </p:txBody>
      </p:sp>
      <p:sp>
        <p:nvSpPr>
          <p:cNvPr id="19" name="TextBox 18"/>
          <p:cNvSpPr txBox="1"/>
          <p:nvPr/>
        </p:nvSpPr>
        <p:spPr>
          <a:xfrm>
            <a:off x="6199632" y="2414016"/>
            <a:ext cx="5431536" cy="420624"/>
          </a:xfrm>
          <a:prstGeom prst="rect">
            <a:avLst/>
          </a:prstGeom>
          <a:noFill/>
        </p:spPr>
        <p:txBody>
          <a:bodyPr wrap="square"/>
          <a:lstStyle/>
          <a:p>
            <a:pPr algn="l">
              <a:lnSpc>
                <a:spcPts val="1000"/>
              </a:lnSpc>
              <a:defRPr sz="800" b="0">
                <a:solidFill>
                  <a:srgbClr val="475569"/>
                </a:solidFill>
                <a:latin typeface="Calibri"/>
              </a:defRPr>
            </a:pPr>
            <a:r>
              <a:t>Đặc ruột → I nhỏ nhất trong họ trụ</a:t>
            </a:r>
          </a:p>
        </p:txBody>
      </p:sp>
      <p:sp>
        <p:nvSpPr>
          <p:cNvPr id="20" name="Rounded Rectangle 19"/>
          <p:cNvSpPr/>
          <p:nvPr/>
        </p:nvSpPr>
        <p:spPr>
          <a:xfrm>
            <a:off x="548640" y="2907792"/>
            <a:ext cx="11091672" cy="566928"/>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3044952"/>
            <a:ext cx="2779776" cy="292608"/>
          </a:xfrm>
          <a:prstGeom prst="rect">
            <a:avLst/>
          </a:prstGeom>
          <a:noFill/>
        </p:spPr>
        <p:txBody>
          <a:bodyPr wrap="square"/>
          <a:lstStyle/>
          <a:p>
            <a:pPr algn="ctr">
              <a:lnSpc>
                <a:spcPts val="1125"/>
              </a:lnSpc>
              <a:defRPr sz="900" b="1">
                <a:solidFill>
                  <a:srgbClr val="0F172A"/>
                </a:solidFill>
                <a:latin typeface="Calibri"/>
              </a:defRPr>
            </a:pPr>
            <a:r>
              <a:t>Vành/trụ rỗng R</a:t>
            </a:r>
          </a:p>
        </p:txBody>
      </p:sp>
      <p:sp>
        <p:nvSpPr>
          <p:cNvPr id="22" name="TextBox 21"/>
          <p:cNvSpPr txBox="1"/>
          <p:nvPr/>
        </p:nvSpPr>
        <p:spPr>
          <a:xfrm>
            <a:off x="3639312" y="3044952"/>
            <a:ext cx="2414016" cy="292608"/>
          </a:xfrm>
          <a:prstGeom prst="rect">
            <a:avLst/>
          </a:prstGeom>
          <a:noFill/>
        </p:spPr>
        <p:txBody>
          <a:bodyPr wrap="square"/>
          <a:lstStyle/>
          <a:p>
            <a:pPr algn="ctr">
              <a:lnSpc>
                <a:spcPts val="1125"/>
              </a:lnSpc>
              <a:defRPr sz="900" b="1">
                <a:solidFill>
                  <a:srgbClr val="047857"/>
                </a:solidFill>
                <a:latin typeface="Calibri"/>
              </a:defRPr>
            </a:pPr>
            <a:r>
              <a:t>m·R²</a:t>
            </a:r>
          </a:p>
        </p:txBody>
      </p:sp>
      <p:sp>
        <p:nvSpPr>
          <p:cNvPr id="23" name="TextBox 22"/>
          <p:cNvSpPr txBox="1"/>
          <p:nvPr/>
        </p:nvSpPr>
        <p:spPr>
          <a:xfrm>
            <a:off x="6199632" y="2980944"/>
            <a:ext cx="5431536" cy="420624"/>
          </a:xfrm>
          <a:prstGeom prst="rect">
            <a:avLst/>
          </a:prstGeom>
          <a:noFill/>
        </p:spPr>
        <p:txBody>
          <a:bodyPr wrap="square"/>
          <a:lstStyle/>
          <a:p>
            <a:pPr algn="l">
              <a:lnSpc>
                <a:spcPts val="1000"/>
              </a:lnSpc>
              <a:defRPr sz="800" b="0">
                <a:solidFill>
                  <a:srgbClr val="475569"/>
                </a:solidFill>
                <a:latin typeface="Calibri"/>
              </a:defRPr>
            </a:pPr>
            <a:r>
              <a:t>Rỗng → khối lượng ở xa → I gấp đôi đĩa đặc</a:t>
            </a:r>
          </a:p>
        </p:txBody>
      </p:sp>
      <p:sp>
        <p:nvSpPr>
          <p:cNvPr id="24" name="Rounded Rectangle 23"/>
          <p:cNvSpPr/>
          <p:nvPr/>
        </p:nvSpPr>
        <p:spPr>
          <a:xfrm>
            <a:off x="548640" y="3474720"/>
            <a:ext cx="11091672" cy="566928"/>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3611880"/>
            <a:ext cx="2779776" cy="292608"/>
          </a:xfrm>
          <a:prstGeom prst="rect">
            <a:avLst/>
          </a:prstGeom>
          <a:noFill/>
        </p:spPr>
        <p:txBody>
          <a:bodyPr wrap="square"/>
          <a:lstStyle/>
          <a:p>
            <a:pPr algn="ctr">
              <a:lnSpc>
                <a:spcPts val="1125"/>
              </a:lnSpc>
              <a:defRPr sz="900" b="1">
                <a:solidFill>
                  <a:srgbClr val="0F172A"/>
                </a:solidFill>
                <a:latin typeface="Calibri"/>
              </a:defRPr>
            </a:pPr>
            <a:r>
              <a:t>Cầu đặc R</a:t>
            </a:r>
          </a:p>
        </p:txBody>
      </p:sp>
      <p:sp>
        <p:nvSpPr>
          <p:cNvPr id="26" name="TextBox 25"/>
          <p:cNvSpPr txBox="1"/>
          <p:nvPr/>
        </p:nvSpPr>
        <p:spPr>
          <a:xfrm>
            <a:off x="3639312" y="3611880"/>
            <a:ext cx="2414016" cy="292608"/>
          </a:xfrm>
          <a:prstGeom prst="rect">
            <a:avLst/>
          </a:prstGeom>
          <a:noFill/>
        </p:spPr>
        <p:txBody>
          <a:bodyPr wrap="square"/>
          <a:lstStyle/>
          <a:p>
            <a:pPr algn="ctr">
              <a:lnSpc>
                <a:spcPts val="1125"/>
              </a:lnSpc>
              <a:defRPr sz="900" b="1">
                <a:solidFill>
                  <a:srgbClr val="047857"/>
                </a:solidFill>
                <a:latin typeface="Calibri"/>
              </a:defRPr>
            </a:pPr>
            <a:r>
              <a:t>2/5 m·R²</a:t>
            </a:r>
          </a:p>
        </p:txBody>
      </p:sp>
      <p:sp>
        <p:nvSpPr>
          <p:cNvPr id="27" name="TextBox 26"/>
          <p:cNvSpPr txBox="1"/>
          <p:nvPr/>
        </p:nvSpPr>
        <p:spPr>
          <a:xfrm>
            <a:off x="6199632" y="3547872"/>
            <a:ext cx="5431536" cy="420624"/>
          </a:xfrm>
          <a:prstGeom prst="rect">
            <a:avLst/>
          </a:prstGeom>
          <a:noFill/>
        </p:spPr>
        <p:txBody>
          <a:bodyPr wrap="square"/>
          <a:lstStyle/>
          <a:p>
            <a:pPr algn="l">
              <a:lnSpc>
                <a:spcPts val="1000"/>
              </a:lnSpc>
              <a:defRPr sz="800" b="0">
                <a:solidFill>
                  <a:srgbClr val="475569"/>
                </a:solidFill>
                <a:latin typeface="Calibri"/>
              </a:defRPr>
            </a:pPr>
            <a:r>
              <a:t>Nhỏ hơn trụ → lăn nhanh hơn. Cầu rỗng 2/3 m·R²</a:t>
            </a:r>
          </a:p>
        </p:txBody>
      </p:sp>
      <p:sp>
        <p:nvSpPr>
          <p:cNvPr id="28" name="Rounded Rectangle 27"/>
          <p:cNvSpPr/>
          <p:nvPr/>
        </p:nvSpPr>
        <p:spPr>
          <a:xfrm>
            <a:off x="411480" y="4251960"/>
            <a:ext cx="713232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389120"/>
            <a:ext cx="6675120" cy="256032"/>
          </a:xfrm>
          <a:prstGeom prst="rect">
            <a:avLst/>
          </a:prstGeom>
          <a:noFill/>
        </p:spPr>
        <p:txBody>
          <a:bodyPr wrap="square"/>
          <a:lstStyle/>
          <a:p>
            <a:pPr algn="l">
              <a:lnSpc>
                <a:spcPts val="1250"/>
              </a:lnSpc>
              <a:defRPr sz="1000" b="1">
                <a:solidFill>
                  <a:srgbClr val="0F172A"/>
                </a:solidFill>
                <a:latin typeface="Calibri"/>
              </a:defRPr>
            </a:pPr>
            <a:r>
              <a:t>📐  Định lý Steiner: I = I_G + m·d²</a:t>
            </a:r>
          </a:p>
        </p:txBody>
      </p:sp>
      <p:sp>
        <p:nvSpPr>
          <p:cNvPr id="30" name="TextBox 29"/>
          <p:cNvSpPr txBox="1"/>
          <p:nvPr/>
        </p:nvSpPr>
        <p:spPr>
          <a:xfrm>
            <a:off x="640080" y="4663440"/>
            <a:ext cx="6675120" cy="594360"/>
          </a:xfrm>
          <a:prstGeom prst="rect">
            <a:avLst/>
          </a:prstGeom>
          <a:noFill/>
        </p:spPr>
        <p:txBody>
          <a:bodyPr wrap="square"/>
          <a:lstStyle/>
          <a:p>
            <a:pPr algn="l">
              <a:lnSpc>
                <a:spcPts val="1125"/>
              </a:lnSpc>
              <a:defRPr sz="900" b="0">
                <a:solidFill>
                  <a:srgbClr val="475569"/>
                </a:solidFill>
                <a:latin typeface="Calibri"/>
              </a:defRPr>
            </a:pPr>
            <a:r>
              <a:t>Biết I qua G → I qua trục // cách G đoạn d. VD: thanh qua đầu: I=1/12 ml² + m(l/2)² =1/3 ml².</a:t>
            </a:r>
          </a:p>
        </p:txBody>
      </p:sp>
      <p:sp>
        <p:nvSpPr>
          <p:cNvPr id="31" name="TextBox 30"/>
          <p:cNvSpPr txBox="1"/>
          <p:nvPr/>
        </p:nvSpPr>
        <p:spPr>
          <a:xfrm>
            <a:off x="640080" y="5349240"/>
            <a:ext cx="6675120" cy="256032"/>
          </a:xfrm>
          <a:prstGeom prst="rect">
            <a:avLst/>
          </a:prstGeom>
          <a:noFill/>
        </p:spPr>
        <p:txBody>
          <a:bodyPr wrap="square"/>
          <a:lstStyle/>
          <a:p>
            <a:pPr algn="l">
              <a:lnSpc>
                <a:spcPts val="1250"/>
              </a:lnSpc>
              <a:defRPr sz="1000" b="1">
                <a:solidFill>
                  <a:srgbClr val="0F172A"/>
                </a:solidFill>
                <a:latin typeface="Calibri"/>
              </a:defRPr>
            </a:pPr>
            <a:r>
              <a:t>📝  Ví dụ lăn không trượt:</a:t>
            </a:r>
          </a:p>
        </p:txBody>
      </p:sp>
      <p:sp>
        <p:nvSpPr>
          <p:cNvPr id="32" name="TextBox 31"/>
          <p:cNvSpPr txBox="1"/>
          <p:nvPr/>
        </p:nvSpPr>
        <p:spPr>
          <a:xfrm>
            <a:off x="640080" y="5623560"/>
            <a:ext cx="6675120" cy="777240"/>
          </a:xfrm>
          <a:prstGeom prst="rect">
            <a:avLst/>
          </a:prstGeom>
          <a:noFill/>
        </p:spPr>
        <p:txBody>
          <a:bodyPr wrap="square"/>
          <a:lstStyle/>
          <a:p>
            <a:pPr algn="l">
              <a:lnSpc>
                <a:spcPts val="1062"/>
              </a:lnSpc>
              <a:defRPr sz="850" b="0">
                <a:solidFill>
                  <a:srgbClr val="475569"/>
                </a:solidFill>
                <a:latin typeface="Calibri"/>
              </a:defRPr>
            </a:pPr>
            <a:r>
              <a:t>Cầu đặc &amp; trụ đặc cùng lăn từ đỉnh cao h → mgh=½mv²+½Iω², ω=v/R</a:t>
            </a:r>
            <a:br/>
            <a:r>
              <a:t>→ v_cầu=√(10gh/7) &gt; v_trụ=√(4gh/3) → cầu tới trước vì I nhỏ hơn.</a:t>
            </a:r>
          </a:p>
        </p:txBody>
      </p:sp>
      <p:sp>
        <p:nvSpPr>
          <p:cNvPr id="33" name="Rounded Rectangle 32"/>
          <p:cNvSpPr/>
          <p:nvPr/>
        </p:nvSpPr>
        <p:spPr>
          <a:xfrm>
            <a:off x="7818120" y="4251960"/>
            <a:ext cx="3886200" cy="2331720"/>
          </a:xfrm>
          <a:prstGeom prst="roundRect">
            <a:avLst/>
          </a:prstGeom>
          <a:solidFill>
            <a:srgbClr val="FFF2F2"/>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0" y="4389120"/>
            <a:ext cx="3429000" cy="256032"/>
          </a:xfrm>
          <a:prstGeom prst="rect">
            <a:avLst/>
          </a:prstGeom>
          <a:noFill/>
        </p:spPr>
        <p:txBody>
          <a:bodyPr wrap="square"/>
          <a:lstStyle/>
          <a:p>
            <a:pPr algn="l">
              <a:lnSpc>
                <a:spcPts val="1250"/>
              </a:lnSpc>
              <a:defRPr sz="1000" b="1">
                <a:solidFill>
                  <a:srgbClr val="B91C1C"/>
                </a:solidFill>
                <a:latin typeface="Calibri"/>
              </a:defRPr>
            </a:pPr>
            <a:r>
              <a:t>⚠️  Bẫy C4</a:t>
            </a:r>
          </a:p>
        </p:txBody>
      </p:sp>
      <p:sp>
        <p:nvSpPr>
          <p:cNvPr id="35" name="TextBox 34"/>
          <p:cNvSpPr txBox="1"/>
          <p:nvPr/>
        </p:nvSpPr>
        <p:spPr>
          <a:xfrm>
            <a:off x="8046720" y="4663440"/>
            <a:ext cx="3429000" cy="1691640"/>
          </a:xfrm>
          <a:prstGeom prst="rect">
            <a:avLst/>
          </a:prstGeom>
          <a:noFill/>
        </p:spPr>
        <p:txBody>
          <a:bodyPr wrap="square"/>
          <a:lstStyle/>
          <a:p>
            <a:pPr algn="l">
              <a:lnSpc>
                <a:spcPts val="1062"/>
              </a:lnSpc>
              <a:defRPr sz="850" b="0">
                <a:solidFill>
                  <a:srgbClr val="B91C1C"/>
                </a:solidFill>
                <a:latin typeface="Calibri"/>
              </a:defRPr>
            </a:pPr>
            <a:r>
              <a:t>• Quên cộng W =½mv_G² +½Iω² (mất nửa điểm)</a:t>
            </a:r>
            <a:br/>
            <a:r>
              <a:t>• Quên v_G=ωR khi lăn không trượt</a:t>
            </a:r>
            <a:br/>
            <a:r>
              <a:t>• Nhầm I vành (mR²) với đĩa (½mR²)</a:t>
            </a:r>
          </a:p>
        </p:txBody>
      </p:sp>
      <p:sp>
        <p:nvSpPr>
          <p:cNvPr id="36" name="TextBox 35"/>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15 / 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5</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C5. Khí lý tưởng &amp; Thuyết động học phân tử (1/2)</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6766560" cy="5440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6309360" cy="256032"/>
          </a:xfrm>
          <a:prstGeom prst="rect">
            <a:avLst/>
          </a:prstGeom>
          <a:noFill/>
        </p:spPr>
        <p:txBody>
          <a:bodyPr wrap="square"/>
          <a:lstStyle/>
          <a:p>
            <a:pPr algn="l">
              <a:lnSpc>
                <a:spcPts val="1375"/>
              </a:lnSpc>
              <a:defRPr sz="1100" b="1">
                <a:solidFill>
                  <a:srgbClr val="0F172A"/>
                </a:solidFill>
                <a:latin typeface="Calibri"/>
              </a:defRPr>
            </a:pPr>
            <a:r>
              <a:t>🧪  Thuyết động học — 3 ý</a:t>
            </a:r>
          </a:p>
        </p:txBody>
      </p:sp>
      <p:sp>
        <p:nvSpPr>
          <p:cNvPr id="8" name="TextBox 7"/>
          <p:cNvSpPr txBox="1"/>
          <p:nvPr/>
        </p:nvSpPr>
        <p:spPr>
          <a:xfrm>
            <a:off x="640080" y="1463040"/>
            <a:ext cx="6309360" cy="1051560"/>
          </a:xfrm>
          <a:prstGeom prst="rect">
            <a:avLst/>
          </a:prstGeom>
          <a:noFill/>
        </p:spPr>
        <p:txBody>
          <a:bodyPr wrap="square"/>
          <a:lstStyle/>
          <a:p>
            <a:pPr algn="l">
              <a:lnSpc>
                <a:spcPts val="1125"/>
              </a:lnSpc>
              <a:defRPr sz="900" b="0">
                <a:solidFill>
                  <a:srgbClr val="475569"/>
                </a:solidFill>
                <a:latin typeface="Calibri"/>
              </a:defRPr>
            </a:pPr>
            <a:r>
              <a:t>1. Vật chất gồm vô số phân tử CĐ hỗn loạn không ngừng.</a:t>
            </a:r>
            <a:br/>
            <a:r>
              <a:t>2. Tương tác hút/đẩy (khí lý tưởng bỏ qua trừ va chạm).</a:t>
            </a:r>
            <a:br/>
            <a:r>
              <a:t>3. Tuân theo định luật Newton.</a:t>
            </a:r>
          </a:p>
        </p:txBody>
      </p:sp>
      <p:sp>
        <p:nvSpPr>
          <p:cNvPr id="9" name="TextBox 8"/>
          <p:cNvSpPr txBox="1"/>
          <p:nvPr/>
        </p:nvSpPr>
        <p:spPr>
          <a:xfrm>
            <a:off x="640080" y="2606040"/>
            <a:ext cx="6309360" cy="256032"/>
          </a:xfrm>
          <a:prstGeom prst="rect">
            <a:avLst/>
          </a:prstGeom>
          <a:noFill/>
        </p:spPr>
        <p:txBody>
          <a:bodyPr wrap="square"/>
          <a:lstStyle/>
          <a:p>
            <a:pPr algn="l">
              <a:lnSpc>
                <a:spcPts val="1375"/>
              </a:lnSpc>
              <a:defRPr sz="1100" b="1">
                <a:solidFill>
                  <a:srgbClr val="0F172A"/>
                </a:solidFill>
                <a:latin typeface="Calibri"/>
              </a:defRPr>
            </a:pPr>
            <a:r>
              <a:t>💨  Phương trình cơ bản</a:t>
            </a:r>
          </a:p>
        </p:txBody>
      </p:sp>
      <p:sp>
        <p:nvSpPr>
          <p:cNvPr id="10" name="TextBox 9"/>
          <p:cNvSpPr txBox="1"/>
          <p:nvPr/>
        </p:nvSpPr>
        <p:spPr>
          <a:xfrm>
            <a:off x="640080" y="2926080"/>
            <a:ext cx="6309360" cy="1234440"/>
          </a:xfrm>
          <a:prstGeom prst="rect">
            <a:avLst/>
          </a:prstGeom>
          <a:noFill/>
        </p:spPr>
        <p:txBody>
          <a:bodyPr wrap="square"/>
          <a:lstStyle/>
          <a:p>
            <a:pPr algn="l">
              <a:lnSpc>
                <a:spcPts val="1125"/>
              </a:lnSpc>
              <a:defRPr sz="900" b="0">
                <a:solidFill>
                  <a:srgbClr val="475569"/>
                </a:solidFill>
                <a:latin typeface="Calibri"/>
              </a:defRPr>
            </a:pPr>
            <a:r>
              <a:t>• Áp suất do va chạm: p = 1/3 n₀·m·⟨v²⟩ = n·k·T</a:t>
            </a:r>
            <a:br/>
            <a:r>
              <a:t>  n₀=N/V (m⁻³) mật độ, m (kg) 1 phân tử, ⟨v²⟩ trung bình bình phương vận tốc.</a:t>
            </a:r>
            <a:br/>
            <a:r>
              <a:t>• Động năng 1 phân tử: ⟨wđ⟩ = ½m⟨v²⟩ = 3/2 kT → T tỉ lệ ⟨wđ⟩. 0K → ⟨wđ⟩=0.</a:t>
            </a:r>
          </a:p>
        </p:txBody>
      </p:sp>
      <p:sp>
        <p:nvSpPr>
          <p:cNvPr id="11" name="Rounded Rectangle 10"/>
          <p:cNvSpPr/>
          <p:nvPr/>
        </p:nvSpPr>
        <p:spPr>
          <a:xfrm>
            <a:off x="640080" y="4251960"/>
            <a:ext cx="6309360" cy="1325880"/>
          </a:xfrm>
          <a:prstGeom prst="roundRect">
            <a:avLst/>
          </a:prstGeom>
          <a:solidFill>
            <a:srgbClr val="F0FDFA"/>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4343400"/>
            <a:ext cx="6080760" cy="1143000"/>
          </a:xfrm>
          <a:prstGeom prst="rect">
            <a:avLst/>
          </a:prstGeom>
          <a:noFill/>
        </p:spPr>
        <p:txBody>
          <a:bodyPr wrap="square"/>
          <a:lstStyle/>
          <a:p>
            <a:pPr algn="l">
              <a:lnSpc>
                <a:spcPts val="1062"/>
              </a:lnSpc>
              <a:defRPr sz="850" b="0">
                <a:solidFill>
                  <a:srgbClr val="0F766E"/>
                </a:solidFill>
                <a:latin typeface="Calibri"/>
              </a:defRPr>
            </a:pPr>
            <a:r>
              <a:t>💡 Mẹo nói: “Nhiệt độ là thước đo độ chạy loạn của phân tử. Nóng → chạy nhanh, lạnh → chạy chậm.”</a:t>
            </a:r>
            <a:br/>
            <a:r>
              <a:t>→ Dẫn vào ⟨wđ⟩=3/2kT rất tự nhiên.</a:t>
            </a:r>
          </a:p>
        </p:txBody>
      </p:sp>
      <p:pic>
        <p:nvPicPr>
          <p:cNvPr id="13" name="Picture 12" descr="c5_khily.jpg"/>
          <p:cNvPicPr>
            <a:picLocks noChangeAspect="1"/>
          </p:cNvPicPr>
          <p:nvPr/>
        </p:nvPicPr>
        <p:blipFill>
          <a:blip r:embed="rId2"/>
          <a:stretch>
            <a:fillRect/>
          </a:stretch>
        </p:blipFill>
        <p:spPr>
          <a:xfrm>
            <a:off x="7452360" y="960120"/>
            <a:ext cx="4251960" cy="2331720"/>
          </a:xfrm>
          <a:prstGeom prst="rect">
            <a:avLst/>
          </a:prstGeom>
        </p:spPr>
      </p:pic>
      <p:sp>
        <p:nvSpPr>
          <p:cNvPr id="14" name="TextBox 13"/>
          <p:cNvSpPr txBox="1"/>
          <p:nvPr/>
        </p:nvSpPr>
        <p:spPr>
          <a:xfrm>
            <a:off x="7452360" y="3337560"/>
            <a:ext cx="4251960" cy="256032"/>
          </a:xfrm>
          <a:prstGeom prst="rect">
            <a:avLst/>
          </a:prstGeom>
          <a:noFill/>
        </p:spPr>
        <p:txBody>
          <a:bodyPr wrap="square"/>
          <a:lstStyle/>
          <a:p>
            <a:pPr algn="ctr">
              <a:lnSpc>
                <a:spcPts val="875"/>
              </a:lnSpc>
              <a:defRPr sz="700" b="0">
                <a:solidFill>
                  <a:srgbClr val="94A3B8"/>
                </a:solidFill>
                <a:latin typeface="Calibri"/>
              </a:defRPr>
            </a:pPr>
            <a:r>
              <a:t>Hình 6 — Phân tử va chạm gây áp suất</a:t>
            </a:r>
          </a:p>
        </p:txBody>
      </p:sp>
      <p:sp>
        <p:nvSpPr>
          <p:cNvPr id="15" name="Rounded Rectangle 14"/>
          <p:cNvSpPr/>
          <p:nvPr/>
        </p:nvSpPr>
        <p:spPr>
          <a:xfrm>
            <a:off x="7452360" y="3703320"/>
            <a:ext cx="4251960" cy="11430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38BDF8"/>
                </a:solidFill>
              </a:rPr>
              <a:t>p = ⅓ n₀ m⟨v²⟩ = n k T</a:t>
            </a:r>
          </a:p>
          <a:p>
            <a:pPr algn="ctr"/>
            <a:r>
              <a:rPr sz="800">
                <a:solidFill>
                  <a:srgbClr val="FDE68A"/>
                </a:solidFill>
              </a:rPr>
              <a:t>⟨wđ⟩ = 3/2 kT   |   k = R/N_A</a:t>
            </a:r>
          </a:p>
        </p:txBody>
      </p:sp>
      <p:sp>
        <p:nvSpPr>
          <p:cNvPr id="16" name="Rounded Rectangle 15"/>
          <p:cNvSpPr/>
          <p:nvPr/>
        </p:nvSpPr>
        <p:spPr>
          <a:xfrm>
            <a:off x="7452360" y="4983480"/>
            <a:ext cx="4251960" cy="132588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5074920"/>
            <a:ext cx="3977639" cy="1143000"/>
          </a:xfrm>
          <a:prstGeom prst="rect">
            <a:avLst/>
          </a:prstGeom>
          <a:noFill/>
        </p:spPr>
        <p:txBody>
          <a:bodyPr wrap="square"/>
          <a:lstStyle/>
          <a:p>
            <a:pPr algn="l">
              <a:lnSpc>
                <a:spcPts val="875"/>
              </a:lnSpc>
              <a:defRPr sz="700" b="0">
                <a:solidFill>
                  <a:srgbClr val="475569"/>
                </a:solidFill>
                <a:latin typeface="Calibri"/>
              </a:defRPr>
            </a:pPr>
            <a:r>
              <a:t>📌 k=1.38×10⁻²³ J/K, R=8.31 J/mol·K, N_A=6.02×10²³, T (K)=°C+273.15</a:t>
            </a:r>
          </a:p>
        </p:txBody>
      </p:sp>
      <p:sp>
        <p:nvSpPr>
          <p:cNvPr id="18" name="TextBox 17"/>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16 / 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5</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C5. Phương trình trạng thái — Công thức “vạn năng” (2/2)</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6766560" cy="5440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6309360" cy="256032"/>
          </a:xfrm>
          <a:prstGeom prst="rect">
            <a:avLst/>
          </a:prstGeom>
          <a:noFill/>
        </p:spPr>
        <p:txBody>
          <a:bodyPr wrap="square"/>
          <a:lstStyle/>
          <a:p>
            <a:pPr algn="l">
              <a:lnSpc>
                <a:spcPts val="1625"/>
              </a:lnSpc>
              <a:defRPr sz="1300" b="1">
                <a:solidFill>
                  <a:srgbClr val="0F172A"/>
                </a:solidFill>
                <a:latin typeface="Calibri"/>
              </a:defRPr>
            </a:pPr>
            <a:r>
              <a:t>🌡️  p·V = ν·R·T = (m/M)·R·T</a:t>
            </a:r>
          </a:p>
        </p:txBody>
      </p:sp>
      <p:sp>
        <p:nvSpPr>
          <p:cNvPr id="8" name="TextBox 7"/>
          <p:cNvSpPr txBox="1"/>
          <p:nvPr/>
        </p:nvSpPr>
        <p:spPr>
          <a:xfrm>
            <a:off x="640080" y="1463040"/>
            <a:ext cx="6309360" cy="1051560"/>
          </a:xfrm>
          <a:prstGeom prst="rect">
            <a:avLst/>
          </a:prstGeom>
          <a:noFill/>
        </p:spPr>
        <p:txBody>
          <a:bodyPr wrap="square"/>
          <a:lstStyle/>
          <a:p>
            <a:pPr algn="l">
              <a:lnSpc>
                <a:spcPts val="1125"/>
              </a:lnSpc>
              <a:defRPr sz="900" b="0">
                <a:solidFill>
                  <a:srgbClr val="475569"/>
                </a:solidFill>
                <a:latin typeface="Calibri"/>
              </a:defRPr>
            </a:pPr>
            <a:r>
              <a:t>• ν (mol) số mol, M (kg/mol) khối lượng mol, R=8.31 J/mol·K.</a:t>
            </a:r>
            <a:br/>
            <a:r>
              <a:t>• Biết 2 trong 3 (p,V,T) → tìm cái còn lại. Cầu nối Cơ ↔ Nhiệt.</a:t>
            </a:r>
          </a:p>
        </p:txBody>
      </p:sp>
      <p:sp>
        <p:nvSpPr>
          <p:cNvPr id="9" name="TextBox 8"/>
          <p:cNvSpPr txBox="1"/>
          <p:nvPr/>
        </p:nvSpPr>
        <p:spPr>
          <a:xfrm>
            <a:off x="640080" y="2606040"/>
            <a:ext cx="6309360" cy="256032"/>
          </a:xfrm>
          <a:prstGeom prst="rect">
            <a:avLst/>
          </a:prstGeom>
          <a:noFill/>
        </p:spPr>
        <p:txBody>
          <a:bodyPr wrap="square"/>
          <a:lstStyle/>
          <a:p>
            <a:pPr algn="l">
              <a:lnSpc>
                <a:spcPts val="1250"/>
              </a:lnSpc>
              <a:defRPr sz="1000" b="1">
                <a:solidFill>
                  <a:srgbClr val="0F172A"/>
                </a:solidFill>
                <a:latin typeface="Calibri"/>
              </a:defRPr>
            </a:pPr>
            <a:r>
              <a:t>📚  Ba định luật là trường hợp riêng:</a:t>
            </a:r>
          </a:p>
        </p:txBody>
      </p:sp>
      <p:sp>
        <p:nvSpPr>
          <p:cNvPr id="10" name="TextBox 9"/>
          <p:cNvSpPr txBox="1"/>
          <p:nvPr/>
        </p:nvSpPr>
        <p:spPr>
          <a:xfrm>
            <a:off x="640080" y="2926080"/>
            <a:ext cx="6309360" cy="1234440"/>
          </a:xfrm>
          <a:prstGeom prst="rect">
            <a:avLst/>
          </a:prstGeom>
          <a:noFill/>
        </p:spPr>
        <p:txBody>
          <a:bodyPr wrap="square">
            <a:spAutoFit/>
          </a:bodyPr>
          <a:lstStyle/>
          <a:p>
            <a:pPr>
              <a:spcAft>
                <a:spcPts val="400"/>
              </a:spcAft>
            </a:pPr>
            <a:r>
              <a:rPr sz="900" b="1">
                <a:solidFill>
                  <a:srgbClr val="1E293B"/>
                </a:solidFill>
              </a:rPr>
              <a:t>• Boyle (T=const): </a:t>
            </a:r>
            <a:r>
              <a:rPr sz="900">
                <a:solidFill>
                  <a:srgbClr val="DB2777"/>
                </a:solidFill>
              </a:rPr>
              <a:t>p·V = const</a:t>
            </a:r>
          </a:p>
          <a:p>
            <a:pPr>
              <a:spcAft>
                <a:spcPts val="400"/>
              </a:spcAft>
            </a:pPr>
            <a:r>
              <a:rPr sz="900" b="1">
                <a:solidFill>
                  <a:srgbClr val="1E293B"/>
                </a:solidFill>
              </a:rPr>
              <a:t>• Gay-Lussac (p=const): </a:t>
            </a:r>
            <a:r>
              <a:rPr sz="900">
                <a:solidFill>
                  <a:srgbClr val="DB2777"/>
                </a:solidFill>
              </a:rPr>
              <a:t>V/T = const</a:t>
            </a:r>
          </a:p>
          <a:p>
            <a:pPr>
              <a:spcAft>
                <a:spcPts val="400"/>
              </a:spcAft>
            </a:pPr>
            <a:r>
              <a:rPr sz="900" b="1">
                <a:solidFill>
                  <a:srgbClr val="1E293B"/>
                </a:solidFill>
              </a:rPr>
              <a:t>• Charles (V=const): </a:t>
            </a:r>
            <a:r>
              <a:rPr sz="900">
                <a:solidFill>
                  <a:srgbClr val="DB2777"/>
                </a:solidFill>
              </a:rPr>
              <a:t>p/T = const</a:t>
            </a:r>
          </a:p>
        </p:txBody>
      </p:sp>
      <p:sp>
        <p:nvSpPr>
          <p:cNvPr id="11" name="TextBox 10"/>
          <p:cNvSpPr txBox="1"/>
          <p:nvPr/>
        </p:nvSpPr>
        <p:spPr>
          <a:xfrm>
            <a:off x="640080" y="4251960"/>
            <a:ext cx="6309360" cy="256032"/>
          </a:xfrm>
          <a:prstGeom prst="rect">
            <a:avLst/>
          </a:prstGeom>
          <a:noFill/>
        </p:spPr>
        <p:txBody>
          <a:bodyPr wrap="square"/>
          <a:lstStyle/>
          <a:p>
            <a:pPr algn="l">
              <a:lnSpc>
                <a:spcPts val="1250"/>
              </a:lnSpc>
              <a:defRPr sz="1000" b="1">
                <a:solidFill>
                  <a:srgbClr val="0F172A"/>
                </a:solidFill>
                <a:latin typeface="Calibri"/>
              </a:defRPr>
            </a:pPr>
            <a:r>
              <a:t>🔋  Nội năng khí lý tưởng:</a:t>
            </a:r>
          </a:p>
        </p:txBody>
      </p:sp>
      <p:sp>
        <p:nvSpPr>
          <p:cNvPr id="12" name="TextBox 11"/>
          <p:cNvSpPr txBox="1"/>
          <p:nvPr/>
        </p:nvSpPr>
        <p:spPr>
          <a:xfrm>
            <a:off x="640080" y="4572000"/>
            <a:ext cx="6309360" cy="777240"/>
          </a:xfrm>
          <a:prstGeom prst="rect">
            <a:avLst/>
          </a:prstGeom>
          <a:noFill/>
        </p:spPr>
        <p:txBody>
          <a:bodyPr wrap="square"/>
          <a:lstStyle/>
          <a:p>
            <a:pPr algn="l">
              <a:lnSpc>
                <a:spcPts val="1125"/>
              </a:lnSpc>
              <a:defRPr sz="900" b="0">
                <a:solidFill>
                  <a:srgbClr val="475569"/>
                </a:solidFill>
                <a:latin typeface="Calibri"/>
              </a:defRPr>
            </a:pPr>
            <a:r>
              <a:t>U = ν·C_V·T = (m/μ)·i/2·R·T  (J) — chỉ phụ thuộc T, không phụ thuộc p,V. Khí thực thì khác.</a:t>
            </a:r>
          </a:p>
        </p:txBody>
      </p:sp>
      <p:sp>
        <p:nvSpPr>
          <p:cNvPr id="13" name="Rounded Rectangle 12"/>
          <p:cNvSpPr/>
          <p:nvPr/>
        </p:nvSpPr>
        <p:spPr>
          <a:xfrm>
            <a:off x="640080" y="5440680"/>
            <a:ext cx="6309360" cy="960120"/>
          </a:xfrm>
          <a:prstGeom prst="roundRect">
            <a:avLst/>
          </a:prstGeom>
          <a:solidFill>
            <a:srgbClr val="FFF2F2"/>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5532120"/>
            <a:ext cx="6080760" cy="777240"/>
          </a:xfrm>
          <a:prstGeom prst="rect">
            <a:avLst/>
          </a:prstGeom>
          <a:noFill/>
        </p:spPr>
        <p:txBody>
          <a:bodyPr wrap="square"/>
          <a:lstStyle/>
          <a:p>
            <a:pPr algn="l">
              <a:lnSpc>
                <a:spcPts val="1000"/>
              </a:lnSpc>
              <a:defRPr sz="800" b="0">
                <a:solidFill>
                  <a:srgbClr val="B91C1C"/>
                </a:solidFill>
                <a:latin typeface="Calibri"/>
              </a:defRPr>
            </a:pPr>
            <a:r>
              <a:t>⚠️ Bẫy: Phải đổi T sang Kelvin! Dùng °C là sai. Phân biệt ν (mol) với n₀ (m⁻³).</a:t>
            </a:r>
          </a:p>
        </p:txBody>
      </p:sp>
      <p:sp>
        <p:nvSpPr>
          <p:cNvPr id="15" name="Rounded Rectangle 14"/>
          <p:cNvSpPr/>
          <p:nvPr/>
        </p:nvSpPr>
        <p:spPr>
          <a:xfrm>
            <a:off x="7452360" y="960120"/>
            <a:ext cx="4251960" cy="16002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38BDF8"/>
                </a:solidFill>
              </a:rPr>
              <a:t>p·V = ν·R·T</a:t>
            </a:r>
          </a:p>
          <a:p>
            <a:pPr algn="ctr"/>
            <a:r>
              <a:rPr sz="800">
                <a:solidFill>
                  <a:srgbClr val="E2E8F0"/>
                </a:solidFill>
              </a:rPr>
              <a:t>p (Pa)  V (m³)  T (K)  ν (mol)  R=8.31</a:t>
            </a:r>
          </a:p>
          <a:p>
            <a:pPr algn="ctr"/>
            <a:r>
              <a:rPr sz="800">
                <a:solidFill>
                  <a:srgbClr val="FDE68A"/>
                </a:solidFill>
              </a:rPr>
              <a:t>U = ν·C_V·T  (chỉ phụ thuộc T)</a:t>
            </a:r>
          </a:p>
        </p:txBody>
      </p:sp>
      <p:sp>
        <p:nvSpPr>
          <p:cNvPr id="16" name="Rounded Rectangle 15"/>
          <p:cNvSpPr/>
          <p:nvPr/>
        </p:nvSpPr>
        <p:spPr>
          <a:xfrm>
            <a:off x="7452360" y="2788920"/>
            <a:ext cx="4251960" cy="169164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2880360"/>
            <a:ext cx="3977639" cy="1508760"/>
          </a:xfrm>
          <a:prstGeom prst="rect">
            <a:avLst/>
          </a:prstGeom>
          <a:noFill/>
        </p:spPr>
        <p:txBody>
          <a:bodyPr wrap="square"/>
          <a:lstStyle/>
          <a:p>
            <a:pPr algn="l">
              <a:lnSpc>
                <a:spcPts val="1062"/>
              </a:lnSpc>
              <a:defRPr sz="850" b="0">
                <a:solidFill>
                  <a:srgbClr val="475569"/>
                </a:solidFill>
                <a:latin typeface="Calibri"/>
              </a:defRPr>
            </a:pPr>
            <a:r>
              <a:t>📝 Ví dụ nói mẫu:</a:t>
            </a:r>
            <a:br/>
            <a:r>
              <a:t>1 mol ở 27°C (300K), V=24.6 lít → p=RT/V≈101 kPa≈1 atm</a:t>
            </a:r>
            <a:br/>
            <a:r>
              <a:t>→ Nhớ “24.6 lít/mol ở 27°C ≈1 atm” để ước lượng nhanh.</a:t>
            </a:r>
          </a:p>
        </p:txBody>
      </p:sp>
      <p:sp>
        <p:nvSpPr>
          <p:cNvPr id="18" name="Rounded Rectangle 17"/>
          <p:cNvSpPr/>
          <p:nvPr/>
        </p:nvSpPr>
        <p:spPr>
          <a:xfrm>
            <a:off x="7452360" y="4663440"/>
            <a:ext cx="4251960"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4754880"/>
            <a:ext cx="3977639" cy="1554480"/>
          </a:xfrm>
          <a:prstGeom prst="rect">
            <a:avLst/>
          </a:prstGeom>
          <a:noFill/>
        </p:spPr>
        <p:txBody>
          <a:bodyPr wrap="square"/>
          <a:lstStyle/>
          <a:p>
            <a:pPr algn="l">
              <a:lnSpc>
                <a:spcPts val="1062"/>
              </a:lnSpc>
              <a:defRPr sz="850" b="0">
                <a:solidFill>
                  <a:srgbClr val="0F766E"/>
                </a:solidFill>
                <a:latin typeface="Calibri"/>
              </a:defRPr>
            </a:pPr>
            <a:r>
              <a:t>💡 Mẹo nhớ:</a:t>
            </a:r>
            <a:br/>
            <a:r>
              <a:t>Chỉ nhớ pV=νRT. Muốn p=nkT thì chia 2 vế cho V:</a:t>
            </a:r>
            <a:br/>
            <a:r>
              <a:t>p = (ν/V)RT = n·k·T. Một dòng là ra.</a:t>
            </a:r>
          </a:p>
        </p:txBody>
      </p:sp>
      <p:sp>
        <p:nvSpPr>
          <p:cNvPr id="20" name="TextBox 19"/>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17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6</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C6. Nguyên lý I — Bảo toàn năng lượng mở rộng (1/3)</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6766560" cy="5440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6309360" cy="256032"/>
          </a:xfrm>
          <a:prstGeom prst="rect">
            <a:avLst/>
          </a:prstGeom>
          <a:noFill/>
        </p:spPr>
        <p:txBody>
          <a:bodyPr wrap="square"/>
          <a:lstStyle/>
          <a:p>
            <a:pPr algn="l">
              <a:lnSpc>
                <a:spcPts val="1375"/>
              </a:lnSpc>
              <a:defRPr sz="1100" b="1">
                <a:solidFill>
                  <a:srgbClr val="0F172A"/>
                </a:solidFill>
                <a:latin typeface="Calibri"/>
              </a:defRPr>
            </a:pPr>
            <a:r>
              <a:t>🔥  Ba khái niệm: Nội năng – Công – Nhiệt</a:t>
            </a:r>
          </a:p>
        </p:txBody>
      </p:sp>
      <p:sp>
        <p:nvSpPr>
          <p:cNvPr id="8" name="TextBox 7"/>
          <p:cNvSpPr txBox="1"/>
          <p:nvPr/>
        </p:nvSpPr>
        <p:spPr>
          <a:xfrm>
            <a:off x="640080" y="1463040"/>
            <a:ext cx="6309360" cy="2148840"/>
          </a:xfrm>
          <a:prstGeom prst="rect">
            <a:avLst/>
          </a:prstGeom>
          <a:noFill/>
        </p:spPr>
        <p:txBody>
          <a:bodyPr wrap="square">
            <a:spAutoFit/>
          </a:bodyPr>
          <a:lstStyle/>
          <a:p>
            <a:pPr>
              <a:spcAft>
                <a:spcPts val="600"/>
              </a:spcAft>
            </a:pPr>
            <a:r>
              <a:rPr sz="850" b="1">
                <a:solidFill>
                  <a:srgbClr val="1E293B"/>
                </a:solidFill>
              </a:rPr>
              <a:t>• Nội năng U (J): </a:t>
            </a:r>
            <a:r>
              <a:rPr sz="800">
                <a:solidFill>
                  <a:srgbClr val="475569"/>
                </a:solidFill>
              </a:rPr>
              <a:t>Tổng động + thế phân tử. Khí lý tưởng: U=νC_VT=(m/μ)·i/2·RT — chỉ phụ thuộc T, là hàm trạng thái.</a:t>
            </a:r>
          </a:p>
          <a:p>
            <a:pPr>
              <a:spcAft>
                <a:spcPts val="600"/>
              </a:spcAft>
            </a:pPr>
            <a:r>
              <a:rPr sz="850" b="1">
                <a:solidFill>
                  <a:srgbClr val="1E293B"/>
                </a:solidFill>
              </a:rPr>
              <a:t>• Công A (J): </a:t>
            </a:r>
            <a:r>
              <a:rPr sz="800">
                <a:solidFill>
                  <a:srgbClr val="475569"/>
                </a:solidFill>
              </a:rPr>
              <a:t>Trao đổi qua thay đổi V: δA=−p·dV. A&gt;0 khi hệ NHẬN (bị nén), &lt;0 khi hệ sinh công (giãn) — quy ước slide.</a:t>
            </a:r>
          </a:p>
          <a:p>
            <a:pPr>
              <a:spcAft>
                <a:spcPts val="600"/>
              </a:spcAft>
            </a:pPr>
            <a:r>
              <a:rPr sz="850" b="1">
                <a:solidFill>
                  <a:srgbClr val="1E293B"/>
                </a:solidFill>
              </a:rPr>
              <a:t>• Nhiệt Q (J): </a:t>
            </a:r>
            <a:r>
              <a:rPr sz="800">
                <a:solidFill>
                  <a:srgbClr val="475569"/>
                </a:solidFill>
              </a:rPr>
              <a:t>Trao đổi qua CĐ hỗn loạn. Q&gt;0 khi hệ nhận, &lt;0 khi tỏa. 1 cal=4.18 J. Q= m·c·ΔT = (m/μ)·C·ΔT.</a:t>
            </a:r>
          </a:p>
        </p:txBody>
      </p:sp>
      <p:sp>
        <p:nvSpPr>
          <p:cNvPr id="9" name="TextBox 8"/>
          <p:cNvSpPr txBox="1"/>
          <p:nvPr/>
        </p:nvSpPr>
        <p:spPr>
          <a:xfrm>
            <a:off x="640080" y="3703320"/>
            <a:ext cx="6309360" cy="256032"/>
          </a:xfrm>
          <a:prstGeom prst="rect">
            <a:avLst/>
          </a:prstGeom>
          <a:noFill/>
        </p:spPr>
        <p:txBody>
          <a:bodyPr wrap="square"/>
          <a:lstStyle/>
          <a:p>
            <a:pPr algn="l">
              <a:lnSpc>
                <a:spcPts val="1375"/>
              </a:lnSpc>
              <a:defRPr sz="1100" b="1">
                <a:solidFill>
                  <a:srgbClr val="0F172A"/>
                </a:solidFill>
                <a:latin typeface="Calibri"/>
              </a:defRPr>
            </a:pPr>
            <a:r>
              <a:t>⚖️  Nguyên lý I:</a:t>
            </a:r>
          </a:p>
        </p:txBody>
      </p:sp>
      <p:sp>
        <p:nvSpPr>
          <p:cNvPr id="10" name="TextBox 9"/>
          <p:cNvSpPr txBox="1"/>
          <p:nvPr/>
        </p:nvSpPr>
        <p:spPr>
          <a:xfrm>
            <a:off x="640080" y="4023360"/>
            <a:ext cx="6309360" cy="1234440"/>
          </a:xfrm>
          <a:prstGeom prst="rect">
            <a:avLst/>
          </a:prstGeom>
          <a:noFill/>
        </p:spPr>
        <p:txBody>
          <a:bodyPr wrap="square"/>
          <a:lstStyle/>
          <a:p>
            <a:pPr algn="l">
              <a:lnSpc>
                <a:spcPts val="1125"/>
              </a:lnSpc>
              <a:defRPr sz="900" b="0">
                <a:solidFill>
                  <a:srgbClr val="475569"/>
                </a:solidFill>
                <a:latin typeface="Calibri"/>
              </a:defRPr>
            </a:pPr>
            <a:r>
              <a:t>ΔU = A + Q  (hữu hạn)  |  dU = δQ − p·dV (vi phân)</a:t>
            </a:r>
            <a:br/>
            <a:r>
              <a:t>• Chu trình kín: ΔU=0 → A = −Q (nhiệt nhận = công sinh)</a:t>
            </a:r>
            <a:br/>
            <a:r>
              <a:t>• Hệ cô lập: A=Q=0 → ΔU=0 → U=const (không có ĐC vĩnh cửu loại I)</a:t>
            </a:r>
          </a:p>
        </p:txBody>
      </p:sp>
      <p:pic>
        <p:nvPicPr>
          <p:cNvPr id="11" name="Picture 10" descr="c6_nguyenly1.jpg"/>
          <p:cNvPicPr>
            <a:picLocks noChangeAspect="1"/>
          </p:cNvPicPr>
          <p:nvPr/>
        </p:nvPicPr>
        <p:blipFill>
          <a:blip r:embed="rId2"/>
          <a:stretch>
            <a:fillRect/>
          </a:stretch>
        </p:blipFill>
        <p:spPr>
          <a:xfrm>
            <a:off x="7452360" y="960120"/>
            <a:ext cx="4251960" cy="2606040"/>
          </a:xfrm>
          <a:prstGeom prst="rect">
            <a:avLst/>
          </a:prstGeom>
        </p:spPr>
      </p:pic>
      <p:sp>
        <p:nvSpPr>
          <p:cNvPr id="12" name="TextBox 11"/>
          <p:cNvSpPr txBox="1"/>
          <p:nvPr/>
        </p:nvSpPr>
        <p:spPr>
          <a:xfrm>
            <a:off x="7452360" y="3611880"/>
            <a:ext cx="4251960" cy="256032"/>
          </a:xfrm>
          <a:prstGeom prst="rect">
            <a:avLst/>
          </a:prstGeom>
          <a:noFill/>
        </p:spPr>
        <p:txBody>
          <a:bodyPr wrap="square"/>
          <a:lstStyle/>
          <a:p>
            <a:pPr algn="ctr">
              <a:lnSpc>
                <a:spcPts val="875"/>
              </a:lnSpc>
              <a:defRPr sz="700" b="0">
                <a:solidFill>
                  <a:srgbClr val="94A3B8"/>
                </a:solidFill>
                <a:latin typeface="Calibri"/>
              </a:defRPr>
            </a:pPr>
            <a:r>
              <a:t>Hình 7 — 4 quá trình trên p-V</a:t>
            </a:r>
          </a:p>
        </p:txBody>
      </p:sp>
      <p:sp>
        <p:nvSpPr>
          <p:cNvPr id="13" name="Rounded Rectangle 12"/>
          <p:cNvSpPr/>
          <p:nvPr/>
        </p:nvSpPr>
        <p:spPr>
          <a:xfrm>
            <a:off x="7452360" y="3977639"/>
            <a:ext cx="4251960" cy="11430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38BDF8"/>
                </a:solidFill>
              </a:rPr>
              <a:t>ΔU = A + Q  |  dU = δQ − p dV</a:t>
            </a:r>
          </a:p>
          <a:p>
            <a:pPr algn="ctr"/>
            <a:r>
              <a:rPr sz="800">
                <a:solidFill>
                  <a:srgbClr val="FDE68A"/>
                </a:solidFill>
              </a:rPr>
              <a:t>U = ν C_V T  |  C_p−C_V=R  |  γ=C_p/C_V</a:t>
            </a:r>
          </a:p>
        </p:txBody>
      </p:sp>
      <p:sp>
        <p:nvSpPr>
          <p:cNvPr id="14" name="Rounded Rectangle 13"/>
          <p:cNvSpPr/>
          <p:nvPr/>
        </p:nvSpPr>
        <p:spPr>
          <a:xfrm>
            <a:off x="7452360" y="5257800"/>
            <a:ext cx="4251960" cy="114300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5349240"/>
            <a:ext cx="3977639" cy="960120"/>
          </a:xfrm>
          <a:prstGeom prst="rect">
            <a:avLst/>
          </a:prstGeom>
          <a:noFill/>
        </p:spPr>
        <p:txBody>
          <a:bodyPr wrap="square"/>
          <a:lstStyle/>
          <a:p>
            <a:pPr algn="l">
              <a:lnSpc>
                <a:spcPts val="875"/>
              </a:lnSpc>
              <a:defRPr sz="700" b="0">
                <a:solidFill>
                  <a:srgbClr val="475569"/>
                </a:solidFill>
                <a:latin typeface="Calibri"/>
              </a:defRPr>
            </a:pPr>
            <a:r>
              <a:t>📌 C_V=i/2·R, C_p=(i/2+1)R, i=3 đơn, 5 hai, 6 đa nguyên tử</a:t>
            </a:r>
            <a:br/>
            <a:r>
              <a:t>→ He C_V=3/2R, O₂ C_V=5/2R</a:t>
            </a:r>
          </a:p>
        </p:txBody>
      </p:sp>
      <p:sp>
        <p:nvSpPr>
          <p:cNvPr id="16" name="TextBox 15"/>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6</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C6. Bốn quá trình — Một bảng nhớ cả chương (2/3)</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11365992" cy="3703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10881360" cy="256032"/>
          </a:xfrm>
          <a:prstGeom prst="rect">
            <a:avLst/>
          </a:prstGeom>
          <a:noFill/>
        </p:spPr>
        <p:txBody>
          <a:bodyPr wrap="square"/>
          <a:lstStyle/>
          <a:p>
            <a:pPr algn="l">
              <a:lnSpc>
                <a:spcPts val="1250"/>
              </a:lnSpc>
              <a:defRPr sz="1000" b="1">
                <a:solidFill>
                  <a:srgbClr val="0F172A"/>
                </a:solidFill>
                <a:latin typeface="Calibri"/>
              </a:defRPr>
            </a:pPr>
            <a:r>
              <a:t>📊  Chỉ nhớ 2 điều: ΔU=νC_VΔT (luôn đúng) và A=−∫p dV. Còn lại suy từ ΔU=A+Q</a:t>
            </a:r>
          </a:p>
        </p:txBody>
      </p:sp>
      <p:sp>
        <p:nvSpPr>
          <p:cNvPr id="8" name="Rounded Rectangle 7"/>
          <p:cNvSpPr/>
          <p:nvPr/>
        </p:nvSpPr>
        <p:spPr>
          <a:xfrm>
            <a:off x="548640" y="1463040"/>
            <a:ext cx="11091672" cy="310896"/>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517904"/>
            <a:ext cx="1645920" cy="201168"/>
          </a:xfrm>
          <a:prstGeom prst="rect">
            <a:avLst/>
          </a:prstGeom>
          <a:noFill/>
        </p:spPr>
        <p:txBody>
          <a:bodyPr wrap="square"/>
          <a:lstStyle/>
          <a:p>
            <a:pPr algn="ctr">
              <a:lnSpc>
                <a:spcPts val="812"/>
              </a:lnSpc>
              <a:defRPr sz="650" b="1">
                <a:solidFill>
                  <a:srgbClr val="475569"/>
                </a:solidFill>
                <a:latin typeface="Calibri"/>
              </a:defRPr>
            </a:pPr>
            <a:r>
              <a:t>QUÁ TRÌNH</a:t>
            </a:r>
          </a:p>
        </p:txBody>
      </p:sp>
      <p:sp>
        <p:nvSpPr>
          <p:cNvPr id="10" name="TextBox 9"/>
          <p:cNvSpPr txBox="1"/>
          <p:nvPr/>
        </p:nvSpPr>
        <p:spPr>
          <a:xfrm>
            <a:off x="2423160" y="1517904"/>
            <a:ext cx="1463040" cy="201168"/>
          </a:xfrm>
          <a:prstGeom prst="rect">
            <a:avLst/>
          </a:prstGeom>
          <a:noFill/>
        </p:spPr>
        <p:txBody>
          <a:bodyPr wrap="square"/>
          <a:lstStyle/>
          <a:p>
            <a:pPr algn="ctr">
              <a:lnSpc>
                <a:spcPts val="812"/>
              </a:lnSpc>
              <a:defRPr sz="650" b="1">
                <a:solidFill>
                  <a:srgbClr val="475569"/>
                </a:solidFill>
                <a:latin typeface="Calibri"/>
              </a:defRPr>
            </a:pPr>
            <a:r>
              <a:t>ĐIỀU KIỆN</a:t>
            </a:r>
          </a:p>
        </p:txBody>
      </p:sp>
      <p:sp>
        <p:nvSpPr>
          <p:cNvPr id="11" name="TextBox 10"/>
          <p:cNvSpPr txBox="1"/>
          <p:nvPr/>
        </p:nvSpPr>
        <p:spPr>
          <a:xfrm>
            <a:off x="3977640" y="1517904"/>
            <a:ext cx="1645920" cy="201168"/>
          </a:xfrm>
          <a:prstGeom prst="rect">
            <a:avLst/>
          </a:prstGeom>
          <a:noFill/>
        </p:spPr>
        <p:txBody>
          <a:bodyPr wrap="square"/>
          <a:lstStyle/>
          <a:p>
            <a:pPr algn="ctr">
              <a:lnSpc>
                <a:spcPts val="812"/>
              </a:lnSpc>
              <a:defRPr sz="650" b="1">
                <a:solidFill>
                  <a:srgbClr val="475569"/>
                </a:solidFill>
                <a:latin typeface="Calibri"/>
              </a:defRPr>
            </a:pPr>
            <a:r>
              <a:t>ΔU</a:t>
            </a:r>
          </a:p>
        </p:txBody>
      </p:sp>
      <p:sp>
        <p:nvSpPr>
          <p:cNvPr id="12" name="TextBox 11"/>
          <p:cNvSpPr txBox="1"/>
          <p:nvPr/>
        </p:nvSpPr>
        <p:spPr>
          <a:xfrm>
            <a:off x="5715000" y="1517904"/>
            <a:ext cx="1920240" cy="201168"/>
          </a:xfrm>
          <a:prstGeom prst="rect">
            <a:avLst/>
          </a:prstGeom>
          <a:noFill/>
        </p:spPr>
        <p:txBody>
          <a:bodyPr wrap="square"/>
          <a:lstStyle/>
          <a:p>
            <a:pPr algn="ctr">
              <a:lnSpc>
                <a:spcPts val="812"/>
              </a:lnSpc>
              <a:defRPr sz="650" b="1">
                <a:solidFill>
                  <a:srgbClr val="475569"/>
                </a:solidFill>
                <a:latin typeface="Calibri"/>
              </a:defRPr>
            </a:pPr>
            <a:r>
              <a:t>A (HỆ NHẬN)</a:t>
            </a:r>
          </a:p>
        </p:txBody>
      </p:sp>
      <p:sp>
        <p:nvSpPr>
          <p:cNvPr id="13" name="TextBox 12"/>
          <p:cNvSpPr txBox="1"/>
          <p:nvPr/>
        </p:nvSpPr>
        <p:spPr>
          <a:xfrm>
            <a:off x="7726680" y="1517904"/>
            <a:ext cx="1645920" cy="201168"/>
          </a:xfrm>
          <a:prstGeom prst="rect">
            <a:avLst/>
          </a:prstGeom>
          <a:noFill/>
        </p:spPr>
        <p:txBody>
          <a:bodyPr wrap="square"/>
          <a:lstStyle/>
          <a:p>
            <a:pPr algn="ctr">
              <a:lnSpc>
                <a:spcPts val="812"/>
              </a:lnSpc>
              <a:defRPr sz="650" b="1">
                <a:solidFill>
                  <a:srgbClr val="475569"/>
                </a:solidFill>
                <a:latin typeface="Calibri"/>
              </a:defRPr>
            </a:pPr>
            <a:r>
              <a:t>Q</a:t>
            </a:r>
          </a:p>
        </p:txBody>
      </p:sp>
      <p:sp>
        <p:nvSpPr>
          <p:cNvPr id="14" name="TextBox 13"/>
          <p:cNvSpPr txBox="1"/>
          <p:nvPr/>
        </p:nvSpPr>
        <p:spPr>
          <a:xfrm>
            <a:off x="9464040" y="1517904"/>
            <a:ext cx="2011680" cy="201168"/>
          </a:xfrm>
          <a:prstGeom prst="rect">
            <a:avLst/>
          </a:prstGeom>
          <a:noFill/>
        </p:spPr>
        <p:txBody>
          <a:bodyPr wrap="square"/>
          <a:lstStyle/>
          <a:p>
            <a:pPr algn="ctr">
              <a:lnSpc>
                <a:spcPts val="812"/>
              </a:lnSpc>
              <a:defRPr sz="650" b="1">
                <a:solidFill>
                  <a:srgbClr val="475569"/>
                </a:solidFill>
                <a:latin typeface="Calibri"/>
              </a:defRPr>
            </a:pPr>
            <a:r>
              <a:t>PHƯƠNG TRÌNH</a:t>
            </a:r>
          </a:p>
        </p:txBody>
      </p:sp>
      <p:sp>
        <p:nvSpPr>
          <p:cNvPr id="15" name="Rounded Rectangle 14"/>
          <p:cNvSpPr/>
          <p:nvPr/>
        </p:nvSpPr>
        <p:spPr>
          <a:xfrm>
            <a:off x="548640" y="1773936"/>
            <a:ext cx="11091672" cy="566928"/>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847088"/>
            <a:ext cx="1645920" cy="420624"/>
          </a:xfrm>
          <a:prstGeom prst="rect">
            <a:avLst/>
          </a:prstGeom>
          <a:noFill/>
        </p:spPr>
        <p:txBody>
          <a:bodyPr wrap="square">
            <a:spAutoFit/>
          </a:bodyPr>
          <a:lstStyle/>
          <a:p>
            <a:pPr algn="ctr">
              <a:lnSpc>
                <a:spcPts val="900"/>
              </a:lnSpc>
              <a:defRPr sz="800" b="1">
                <a:solidFill>
                  <a:srgbClr val="0F172A"/>
                </a:solidFill>
                <a:latin typeface="Calibri"/>
              </a:defRPr>
            </a:pPr>
            <a:r>
              <a:t>Đẳng tích</a:t>
            </a:r>
          </a:p>
        </p:txBody>
      </p:sp>
      <p:sp>
        <p:nvSpPr>
          <p:cNvPr id="17" name="TextBox 16"/>
          <p:cNvSpPr txBox="1"/>
          <p:nvPr/>
        </p:nvSpPr>
        <p:spPr>
          <a:xfrm>
            <a:off x="2423160" y="1847088"/>
            <a:ext cx="1463040" cy="420624"/>
          </a:xfrm>
          <a:prstGeom prst="rect">
            <a:avLst/>
          </a:prstGeom>
          <a:noFill/>
        </p:spPr>
        <p:txBody>
          <a:bodyPr wrap="square">
            <a:spAutoFit/>
          </a:bodyPr>
          <a:lstStyle/>
          <a:p>
            <a:pPr algn="ctr">
              <a:lnSpc>
                <a:spcPts val="900"/>
              </a:lnSpc>
              <a:defRPr sz="800" b="0">
                <a:solidFill>
                  <a:srgbClr val="1E293B"/>
                </a:solidFill>
                <a:latin typeface="Calibri"/>
              </a:defRPr>
            </a:pPr>
            <a:r>
              <a:t>V=const</a:t>
            </a:r>
          </a:p>
        </p:txBody>
      </p:sp>
      <p:sp>
        <p:nvSpPr>
          <p:cNvPr id="18" name="TextBox 17"/>
          <p:cNvSpPr txBox="1"/>
          <p:nvPr/>
        </p:nvSpPr>
        <p:spPr>
          <a:xfrm>
            <a:off x="3977640" y="1847088"/>
            <a:ext cx="1645920" cy="420624"/>
          </a:xfrm>
          <a:prstGeom prst="rect">
            <a:avLst/>
          </a:prstGeom>
          <a:noFill/>
        </p:spPr>
        <p:txBody>
          <a:bodyPr wrap="square">
            <a:spAutoFit/>
          </a:bodyPr>
          <a:lstStyle/>
          <a:p>
            <a:pPr algn="ctr">
              <a:lnSpc>
                <a:spcPts val="900"/>
              </a:lnSpc>
              <a:defRPr sz="750" b="0">
                <a:solidFill>
                  <a:srgbClr val="1E293B"/>
                </a:solidFill>
                <a:latin typeface="Calibri"/>
              </a:defRPr>
            </a:pPr>
            <a:r>
              <a:t>νC_VΔT</a:t>
            </a:r>
          </a:p>
        </p:txBody>
      </p:sp>
      <p:sp>
        <p:nvSpPr>
          <p:cNvPr id="19" name="TextBox 18"/>
          <p:cNvSpPr txBox="1"/>
          <p:nvPr/>
        </p:nvSpPr>
        <p:spPr>
          <a:xfrm>
            <a:off x="5715000" y="1847088"/>
            <a:ext cx="1920240" cy="420624"/>
          </a:xfrm>
          <a:prstGeom prst="rect">
            <a:avLst/>
          </a:prstGeom>
          <a:noFill/>
        </p:spPr>
        <p:txBody>
          <a:bodyPr wrap="square">
            <a:spAutoFit/>
          </a:bodyPr>
          <a:lstStyle/>
          <a:p>
            <a:pPr algn="ctr">
              <a:lnSpc>
                <a:spcPts val="900"/>
              </a:lnSpc>
              <a:defRPr sz="750" b="0">
                <a:solidFill>
                  <a:srgbClr val="1E293B"/>
                </a:solidFill>
                <a:latin typeface="Calibri"/>
              </a:defRPr>
            </a:pPr>
            <a:r>
              <a:t>0</a:t>
            </a:r>
          </a:p>
        </p:txBody>
      </p:sp>
      <p:sp>
        <p:nvSpPr>
          <p:cNvPr id="20" name="TextBox 19"/>
          <p:cNvSpPr txBox="1"/>
          <p:nvPr/>
        </p:nvSpPr>
        <p:spPr>
          <a:xfrm>
            <a:off x="7726680" y="1847088"/>
            <a:ext cx="1645920" cy="420624"/>
          </a:xfrm>
          <a:prstGeom prst="rect">
            <a:avLst/>
          </a:prstGeom>
          <a:noFill/>
        </p:spPr>
        <p:txBody>
          <a:bodyPr wrap="square">
            <a:spAutoFit/>
          </a:bodyPr>
          <a:lstStyle/>
          <a:p>
            <a:pPr algn="ctr">
              <a:lnSpc>
                <a:spcPts val="900"/>
              </a:lnSpc>
              <a:defRPr sz="750" b="0">
                <a:solidFill>
                  <a:srgbClr val="1E293B"/>
                </a:solidFill>
                <a:latin typeface="Calibri"/>
              </a:defRPr>
            </a:pPr>
            <a:r>
              <a:t>νC_VΔT</a:t>
            </a:r>
          </a:p>
        </p:txBody>
      </p:sp>
      <p:sp>
        <p:nvSpPr>
          <p:cNvPr id="21" name="TextBox 20"/>
          <p:cNvSpPr txBox="1"/>
          <p:nvPr/>
        </p:nvSpPr>
        <p:spPr>
          <a:xfrm>
            <a:off x="9464040" y="1847088"/>
            <a:ext cx="2011680" cy="420624"/>
          </a:xfrm>
          <a:prstGeom prst="rect">
            <a:avLst/>
          </a:prstGeom>
          <a:noFill/>
        </p:spPr>
        <p:txBody>
          <a:bodyPr wrap="square">
            <a:spAutoFit/>
          </a:bodyPr>
          <a:lstStyle/>
          <a:p>
            <a:pPr algn="ctr">
              <a:lnSpc>
                <a:spcPts val="900"/>
              </a:lnSpc>
              <a:defRPr sz="750" b="0">
                <a:solidFill>
                  <a:srgbClr val="1E293B"/>
                </a:solidFill>
                <a:latin typeface="Calibri"/>
              </a:defRPr>
            </a:pPr>
            <a:r>
              <a:t>p/T=const</a:t>
            </a:r>
          </a:p>
        </p:txBody>
      </p:sp>
      <p:sp>
        <p:nvSpPr>
          <p:cNvPr id="22" name="Rounded Rectangle 21"/>
          <p:cNvSpPr/>
          <p:nvPr/>
        </p:nvSpPr>
        <p:spPr>
          <a:xfrm>
            <a:off x="548640" y="2340864"/>
            <a:ext cx="11091672" cy="566928"/>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2414016"/>
            <a:ext cx="1645920" cy="420624"/>
          </a:xfrm>
          <a:prstGeom prst="rect">
            <a:avLst/>
          </a:prstGeom>
          <a:noFill/>
        </p:spPr>
        <p:txBody>
          <a:bodyPr wrap="square">
            <a:spAutoFit/>
          </a:bodyPr>
          <a:lstStyle/>
          <a:p>
            <a:pPr algn="ctr">
              <a:lnSpc>
                <a:spcPts val="900"/>
              </a:lnSpc>
              <a:defRPr sz="800" b="1">
                <a:solidFill>
                  <a:srgbClr val="0F172A"/>
                </a:solidFill>
                <a:latin typeface="Calibri"/>
              </a:defRPr>
            </a:pPr>
            <a:r>
              <a:t>Đẳng áp</a:t>
            </a:r>
          </a:p>
        </p:txBody>
      </p:sp>
      <p:sp>
        <p:nvSpPr>
          <p:cNvPr id="24" name="TextBox 23"/>
          <p:cNvSpPr txBox="1"/>
          <p:nvPr/>
        </p:nvSpPr>
        <p:spPr>
          <a:xfrm>
            <a:off x="2423160" y="2414016"/>
            <a:ext cx="1463040" cy="420624"/>
          </a:xfrm>
          <a:prstGeom prst="rect">
            <a:avLst/>
          </a:prstGeom>
          <a:noFill/>
        </p:spPr>
        <p:txBody>
          <a:bodyPr wrap="square">
            <a:spAutoFit/>
          </a:bodyPr>
          <a:lstStyle/>
          <a:p>
            <a:pPr algn="ctr">
              <a:lnSpc>
                <a:spcPts val="900"/>
              </a:lnSpc>
              <a:defRPr sz="800" b="0">
                <a:solidFill>
                  <a:srgbClr val="1E293B"/>
                </a:solidFill>
                <a:latin typeface="Calibri"/>
              </a:defRPr>
            </a:pPr>
            <a:r>
              <a:t>p=const</a:t>
            </a:r>
          </a:p>
        </p:txBody>
      </p:sp>
      <p:sp>
        <p:nvSpPr>
          <p:cNvPr id="25" name="TextBox 24"/>
          <p:cNvSpPr txBox="1"/>
          <p:nvPr/>
        </p:nvSpPr>
        <p:spPr>
          <a:xfrm>
            <a:off x="3977640" y="2414016"/>
            <a:ext cx="1645920" cy="420624"/>
          </a:xfrm>
          <a:prstGeom prst="rect">
            <a:avLst/>
          </a:prstGeom>
          <a:noFill/>
        </p:spPr>
        <p:txBody>
          <a:bodyPr wrap="square">
            <a:spAutoFit/>
          </a:bodyPr>
          <a:lstStyle/>
          <a:p>
            <a:pPr algn="ctr">
              <a:lnSpc>
                <a:spcPts val="900"/>
              </a:lnSpc>
              <a:defRPr sz="750" b="0">
                <a:solidFill>
                  <a:srgbClr val="1E293B"/>
                </a:solidFill>
                <a:latin typeface="Calibri"/>
              </a:defRPr>
            </a:pPr>
            <a:r>
              <a:t>νC_VΔT</a:t>
            </a:r>
          </a:p>
        </p:txBody>
      </p:sp>
      <p:sp>
        <p:nvSpPr>
          <p:cNvPr id="26" name="TextBox 25"/>
          <p:cNvSpPr txBox="1"/>
          <p:nvPr/>
        </p:nvSpPr>
        <p:spPr>
          <a:xfrm>
            <a:off x="5715000" y="2414016"/>
            <a:ext cx="1920240" cy="420624"/>
          </a:xfrm>
          <a:prstGeom prst="rect">
            <a:avLst/>
          </a:prstGeom>
          <a:noFill/>
        </p:spPr>
        <p:txBody>
          <a:bodyPr wrap="square">
            <a:spAutoFit/>
          </a:bodyPr>
          <a:lstStyle/>
          <a:p>
            <a:pPr algn="ctr">
              <a:lnSpc>
                <a:spcPts val="900"/>
              </a:lnSpc>
              <a:defRPr sz="750" b="0">
                <a:solidFill>
                  <a:srgbClr val="1E293B"/>
                </a:solidFill>
                <a:latin typeface="Calibri"/>
              </a:defRPr>
            </a:pPr>
            <a:r>
              <a:t>−pΔV=−νRΔT</a:t>
            </a:r>
          </a:p>
        </p:txBody>
      </p:sp>
      <p:sp>
        <p:nvSpPr>
          <p:cNvPr id="27" name="TextBox 26"/>
          <p:cNvSpPr txBox="1"/>
          <p:nvPr/>
        </p:nvSpPr>
        <p:spPr>
          <a:xfrm>
            <a:off x="7726680" y="2414016"/>
            <a:ext cx="1645920" cy="420624"/>
          </a:xfrm>
          <a:prstGeom prst="rect">
            <a:avLst/>
          </a:prstGeom>
          <a:noFill/>
        </p:spPr>
        <p:txBody>
          <a:bodyPr wrap="square">
            <a:spAutoFit/>
          </a:bodyPr>
          <a:lstStyle/>
          <a:p>
            <a:pPr algn="ctr">
              <a:lnSpc>
                <a:spcPts val="900"/>
              </a:lnSpc>
              <a:defRPr sz="750" b="0">
                <a:solidFill>
                  <a:srgbClr val="1E293B"/>
                </a:solidFill>
                <a:latin typeface="Calibri"/>
              </a:defRPr>
            </a:pPr>
            <a:r>
              <a:t>νC_PΔT</a:t>
            </a:r>
          </a:p>
        </p:txBody>
      </p:sp>
      <p:sp>
        <p:nvSpPr>
          <p:cNvPr id="28" name="TextBox 27"/>
          <p:cNvSpPr txBox="1"/>
          <p:nvPr/>
        </p:nvSpPr>
        <p:spPr>
          <a:xfrm>
            <a:off x="9464040" y="2414016"/>
            <a:ext cx="2011680" cy="420624"/>
          </a:xfrm>
          <a:prstGeom prst="rect">
            <a:avLst/>
          </a:prstGeom>
          <a:noFill/>
        </p:spPr>
        <p:txBody>
          <a:bodyPr wrap="square">
            <a:spAutoFit/>
          </a:bodyPr>
          <a:lstStyle/>
          <a:p>
            <a:pPr algn="ctr">
              <a:lnSpc>
                <a:spcPts val="900"/>
              </a:lnSpc>
              <a:defRPr sz="750" b="0">
                <a:solidFill>
                  <a:srgbClr val="1E293B"/>
                </a:solidFill>
                <a:latin typeface="Calibri"/>
              </a:defRPr>
            </a:pPr>
            <a:r>
              <a:t>V/T=const</a:t>
            </a:r>
          </a:p>
        </p:txBody>
      </p:sp>
      <p:sp>
        <p:nvSpPr>
          <p:cNvPr id="29" name="Rounded Rectangle 28"/>
          <p:cNvSpPr/>
          <p:nvPr/>
        </p:nvSpPr>
        <p:spPr>
          <a:xfrm>
            <a:off x="548640" y="2907792"/>
            <a:ext cx="11091672" cy="566928"/>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2980944"/>
            <a:ext cx="1645920" cy="420624"/>
          </a:xfrm>
          <a:prstGeom prst="rect">
            <a:avLst/>
          </a:prstGeom>
          <a:noFill/>
        </p:spPr>
        <p:txBody>
          <a:bodyPr wrap="square">
            <a:spAutoFit/>
          </a:bodyPr>
          <a:lstStyle/>
          <a:p>
            <a:pPr algn="ctr">
              <a:lnSpc>
                <a:spcPts val="900"/>
              </a:lnSpc>
              <a:defRPr sz="800" b="1">
                <a:solidFill>
                  <a:srgbClr val="0F172A"/>
                </a:solidFill>
                <a:latin typeface="Calibri"/>
              </a:defRPr>
            </a:pPr>
            <a:r>
              <a:t>Đẳng nhiệt</a:t>
            </a:r>
          </a:p>
        </p:txBody>
      </p:sp>
      <p:sp>
        <p:nvSpPr>
          <p:cNvPr id="31" name="TextBox 30"/>
          <p:cNvSpPr txBox="1"/>
          <p:nvPr/>
        </p:nvSpPr>
        <p:spPr>
          <a:xfrm>
            <a:off x="2423160" y="2980944"/>
            <a:ext cx="1463040" cy="420624"/>
          </a:xfrm>
          <a:prstGeom prst="rect">
            <a:avLst/>
          </a:prstGeom>
          <a:noFill/>
        </p:spPr>
        <p:txBody>
          <a:bodyPr wrap="square">
            <a:spAutoFit/>
          </a:bodyPr>
          <a:lstStyle/>
          <a:p>
            <a:pPr algn="ctr">
              <a:lnSpc>
                <a:spcPts val="900"/>
              </a:lnSpc>
              <a:defRPr sz="800" b="0">
                <a:solidFill>
                  <a:srgbClr val="1E293B"/>
                </a:solidFill>
                <a:latin typeface="Calibri"/>
              </a:defRPr>
            </a:pPr>
            <a:r>
              <a:t>T=const</a:t>
            </a:r>
          </a:p>
        </p:txBody>
      </p:sp>
      <p:sp>
        <p:nvSpPr>
          <p:cNvPr id="32" name="TextBox 31"/>
          <p:cNvSpPr txBox="1"/>
          <p:nvPr/>
        </p:nvSpPr>
        <p:spPr>
          <a:xfrm>
            <a:off x="3977640" y="2980944"/>
            <a:ext cx="1645920" cy="420624"/>
          </a:xfrm>
          <a:prstGeom prst="rect">
            <a:avLst/>
          </a:prstGeom>
          <a:noFill/>
        </p:spPr>
        <p:txBody>
          <a:bodyPr wrap="square">
            <a:spAutoFit/>
          </a:bodyPr>
          <a:lstStyle/>
          <a:p>
            <a:pPr algn="ctr">
              <a:lnSpc>
                <a:spcPts val="900"/>
              </a:lnSpc>
              <a:defRPr sz="750" b="0">
                <a:solidFill>
                  <a:srgbClr val="1E293B"/>
                </a:solidFill>
                <a:latin typeface="Calibri"/>
              </a:defRPr>
            </a:pPr>
            <a:r>
              <a:t>0</a:t>
            </a:r>
          </a:p>
        </p:txBody>
      </p:sp>
      <p:sp>
        <p:nvSpPr>
          <p:cNvPr id="33" name="TextBox 32"/>
          <p:cNvSpPr txBox="1"/>
          <p:nvPr/>
        </p:nvSpPr>
        <p:spPr>
          <a:xfrm>
            <a:off x="5715000" y="2980944"/>
            <a:ext cx="1920240" cy="420624"/>
          </a:xfrm>
          <a:prstGeom prst="rect">
            <a:avLst/>
          </a:prstGeom>
          <a:noFill/>
        </p:spPr>
        <p:txBody>
          <a:bodyPr wrap="square">
            <a:spAutoFit/>
          </a:bodyPr>
          <a:lstStyle/>
          <a:p>
            <a:pPr algn="ctr">
              <a:lnSpc>
                <a:spcPts val="900"/>
              </a:lnSpc>
              <a:defRPr sz="750" b="0">
                <a:solidFill>
                  <a:srgbClr val="1E293B"/>
                </a:solidFill>
                <a:latin typeface="Calibri"/>
              </a:defRPr>
            </a:pPr>
            <a:r>
              <a:t>νRT ln(V₁/V₂)</a:t>
            </a:r>
          </a:p>
        </p:txBody>
      </p:sp>
      <p:sp>
        <p:nvSpPr>
          <p:cNvPr id="34" name="TextBox 33"/>
          <p:cNvSpPr txBox="1"/>
          <p:nvPr/>
        </p:nvSpPr>
        <p:spPr>
          <a:xfrm>
            <a:off x="7726680" y="2980944"/>
            <a:ext cx="1645920" cy="420624"/>
          </a:xfrm>
          <a:prstGeom prst="rect">
            <a:avLst/>
          </a:prstGeom>
          <a:noFill/>
        </p:spPr>
        <p:txBody>
          <a:bodyPr wrap="square">
            <a:spAutoFit/>
          </a:bodyPr>
          <a:lstStyle/>
          <a:p>
            <a:pPr algn="ctr">
              <a:lnSpc>
                <a:spcPts val="900"/>
              </a:lnSpc>
              <a:defRPr sz="750" b="0">
                <a:solidFill>
                  <a:srgbClr val="1E293B"/>
                </a:solidFill>
                <a:latin typeface="Calibri"/>
              </a:defRPr>
            </a:pPr>
            <a:r>
              <a:t>−A</a:t>
            </a:r>
          </a:p>
        </p:txBody>
      </p:sp>
      <p:sp>
        <p:nvSpPr>
          <p:cNvPr id="35" name="TextBox 34"/>
          <p:cNvSpPr txBox="1"/>
          <p:nvPr/>
        </p:nvSpPr>
        <p:spPr>
          <a:xfrm>
            <a:off x="9464040" y="2980944"/>
            <a:ext cx="2011680" cy="420624"/>
          </a:xfrm>
          <a:prstGeom prst="rect">
            <a:avLst/>
          </a:prstGeom>
          <a:noFill/>
        </p:spPr>
        <p:txBody>
          <a:bodyPr wrap="square">
            <a:spAutoFit/>
          </a:bodyPr>
          <a:lstStyle/>
          <a:p>
            <a:pPr algn="ctr">
              <a:lnSpc>
                <a:spcPts val="900"/>
              </a:lnSpc>
              <a:defRPr sz="750" b="0">
                <a:solidFill>
                  <a:srgbClr val="1E293B"/>
                </a:solidFill>
                <a:latin typeface="Calibri"/>
              </a:defRPr>
            </a:pPr>
            <a:r>
              <a:t>pV=const</a:t>
            </a:r>
          </a:p>
        </p:txBody>
      </p:sp>
      <p:sp>
        <p:nvSpPr>
          <p:cNvPr id="36" name="Rounded Rectangle 35"/>
          <p:cNvSpPr/>
          <p:nvPr/>
        </p:nvSpPr>
        <p:spPr>
          <a:xfrm>
            <a:off x="548640" y="3474720"/>
            <a:ext cx="11091672" cy="566928"/>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3547872"/>
            <a:ext cx="1645920" cy="420624"/>
          </a:xfrm>
          <a:prstGeom prst="rect">
            <a:avLst/>
          </a:prstGeom>
          <a:noFill/>
        </p:spPr>
        <p:txBody>
          <a:bodyPr wrap="square">
            <a:spAutoFit/>
          </a:bodyPr>
          <a:lstStyle/>
          <a:p>
            <a:pPr algn="ctr">
              <a:lnSpc>
                <a:spcPts val="900"/>
              </a:lnSpc>
              <a:defRPr sz="800" b="1">
                <a:solidFill>
                  <a:srgbClr val="0F172A"/>
                </a:solidFill>
                <a:latin typeface="Calibri"/>
              </a:defRPr>
            </a:pPr>
            <a:r>
              <a:t>Đoạn nhiệt</a:t>
            </a:r>
          </a:p>
        </p:txBody>
      </p:sp>
      <p:sp>
        <p:nvSpPr>
          <p:cNvPr id="38" name="TextBox 37"/>
          <p:cNvSpPr txBox="1"/>
          <p:nvPr/>
        </p:nvSpPr>
        <p:spPr>
          <a:xfrm>
            <a:off x="2423160" y="3547872"/>
            <a:ext cx="1463040" cy="420624"/>
          </a:xfrm>
          <a:prstGeom prst="rect">
            <a:avLst/>
          </a:prstGeom>
          <a:noFill/>
        </p:spPr>
        <p:txBody>
          <a:bodyPr wrap="square">
            <a:spAutoFit/>
          </a:bodyPr>
          <a:lstStyle/>
          <a:p>
            <a:pPr algn="ctr">
              <a:lnSpc>
                <a:spcPts val="900"/>
              </a:lnSpc>
              <a:defRPr sz="800" b="0">
                <a:solidFill>
                  <a:srgbClr val="1E293B"/>
                </a:solidFill>
                <a:latin typeface="Calibri"/>
              </a:defRPr>
            </a:pPr>
            <a:r>
              <a:t>Q=0</a:t>
            </a:r>
          </a:p>
        </p:txBody>
      </p:sp>
      <p:sp>
        <p:nvSpPr>
          <p:cNvPr id="39" name="TextBox 38"/>
          <p:cNvSpPr txBox="1"/>
          <p:nvPr/>
        </p:nvSpPr>
        <p:spPr>
          <a:xfrm>
            <a:off x="3977640" y="3547872"/>
            <a:ext cx="1645920" cy="420624"/>
          </a:xfrm>
          <a:prstGeom prst="rect">
            <a:avLst/>
          </a:prstGeom>
          <a:noFill/>
        </p:spPr>
        <p:txBody>
          <a:bodyPr wrap="square">
            <a:spAutoFit/>
          </a:bodyPr>
          <a:lstStyle/>
          <a:p>
            <a:pPr algn="ctr">
              <a:lnSpc>
                <a:spcPts val="900"/>
              </a:lnSpc>
              <a:defRPr sz="750" b="0">
                <a:solidFill>
                  <a:srgbClr val="1E293B"/>
                </a:solidFill>
                <a:latin typeface="Calibri"/>
              </a:defRPr>
            </a:pPr>
            <a:r>
              <a:t>νC_VΔT</a:t>
            </a:r>
          </a:p>
        </p:txBody>
      </p:sp>
      <p:sp>
        <p:nvSpPr>
          <p:cNvPr id="40" name="TextBox 39"/>
          <p:cNvSpPr txBox="1"/>
          <p:nvPr/>
        </p:nvSpPr>
        <p:spPr>
          <a:xfrm>
            <a:off x="5715000" y="3547872"/>
            <a:ext cx="1920240" cy="420624"/>
          </a:xfrm>
          <a:prstGeom prst="rect">
            <a:avLst/>
          </a:prstGeom>
          <a:noFill/>
        </p:spPr>
        <p:txBody>
          <a:bodyPr wrap="square">
            <a:spAutoFit/>
          </a:bodyPr>
          <a:lstStyle/>
          <a:p>
            <a:pPr algn="ctr">
              <a:lnSpc>
                <a:spcPts val="900"/>
              </a:lnSpc>
              <a:defRPr sz="750" b="0">
                <a:solidFill>
                  <a:srgbClr val="1E293B"/>
                </a:solidFill>
                <a:latin typeface="Calibri"/>
              </a:defRPr>
            </a:pPr>
            <a:r>
              <a:t>ΔU</a:t>
            </a:r>
          </a:p>
        </p:txBody>
      </p:sp>
      <p:sp>
        <p:nvSpPr>
          <p:cNvPr id="41" name="TextBox 40"/>
          <p:cNvSpPr txBox="1"/>
          <p:nvPr/>
        </p:nvSpPr>
        <p:spPr>
          <a:xfrm>
            <a:off x="7726680" y="3547872"/>
            <a:ext cx="1645920" cy="420624"/>
          </a:xfrm>
          <a:prstGeom prst="rect">
            <a:avLst/>
          </a:prstGeom>
          <a:noFill/>
        </p:spPr>
        <p:txBody>
          <a:bodyPr wrap="square">
            <a:spAutoFit/>
          </a:bodyPr>
          <a:lstStyle/>
          <a:p>
            <a:pPr algn="ctr">
              <a:lnSpc>
                <a:spcPts val="900"/>
              </a:lnSpc>
              <a:defRPr sz="750" b="0">
                <a:solidFill>
                  <a:srgbClr val="1E293B"/>
                </a:solidFill>
                <a:latin typeface="Calibri"/>
              </a:defRPr>
            </a:pPr>
            <a:r>
              <a:t>0</a:t>
            </a:r>
          </a:p>
        </p:txBody>
      </p:sp>
      <p:sp>
        <p:nvSpPr>
          <p:cNvPr id="42" name="TextBox 41"/>
          <p:cNvSpPr txBox="1"/>
          <p:nvPr/>
        </p:nvSpPr>
        <p:spPr>
          <a:xfrm>
            <a:off x="9464040" y="3547872"/>
            <a:ext cx="2011680" cy="420624"/>
          </a:xfrm>
          <a:prstGeom prst="rect">
            <a:avLst/>
          </a:prstGeom>
          <a:noFill/>
        </p:spPr>
        <p:txBody>
          <a:bodyPr wrap="square">
            <a:spAutoFit/>
          </a:bodyPr>
          <a:lstStyle/>
          <a:p>
            <a:pPr algn="ctr">
              <a:lnSpc>
                <a:spcPts val="900"/>
              </a:lnSpc>
              <a:defRPr sz="750" b="0">
                <a:solidFill>
                  <a:srgbClr val="1E293B"/>
                </a:solidFill>
                <a:latin typeface="Calibri"/>
              </a:defRPr>
            </a:pPr>
            <a:r>
              <a:t>pV^γ=const</a:t>
            </a:r>
          </a:p>
        </p:txBody>
      </p:sp>
      <p:sp>
        <p:nvSpPr>
          <p:cNvPr id="43" name="TextBox 42"/>
          <p:cNvSpPr txBox="1"/>
          <p:nvPr/>
        </p:nvSpPr>
        <p:spPr>
          <a:xfrm>
            <a:off x="640080" y="4069080"/>
            <a:ext cx="10881360" cy="292608"/>
          </a:xfrm>
          <a:prstGeom prst="rect">
            <a:avLst/>
          </a:prstGeom>
          <a:noFill/>
        </p:spPr>
        <p:txBody>
          <a:bodyPr wrap="square"/>
          <a:lstStyle/>
          <a:p>
            <a:pPr algn="l">
              <a:lnSpc>
                <a:spcPts val="1000"/>
              </a:lnSpc>
              <a:defRPr sz="800" b="0">
                <a:solidFill>
                  <a:srgbClr val="475569"/>
                </a:solidFill>
                <a:latin typeface="Calibri"/>
              </a:defRPr>
            </a:pPr>
            <a:r>
              <a:t>→ Nói: “Đẳng tích nhốt → không sinh công, đẳng nhiệt ΔU=0 → Q bù A, đoạn nhiệt cách nhiệt → Q=0”</a:t>
            </a:r>
          </a:p>
        </p:txBody>
      </p:sp>
      <p:sp>
        <p:nvSpPr>
          <p:cNvPr id="44" name="Rounded Rectangle 43"/>
          <p:cNvSpPr/>
          <p:nvPr/>
        </p:nvSpPr>
        <p:spPr>
          <a:xfrm>
            <a:off x="411480" y="4846320"/>
            <a:ext cx="11365992" cy="1691640"/>
          </a:xfrm>
          <a:prstGeom prst="roundRect">
            <a:avLst/>
          </a:prstGeom>
          <a:solidFill>
            <a:srgbClr val="FFFBEB"/>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4983480"/>
            <a:ext cx="10881360" cy="256032"/>
          </a:xfrm>
          <a:prstGeom prst="rect">
            <a:avLst/>
          </a:prstGeom>
          <a:noFill/>
        </p:spPr>
        <p:txBody>
          <a:bodyPr wrap="square"/>
          <a:lstStyle/>
          <a:p>
            <a:pPr algn="l">
              <a:lnSpc>
                <a:spcPts val="1125"/>
              </a:lnSpc>
              <a:defRPr sz="900" b="1">
                <a:solidFill>
                  <a:srgbClr val="92400E"/>
                </a:solidFill>
                <a:latin typeface="Calibri"/>
              </a:defRPr>
            </a:pPr>
            <a:r>
              <a:t>📝  Bổ sung với m/μ = ν (khi đề cho khối lượng):</a:t>
            </a:r>
          </a:p>
        </p:txBody>
      </p:sp>
      <p:sp>
        <p:nvSpPr>
          <p:cNvPr id="46" name="TextBox 45"/>
          <p:cNvSpPr txBox="1"/>
          <p:nvPr/>
        </p:nvSpPr>
        <p:spPr>
          <a:xfrm>
            <a:off x="640080" y="5257800"/>
            <a:ext cx="10881360" cy="1097280"/>
          </a:xfrm>
          <a:prstGeom prst="rect">
            <a:avLst/>
          </a:prstGeom>
          <a:noFill/>
        </p:spPr>
        <p:txBody>
          <a:bodyPr wrap="square"/>
          <a:lstStyle/>
          <a:p>
            <a:pPr algn="l">
              <a:lnSpc>
                <a:spcPts val="1000"/>
              </a:lnSpc>
              <a:defRPr sz="800" b="0">
                <a:solidFill>
                  <a:srgbClr val="475569"/>
                </a:solidFill>
                <a:latin typeface="Calibri"/>
              </a:defRPr>
            </a:pPr>
            <a:r>
              <a:t>U=(m/μ)·i/2·RT  |  C_V=i/2·R, C_p=(i/2+1)R  |  Đoạn nhiệt: A=(p₁V₁−p₂V₂)/(γ−1), pV^γ=const, TV^{γ−1}=const</a:t>
            </a:r>
            <a:br/>
            <a:r>
              <a:t>• i=3 đơn nguyên tử (He), i=5 hai nguyên tử (O₂,N₂), i=6 đa nguyên tử (CO₂). He C_V=3/2R, O₂ C_V=5/2R.</a:t>
            </a:r>
          </a:p>
        </p:txBody>
      </p:sp>
      <p:sp>
        <p:nvSpPr>
          <p:cNvPr id="47" name="TextBox 46"/>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19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6</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C6. Ví dụ &amp; Bẫy — Đừng để mất dấu (3/3)</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7132320" cy="5440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6675120" cy="256032"/>
          </a:xfrm>
          <a:prstGeom prst="rect">
            <a:avLst/>
          </a:prstGeom>
          <a:noFill/>
        </p:spPr>
        <p:txBody>
          <a:bodyPr wrap="square"/>
          <a:lstStyle/>
          <a:p>
            <a:pPr algn="l">
              <a:lnSpc>
                <a:spcPts val="1250"/>
              </a:lnSpc>
              <a:defRPr sz="1000" b="1">
                <a:solidFill>
                  <a:srgbClr val="0F172A"/>
                </a:solidFill>
                <a:latin typeface="Calibri"/>
              </a:defRPr>
            </a:pPr>
            <a:r>
              <a:t>📝  Ví dụ so sánh — Cùng giãn V₁→2V₁, 1 mol:</a:t>
            </a:r>
          </a:p>
        </p:txBody>
      </p:sp>
      <p:sp>
        <p:nvSpPr>
          <p:cNvPr id="8" name="TextBox 7"/>
          <p:cNvSpPr txBox="1"/>
          <p:nvPr/>
        </p:nvSpPr>
        <p:spPr>
          <a:xfrm>
            <a:off x="640080" y="1463040"/>
            <a:ext cx="6675120" cy="1920240"/>
          </a:xfrm>
          <a:prstGeom prst="rect">
            <a:avLst/>
          </a:prstGeom>
          <a:noFill/>
        </p:spPr>
        <p:txBody>
          <a:bodyPr wrap="square">
            <a:spAutoFit/>
          </a:bodyPr>
          <a:lstStyle/>
          <a:p>
            <a:pPr>
              <a:spcAft>
                <a:spcPts val="500"/>
              </a:spcAft>
            </a:pPr>
            <a:r>
              <a:rPr sz="900" b="1">
                <a:solidFill>
                  <a:srgbClr val="1E293B"/>
                </a:solidFill>
              </a:rPr>
              <a:t>• Đẳng nhiệt: </a:t>
            </a:r>
            <a:r>
              <a:rPr sz="850">
                <a:solidFill>
                  <a:srgbClr val="475569"/>
                </a:solidFill>
              </a:rPr>
              <a:t>A = −RT ln2 ≈ −1.7 kJ (hút nhiệt Q=+1.7 kJ), ΔU=0</a:t>
            </a:r>
          </a:p>
          <a:p>
            <a:pPr>
              <a:spcAft>
                <a:spcPts val="500"/>
              </a:spcAft>
            </a:pPr>
            <a:r>
              <a:rPr sz="900" b="1">
                <a:solidFill>
                  <a:srgbClr val="1E293B"/>
                </a:solidFill>
              </a:rPr>
              <a:t>• Đẳng áp: </a:t>
            </a:r>
            <a:r>
              <a:rPr sz="850">
                <a:solidFill>
                  <a:srgbClr val="475569"/>
                </a:solidFill>
              </a:rPr>
              <a:t>A = −pΔV = −RT ≈ −2.5 kJ, Q = νC_PΔT, ΔU=νC_VΔT</a:t>
            </a:r>
          </a:p>
          <a:p>
            <a:pPr>
              <a:spcAft>
                <a:spcPts val="500"/>
              </a:spcAft>
            </a:pPr>
            <a:r>
              <a:rPr sz="900" b="1">
                <a:solidFill>
                  <a:srgbClr val="1E293B"/>
                </a:solidFill>
              </a:rPr>
              <a:t>• Đoạn nhiệt: </a:t>
            </a:r>
            <a:r>
              <a:rPr sz="850">
                <a:solidFill>
                  <a:srgbClr val="475569"/>
                </a:solidFill>
              </a:rPr>
              <a:t>Q=0 → A=ΔU = C_VΔT (&lt;0, hệ sinh công, T giảm → bơm xe nóng)</a:t>
            </a:r>
          </a:p>
        </p:txBody>
      </p:sp>
      <p:sp>
        <p:nvSpPr>
          <p:cNvPr id="9" name="TextBox 8"/>
          <p:cNvSpPr txBox="1"/>
          <p:nvPr/>
        </p:nvSpPr>
        <p:spPr>
          <a:xfrm>
            <a:off x="640080" y="3520440"/>
            <a:ext cx="6675120" cy="256032"/>
          </a:xfrm>
          <a:prstGeom prst="rect">
            <a:avLst/>
          </a:prstGeom>
          <a:noFill/>
        </p:spPr>
        <p:txBody>
          <a:bodyPr wrap="square"/>
          <a:lstStyle/>
          <a:p>
            <a:pPr algn="l">
              <a:lnSpc>
                <a:spcPts val="1250"/>
              </a:lnSpc>
              <a:defRPr sz="1000" b="1">
                <a:solidFill>
                  <a:srgbClr val="0F172A"/>
                </a:solidFill>
                <a:latin typeface="Calibri"/>
              </a:defRPr>
            </a:pPr>
            <a:r>
              <a:t>📈  Trên đồ thị p-V:</a:t>
            </a:r>
          </a:p>
        </p:txBody>
      </p:sp>
      <p:sp>
        <p:nvSpPr>
          <p:cNvPr id="10" name="TextBox 9"/>
          <p:cNvSpPr txBox="1"/>
          <p:nvPr/>
        </p:nvSpPr>
        <p:spPr>
          <a:xfrm>
            <a:off x="640080" y="3794760"/>
            <a:ext cx="6675120" cy="1051560"/>
          </a:xfrm>
          <a:prstGeom prst="rect">
            <a:avLst/>
          </a:prstGeom>
          <a:noFill/>
        </p:spPr>
        <p:txBody>
          <a:bodyPr wrap="square"/>
          <a:lstStyle/>
          <a:p>
            <a:pPr algn="l">
              <a:lnSpc>
                <a:spcPts val="1125"/>
              </a:lnSpc>
              <a:defRPr sz="900" b="0">
                <a:solidFill>
                  <a:srgbClr val="475569"/>
                </a:solidFill>
                <a:latin typeface="Calibri"/>
              </a:defRPr>
            </a:pPr>
            <a:r>
              <a:t>• Đẳng tích: đứng, đẳng áp: ngang, đẳng nhiệt: hyperbol, đoạn nhiệt: dốc hơn (γ&gt;1)</a:t>
            </a:r>
            <a:br/>
            <a:r>
              <a:t>• Diện tích dưới đường cong = |A|</a:t>
            </a:r>
            <a:br/>
            <a:r>
              <a:t>→ Đẳng áp sinh công lớn nhất, đoạn nhiệt ít nhất.</a:t>
            </a:r>
          </a:p>
        </p:txBody>
      </p:sp>
      <p:sp>
        <p:nvSpPr>
          <p:cNvPr id="11" name="Rounded Rectangle 10"/>
          <p:cNvSpPr/>
          <p:nvPr/>
        </p:nvSpPr>
        <p:spPr>
          <a:xfrm>
            <a:off x="640080" y="4937760"/>
            <a:ext cx="6675120" cy="457200"/>
          </a:xfrm>
          <a:prstGeom prst="roundRect">
            <a:avLst/>
          </a:prstGeom>
          <a:solidFill>
            <a:srgbClr val="F0FDFA"/>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5029200"/>
            <a:ext cx="6446520" cy="274320"/>
          </a:xfrm>
          <a:prstGeom prst="rect">
            <a:avLst/>
          </a:prstGeom>
          <a:noFill/>
        </p:spPr>
        <p:txBody>
          <a:bodyPr wrap="square"/>
          <a:lstStyle/>
          <a:p>
            <a:pPr algn="l">
              <a:lnSpc>
                <a:spcPts val="1062"/>
              </a:lnSpc>
              <a:defRPr sz="850" b="0">
                <a:solidFill>
                  <a:srgbClr val="0F766E"/>
                </a:solidFill>
                <a:latin typeface="Calibri"/>
              </a:defRPr>
            </a:pPr>
            <a:r>
              <a:t>💡 Mẹo nhớ 4 quá trình: “Tích vô công, Áp có công pΔV, Nhiệt vô nội năng, Nhiệt cách nhiệt”</a:t>
            </a:r>
          </a:p>
        </p:txBody>
      </p:sp>
      <p:sp>
        <p:nvSpPr>
          <p:cNvPr id="13" name="Rounded Rectangle 12"/>
          <p:cNvSpPr/>
          <p:nvPr/>
        </p:nvSpPr>
        <p:spPr>
          <a:xfrm>
            <a:off x="7818120" y="960120"/>
            <a:ext cx="3886200" cy="5440680"/>
          </a:xfrm>
          <a:prstGeom prst="roundRect">
            <a:avLst/>
          </a:prstGeom>
          <a:solidFill>
            <a:srgbClr val="FFF2F2"/>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1143000"/>
            <a:ext cx="3429000" cy="256032"/>
          </a:xfrm>
          <a:prstGeom prst="rect">
            <a:avLst/>
          </a:prstGeom>
          <a:noFill/>
        </p:spPr>
        <p:txBody>
          <a:bodyPr wrap="square"/>
          <a:lstStyle/>
          <a:p>
            <a:pPr algn="l">
              <a:lnSpc>
                <a:spcPts val="1375"/>
              </a:lnSpc>
              <a:defRPr sz="1100" b="1">
                <a:solidFill>
                  <a:srgbClr val="B91C1C"/>
                </a:solidFill>
                <a:latin typeface="Calibri"/>
              </a:defRPr>
            </a:pPr>
            <a:r>
              <a:t>⚠️  Bẫy lớn nhất C6</a:t>
            </a:r>
          </a:p>
        </p:txBody>
      </p:sp>
      <p:sp>
        <p:nvSpPr>
          <p:cNvPr id="15" name="TextBox 14"/>
          <p:cNvSpPr txBox="1"/>
          <p:nvPr/>
        </p:nvSpPr>
        <p:spPr>
          <a:xfrm>
            <a:off x="8046720" y="1463040"/>
            <a:ext cx="3429000" cy="4572000"/>
          </a:xfrm>
          <a:prstGeom prst="rect">
            <a:avLst/>
          </a:prstGeom>
          <a:noFill/>
        </p:spPr>
        <p:txBody>
          <a:bodyPr wrap="square">
            <a:spAutoFit/>
          </a:bodyPr>
          <a:lstStyle/>
          <a:p>
            <a:pPr>
              <a:spcAft>
                <a:spcPts val="800"/>
              </a:spcAft>
            </a:pPr>
            <a:r>
              <a:rPr sz="850" b="1">
                <a:solidFill>
                  <a:srgbClr val="B91C1C"/>
                </a:solidFill>
              </a:rPr>
              <a:t>• Dấu A,Q ngược sách: </a:t>
            </a:r>
            <a:r>
              <a:rPr sz="800">
                <a:solidFill>
                  <a:srgbClr val="475569"/>
                </a:solidFill>
              </a:rPr>
              <a:t>Slide này A&gt;0 khi hệ NHẬN (bị nén). Nhiều sách A&gt;0 khi hệ SINH công → dấu ngược. Luôn ghi rõ quy ước!</a:t>
            </a:r>
          </a:p>
          <a:p>
            <a:pPr>
              <a:spcAft>
                <a:spcPts val="800"/>
              </a:spcAft>
            </a:pPr>
            <a:r>
              <a:rPr sz="850" b="1">
                <a:solidFill>
                  <a:srgbClr val="B91C1C"/>
                </a:solidFill>
              </a:rPr>
              <a:t>• Quên đổi K: </a:t>
            </a:r>
            <a:r>
              <a:rPr sz="800">
                <a:solidFill>
                  <a:srgbClr val="475569"/>
                </a:solidFill>
              </a:rPr>
              <a:t>T phải Kelvin. 27°C=300K.</a:t>
            </a:r>
          </a:p>
          <a:p>
            <a:pPr>
              <a:spcAft>
                <a:spcPts val="800"/>
              </a:spcAft>
            </a:pPr>
            <a:r>
              <a:rPr sz="850" b="1">
                <a:solidFill>
                  <a:srgbClr val="B91C1C"/>
                </a:solidFill>
              </a:rPr>
              <a:t>• Nhầm C_V vs C_P: </a:t>
            </a:r>
            <a:r>
              <a:rPr sz="800">
                <a:solidFill>
                  <a:srgbClr val="475569"/>
                </a:solidFill>
              </a:rPr>
              <a:t>C_P = C_V + R. Đẳng áp Q lớn hơn đẳng tích.</a:t>
            </a:r>
          </a:p>
        </p:txBody>
      </p:sp>
      <p:sp>
        <p:nvSpPr>
          <p:cNvPr id="16" name="TextBox 15"/>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20 / 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5B21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7</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C7. Tại sao cần Nguyên lý II? — Chiều của tự nhiên (1/3)</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6766560" cy="5440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6309360" cy="256032"/>
          </a:xfrm>
          <a:prstGeom prst="rect">
            <a:avLst/>
          </a:prstGeom>
          <a:noFill/>
        </p:spPr>
        <p:txBody>
          <a:bodyPr wrap="square"/>
          <a:lstStyle/>
          <a:p>
            <a:pPr algn="l">
              <a:lnSpc>
                <a:spcPts val="1375"/>
              </a:lnSpc>
              <a:defRPr sz="1100" b="1">
                <a:solidFill>
                  <a:srgbClr val="0F172A"/>
                </a:solidFill>
                <a:latin typeface="Calibri"/>
              </a:defRPr>
            </a:pPr>
            <a:r>
              <a:t>🤔  Nguyên lý I chưa đủ:</a:t>
            </a:r>
          </a:p>
        </p:txBody>
      </p:sp>
      <p:sp>
        <p:nvSpPr>
          <p:cNvPr id="8" name="TextBox 7"/>
          <p:cNvSpPr txBox="1"/>
          <p:nvPr/>
        </p:nvSpPr>
        <p:spPr>
          <a:xfrm>
            <a:off x="640080" y="1463040"/>
            <a:ext cx="6309360" cy="1691640"/>
          </a:xfrm>
          <a:prstGeom prst="rect">
            <a:avLst/>
          </a:prstGeom>
          <a:noFill/>
        </p:spPr>
        <p:txBody>
          <a:bodyPr wrap="square">
            <a:spAutoFit/>
          </a:bodyPr>
          <a:lstStyle/>
          <a:p>
            <a:pPr>
              <a:spcAft>
                <a:spcPts val="500"/>
              </a:spcAft>
            </a:pPr>
            <a:r>
              <a:rPr sz="900" b="1">
                <a:solidFill>
                  <a:srgbClr val="1E293B"/>
                </a:solidFill>
              </a:rPr>
              <a:t>• Không chỉ chiều: </a:t>
            </a:r>
            <a:r>
              <a:rPr sz="850">
                <a:solidFill>
                  <a:srgbClr val="475569"/>
                </a:solidFill>
              </a:rPr>
              <a:t>Nhiệt tự nóng→lạnh, không tự lạnh→nóng. Muốn ngược phải tốn điện (tủ lạnh).</a:t>
            </a:r>
          </a:p>
          <a:p>
            <a:pPr>
              <a:spcAft>
                <a:spcPts val="500"/>
              </a:spcAft>
            </a:pPr>
            <a:r>
              <a:rPr sz="900" b="1">
                <a:solidFill>
                  <a:srgbClr val="1E293B"/>
                </a:solidFill>
              </a:rPr>
              <a:t>• Không phải 100%: </a:t>
            </a:r>
            <a:r>
              <a:rPr sz="850">
                <a:solidFill>
                  <a:srgbClr val="475569"/>
                </a:solidFill>
              </a:rPr>
              <a:t>Công → nhiệt 100%, nhưng nhiệt → công chỉ 1 phần (luôn thải Q₂).</a:t>
            </a:r>
          </a:p>
          <a:p>
            <a:pPr>
              <a:spcAft>
                <a:spcPts val="500"/>
              </a:spcAft>
            </a:pPr>
            <a:r>
              <a:rPr sz="900" b="1">
                <a:solidFill>
                  <a:srgbClr val="1E293B"/>
                </a:solidFill>
              </a:rPr>
              <a:t>• Chất lượng nhiệt: </a:t>
            </a:r>
            <a:r>
              <a:rPr sz="850">
                <a:solidFill>
                  <a:srgbClr val="475569"/>
                </a:solidFill>
              </a:rPr>
              <a:t>100J ở 1000K “quý” hơn 100J ở 300K (làm được nhiều công hơn).</a:t>
            </a:r>
          </a:p>
        </p:txBody>
      </p:sp>
      <p:sp>
        <p:nvSpPr>
          <p:cNvPr id="9" name="TextBox 8"/>
          <p:cNvSpPr txBox="1"/>
          <p:nvPr/>
        </p:nvSpPr>
        <p:spPr>
          <a:xfrm>
            <a:off x="640080" y="3246120"/>
            <a:ext cx="6309360" cy="256032"/>
          </a:xfrm>
          <a:prstGeom prst="rect">
            <a:avLst/>
          </a:prstGeom>
          <a:noFill/>
        </p:spPr>
        <p:txBody>
          <a:bodyPr wrap="square"/>
          <a:lstStyle/>
          <a:p>
            <a:pPr algn="l">
              <a:lnSpc>
                <a:spcPts val="1375"/>
              </a:lnSpc>
              <a:defRPr sz="1100" b="1">
                <a:solidFill>
                  <a:srgbClr val="0F172A"/>
                </a:solidFill>
                <a:latin typeface="Calibri"/>
              </a:defRPr>
            </a:pPr>
            <a:r>
              <a:t>♻️  Thuận nghịch vs Bất thuận nghịch</a:t>
            </a:r>
          </a:p>
        </p:txBody>
      </p:sp>
      <p:sp>
        <p:nvSpPr>
          <p:cNvPr id="10" name="TextBox 9"/>
          <p:cNvSpPr txBox="1"/>
          <p:nvPr/>
        </p:nvSpPr>
        <p:spPr>
          <a:xfrm>
            <a:off x="640080" y="3566160"/>
            <a:ext cx="6309360" cy="777240"/>
          </a:xfrm>
          <a:prstGeom prst="rect">
            <a:avLst/>
          </a:prstGeom>
          <a:noFill/>
        </p:spPr>
        <p:txBody>
          <a:bodyPr wrap="square"/>
          <a:lstStyle/>
          <a:p>
            <a:pPr algn="l">
              <a:lnSpc>
                <a:spcPts val="1125"/>
              </a:lnSpc>
              <a:defRPr sz="900" b="0">
                <a:solidFill>
                  <a:srgbClr val="475569"/>
                </a:solidFill>
                <a:latin typeface="Calibri"/>
              </a:defRPr>
            </a:pPr>
            <a:r>
              <a:t>• Thuận nghịch: lý tưởng, đi ngược về đúng trạng thái cũ, hệ + môi trường không đổi. Thực tế KHÔNG có.</a:t>
            </a:r>
            <a:br/>
            <a:r>
              <a:t>• Bất thuận nghịch: có ma sát, chênh T hữu hạn → thực tế luôn là BKTN.</a:t>
            </a:r>
          </a:p>
        </p:txBody>
      </p:sp>
      <p:sp>
        <p:nvSpPr>
          <p:cNvPr id="11" name="TextBox 10"/>
          <p:cNvSpPr txBox="1"/>
          <p:nvPr/>
        </p:nvSpPr>
        <p:spPr>
          <a:xfrm>
            <a:off x="640080" y="4434840"/>
            <a:ext cx="6309360" cy="256032"/>
          </a:xfrm>
          <a:prstGeom prst="rect">
            <a:avLst/>
          </a:prstGeom>
          <a:noFill/>
        </p:spPr>
        <p:txBody>
          <a:bodyPr wrap="square"/>
          <a:lstStyle/>
          <a:p>
            <a:pPr algn="l">
              <a:lnSpc>
                <a:spcPts val="1375"/>
              </a:lnSpc>
              <a:defRPr sz="1100" b="1">
                <a:solidFill>
                  <a:srgbClr val="0F172A"/>
                </a:solidFill>
                <a:latin typeface="Calibri"/>
              </a:defRPr>
            </a:pPr>
            <a:r>
              <a:t>📜  Hai phát biểu tương đương:</a:t>
            </a:r>
          </a:p>
        </p:txBody>
      </p:sp>
      <p:sp>
        <p:nvSpPr>
          <p:cNvPr id="12" name="TextBox 11"/>
          <p:cNvSpPr txBox="1"/>
          <p:nvPr/>
        </p:nvSpPr>
        <p:spPr>
          <a:xfrm>
            <a:off x="640080" y="4754880"/>
            <a:ext cx="6309360" cy="960120"/>
          </a:xfrm>
          <a:prstGeom prst="rect">
            <a:avLst/>
          </a:prstGeom>
          <a:noFill/>
        </p:spPr>
        <p:txBody>
          <a:bodyPr wrap="square"/>
          <a:lstStyle/>
          <a:p>
            <a:pPr algn="l">
              <a:lnSpc>
                <a:spcPts val="1125"/>
              </a:lnSpc>
              <a:defRPr sz="900" b="0">
                <a:solidFill>
                  <a:srgbClr val="475569"/>
                </a:solidFill>
                <a:latin typeface="Calibri"/>
              </a:defRPr>
            </a:pPr>
            <a:r>
              <a:t>• Thomson: Không thể biến toàn bộ nhiệt thành công tuần hoàn mà không để lại gì → không có ĐC vĩnh cửu loại II.</a:t>
            </a:r>
            <a:br/>
            <a:r>
              <a:t>• Clausius: Nhiệt không tự lạnh→nóng nếu không bù trừ.</a:t>
            </a:r>
          </a:p>
        </p:txBody>
      </p:sp>
      <p:sp>
        <p:nvSpPr>
          <p:cNvPr id="13" name="Rounded Rectangle 12"/>
          <p:cNvSpPr/>
          <p:nvPr/>
        </p:nvSpPr>
        <p:spPr>
          <a:xfrm>
            <a:off x="7452360" y="960120"/>
            <a:ext cx="4251960" cy="2606040"/>
          </a:xfrm>
          <a:prstGeom prst="roundRect">
            <a:avLst/>
          </a:prstGeom>
          <a:solidFill>
            <a:srgbClr val="F5F3FF"/>
          </a:solidFill>
          <a:ln w="1524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1097280"/>
            <a:ext cx="3977639" cy="256032"/>
          </a:xfrm>
          <a:prstGeom prst="rect">
            <a:avLst/>
          </a:prstGeom>
          <a:noFill/>
        </p:spPr>
        <p:txBody>
          <a:bodyPr wrap="square"/>
          <a:lstStyle/>
          <a:p>
            <a:pPr algn="l">
              <a:lnSpc>
                <a:spcPts val="1250"/>
              </a:lnSpc>
              <a:defRPr sz="1000" b="1">
                <a:solidFill>
                  <a:srgbClr val="5B21B6"/>
                </a:solidFill>
                <a:latin typeface="Calibri"/>
              </a:defRPr>
            </a:pPr>
            <a:r>
              <a:t>💬  Nói sao cho nhớ:</a:t>
            </a:r>
          </a:p>
        </p:txBody>
      </p:sp>
      <p:sp>
        <p:nvSpPr>
          <p:cNvPr id="15" name="TextBox 14"/>
          <p:cNvSpPr txBox="1"/>
          <p:nvPr/>
        </p:nvSpPr>
        <p:spPr>
          <a:xfrm>
            <a:off x="7589520" y="1417320"/>
            <a:ext cx="3977639" cy="1965960"/>
          </a:xfrm>
          <a:prstGeom prst="rect">
            <a:avLst/>
          </a:prstGeom>
          <a:noFill/>
        </p:spPr>
        <p:txBody>
          <a:bodyPr wrap="square"/>
          <a:lstStyle/>
          <a:p>
            <a:pPr algn="l">
              <a:lnSpc>
                <a:spcPts val="1125"/>
              </a:lnSpc>
              <a:defRPr sz="900" b="0">
                <a:solidFill>
                  <a:srgbClr val="475569"/>
                </a:solidFill>
                <a:latin typeface="Calibri"/>
              </a:defRPr>
            </a:pPr>
            <a:r>
              <a:t>“Phòng tự bừa (S tăng), muốn gọn phải dọn (tốn công). Nhiệt tự nóng→lạnh như phòng tự bừa — muốn ngược phải cắm điện.”</a:t>
            </a:r>
            <a:br/>
            <a:r>
              <a:t>→ Dẫn vào entropy rất tự nhiên.</a:t>
            </a:r>
          </a:p>
        </p:txBody>
      </p:sp>
      <p:sp>
        <p:nvSpPr>
          <p:cNvPr id="16" name="Rounded Rectangle 15"/>
          <p:cNvSpPr/>
          <p:nvPr/>
        </p:nvSpPr>
        <p:spPr>
          <a:xfrm>
            <a:off x="7452360" y="3794760"/>
            <a:ext cx="4251960" cy="178308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3886200"/>
            <a:ext cx="3977639" cy="1600200"/>
          </a:xfrm>
          <a:prstGeom prst="rect">
            <a:avLst/>
          </a:prstGeom>
          <a:noFill/>
        </p:spPr>
        <p:txBody>
          <a:bodyPr wrap="square"/>
          <a:lstStyle/>
          <a:p>
            <a:pPr algn="l">
              <a:lnSpc>
                <a:spcPts val="1062"/>
              </a:lnSpc>
              <a:defRPr sz="850" b="0">
                <a:solidFill>
                  <a:srgbClr val="475569"/>
                </a:solidFill>
                <a:latin typeface="Calibri"/>
              </a:defRPr>
            </a:pPr>
            <a:r>
              <a:t>📌 Từ khóa:</a:t>
            </a:r>
            <a:br/>
            <a:r>
              <a:t>• Thuận nghịch = lý tưởng</a:t>
            </a:r>
            <a:br/>
            <a:r>
              <a:t>• BKTN = thực tế</a:t>
            </a:r>
            <a:br/>
            <a:r>
              <a:t>• Thomson ↔ Clausius (tương đương)</a:t>
            </a:r>
          </a:p>
        </p:txBody>
      </p:sp>
      <p:sp>
        <p:nvSpPr>
          <p:cNvPr id="18" name="TextBox 17"/>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21 / 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5B21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7</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C7. Động cơ nhiệt &amp; Chu trình Carnot — “Chuẩn vàng” (2/3)</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6766560" cy="5440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6309360" cy="256032"/>
          </a:xfrm>
          <a:prstGeom prst="rect">
            <a:avLst/>
          </a:prstGeom>
          <a:noFill/>
        </p:spPr>
        <p:txBody>
          <a:bodyPr wrap="square"/>
          <a:lstStyle/>
          <a:p>
            <a:pPr algn="l">
              <a:lnSpc>
                <a:spcPts val="1375"/>
              </a:lnSpc>
              <a:defRPr sz="1100" b="1">
                <a:solidFill>
                  <a:srgbClr val="0F172A"/>
                </a:solidFill>
                <a:latin typeface="Calibri"/>
              </a:defRPr>
            </a:pPr>
            <a:r>
              <a:t>⚙️  Động cơ nhiệt &amp; Máy lạnh</a:t>
            </a:r>
          </a:p>
        </p:txBody>
      </p:sp>
      <p:sp>
        <p:nvSpPr>
          <p:cNvPr id="8" name="TextBox 7"/>
          <p:cNvSpPr txBox="1"/>
          <p:nvPr/>
        </p:nvSpPr>
        <p:spPr>
          <a:xfrm>
            <a:off x="640080" y="1463040"/>
            <a:ext cx="6309360" cy="1417320"/>
          </a:xfrm>
          <a:prstGeom prst="rect">
            <a:avLst/>
          </a:prstGeom>
          <a:noFill/>
        </p:spPr>
        <p:txBody>
          <a:bodyPr wrap="square">
            <a:spAutoFit/>
          </a:bodyPr>
          <a:lstStyle/>
          <a:p>
            <a:r>
              <a:rPr sz="850">
                <a:solidFill>
                  <a:srgbClr val="475569"/>
                </a:solidFill>
              </a:rPr>
              <a:t>• Động cơ: nhận Q₁ (T₁), thải Q₂ (T₂), sinh A=Q₁−Q₂. Hiệu suất η = A/Q₁ =1−Q₂/Q₁ (&lt;1)</a:t>
            </a:r>
          </a:p>
          <a:p>
            <a:r>
              <a:rPr sz="850">
                <a:solidFill>
                  <a:srgbClr val="475569"/>
                </a:solidFill>
              </a:rPr>
              <a:t>• Máy lạnh: tốn A để chuyển Q₂ (lạnh) → Q₁ (nóng). Hệ số ε = Q₂/A (có thể &gt;1, điều hòa ε≈3)</a:t>
            </a:r>
          </a:p>
          <a:p>
            <a:r>
              <a:rPr sz="800" i="1">
                <a:solidFill>
                  <a:srgbClr val="94A3B8"/>
                </a:solidFill>
              </a:rPr>
              <a:t>• Lưu ý: Q₁, Q₂ lấy độ lớn, thực tế Q₂ âm (thải).</a:t>
            </a:r>
          </a:p>
        </p:txBody>
      </p:sp>
      <p:sp>
        <p:nvSpPr>
          <p:cNvPr id="9" name="TextBox 8"/>
          <p:cNvSpPr txBox="1"/>
          <p:nvPr/>
        </p:nvSpPr>
        <p:spPr>
          <a:xfrm>
            <a:off x="640080" y="3017520"/>
            <a:ext cx="6309360" cy="256032"/>
          </a:xfrm>
          <a:prstGeom prst="rect">
            <a:avLst/>
          </a:prstGeom>
          <a:noFill/>
        </p:spPr>
        <p:txBody>
          <a:bodyPr wrap="square"/>
          <a:lstStyle/>
          <a:p>
            <a:pPr algn="l">
              <a:lnSpc>
                <a:spcPts val="1375"/>
              </a:lnSpc>
              <a:defRPr sz="1100" b="1">
                <a:solidFill>
                  <a:srgbClr val="0F172A"/>
                </a:solidFill>
                <a:latin typeface="Calibri"/>
              </a:defRPr>
            </a:pPr>
            <a:r>
              <a:t>🏆  Chu trình Carnot — 2 đẳng nhiệt + 2 đoạn nhiệt</a:t>
            </a:r>
          </a:p>
        </p:txBody>
      </p:sp>
      <p:sp>
        <p:nvSpPr>
          <p:cNvPr id="10" name="TextBox 9"/>
          <p:cNvSpPr txBox="1"/>
          <p:nvPr/>
        </p:nvSpPr>
        <p:spPr>
          <a:xfrm>
            <a:off x="640080" y="3337560"/>
            <a:ext cx="6309360" cy="1051560"/>
          </a:xfrm>
          <a:prstGeom prst="rect">
            <a:avLst/>
          </a:prstGeom>
          <a:noFill/>
        </p:spPr>
        <p:txBody>
          <a:bodyPr wrap="square"/>
          <a:lstStyle/>
          <a:p>
            <a:pPr algn="l">
              <a:lnSpc>
                <a:spcPts val="1125"/>
              </a:lnSpc>
              <a:defRPr sz="900" b="0">
                <a:solidFill>
                  <a:srgbClr val="475569"/>
                </a:solidFill>
                <a:latin typeface="Calibri"/>
              </a:defRPr>
            </a:pPr>
            <a:r>
              <a:t>• Trên p-V: hình cong khép kín. Trên T-S: hình chữ nhật.</a:t>
            </a:r>
            <a:br/>
            <a:r>
              <a:t>• Hiệu suất Carnot chỉ phụ thuộc T:</a:t>
            </a:r>
            <a:br/>
            <a:r>
              <a:t>  η_C = 1 − T₂/T₁  |  ε_C = T₂/(T₁−T₂)  (T tính Kelvin)</a:t>
            </a:r>
            <a:br/>
            <a:r>
              <a:t>• Là giới hạn trên: mọi ĐC thực η &lt; η_C. Không thể 100%.</a:t>
            </a:r>
          </a:p>
        </p:txBody>
      </p:sp>
      <p:sp>
        <p:nvSpPr>
          <p:cNvPr id="11" name="Rounded Rectangle 10"/>
          <p:cNvSpPr/>
          <p:nvPr/>
        </p:nvSpPr>
        <p:spPr>
          <a:xfrm>
            <a:off x="640080" y="4526280"/>
            <a:ext cx="6309360" cy="1783080"/>
          </a:xfrm>
          <a:prstGeom prst="roundRect">
            <a:avLst/>
          </a:prstGeom>
          <a:solidFill>
            <a:srgbClr val="FFFBEB"/>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4617720"/>
            <a:ext cx="6080760" cy="256032"/>
          </a:xfrm>
          <a:prstGeom prst="rect">
            <a:avLst/>
          </a:prstGeom>
          <a:noFill/>
        </p:spPr>
        <p:txBody>
          <a:bodyPr wrap="square"/>
          <a:lstStyle/>
          <a:p>
            <a:pPr algn="l">
              <a:lnSpc>
                <a:spcPts val="1125"/>
              </a:lnSpc>
              <a:defRPr sz="900" b="1">
                <a:solidFill>
                  <a:srgbClr val="92400E"/>
                </a:solidFill>
                <a:latin typeface="Calibri"/>
              </a:defRPr>
            </a:pPr>
            <a:r>
              <a:t>📝  Ví dụ nói mẫu (15s):</a:t>
            </a:r>
          </a:p>
        </p:txBody>
      </p:sp>
      <p:sp>
        <p:nvSpPr>
          <p:cNvPr id="13" name="TextBox 12"/>
          <p:cNvSpPr txBox="1"/>
          <p:nvPr/>
        </p:nvSpPr>
        <p:spPr>
          <a:xfrm>
            <a:off x="749808" y="4892040"/>
            <a:ext cx="6080760" cy="1325880"/>
          </a:xfrm>
          <a:prstGeom prst="rect">
            <a:avLst/>
          </a:prstGeom>
          <a:noFill/>
        </p:spPr>
        <p:txBody>
          <a:bodyPr wrap="square"/>
          <a:lstStyle/>
          <a:p>
            <a:pPr algn="l">
              <a:lnSpc>
                <a:spcPts val="1062"/>
              </a:lnSpc>
              <a:defRPr sz="850" b="0">
                <a:solidFill>
                  <a:srgbClr val="475569"/>
                </a:solidFill>
                <a:latin typeface="Calibri"/>
              </a:defRPr>
            </a:pPr>
            <a:r>
              <a:t>Carnot giữa 600K và 300K → η_C=50%. Nhận Q₁=1000J → A=500J, thải 500J.</a:t>
            </a:r>
            <a:br/>
            <a:r>
              <a:t>ĐC thực cùng T chỉ η≈35% → A=350J, thải 650J. Chênh 150J do BKTN.</a:t>
            </a:r>
            <a:br/>
            <a:r>
              <a:t>→ Ai quảng cáo 600K–300K mà η=80% là lừa, vì η_C=50% là max.</a:t>
            </a:r>
          </a:p>
        </p:txBody>
      </p:sp>
      <p:pic>
        <p:nvPicPr>
          <p:cNvPr id="14" name="Picture 13" descr="c7_carnot.jpg"/>
          <p:cNvPicPr>
            <a:picLocks noChangeAspect="1"/>
          </p:cNvPicPr>
          <p:nvPr/>
        </p:nvPicPr>
        <p:blipFill>
          <a:blip r:embed="rId2"/>
          <a:stretch>
            <a:fillRect/>
          </a:stretch>
        </p:blipFill>
        <p:spPr>
          <a:xfrm>
            <a:off x="7452360" y="960120"/>
            <a:ext cx="4251960" cy="2331720"/>
          </a:xfrm>
          <a:prstGeom prst="rect">
            <a:avLst/>
          </a:prstGeom>
        </p:spPr>
      </p:pic>
      <p:sp>
        <p:nvSpPr>
          <p:cNvPr id="15" name="TextBox 14"/>
          <p:cNvSpPr txBox="1"/>
          <p:nvPr/>
        </p:nvSpPr>
        <p:spPr>
          <a:xfrm>
            <a:off x="7452360" y="3337560"/>
            <a:ext cx="4251960" cy="256032"/>
          </a:xfrm>
          <a:prstGeom prst="rect">
            <a:avLst/>
          </a:prstGeom>
          <a:noFill/>
        </p:spPr>
        <p:txBody>
          <a:bodyPr wrap="square"/>
          <a:lstStyle/>
          <a:p>
            <a:pPr algn="ctr">
              <a:lnSpc>
                <a:spcPts val="875"/>
              </a:lnSpc>
              <a:defRPr sz="700" b="0">
                <a:solidFill>
                  <a:srgbClr val="94A3B8"/>
                </a:solidFill>
                <a:latin typeface="Calibri"/>
              </a:defRPr>
            </a:pPr>
            <a:r>
              <a:t>Hình 8 — Carnot: 2 đẳng nhiệt + 2 đoạn nhiệt</a:t>
            </a:r>
          </a:p>
        </p:txBody>
      </p:sp>
      <p:sp>
        <p:nvSpPr>
          <p:cNvPr id="16" name="Rounded Rectangle 15"/>
          <p:cNvSpPr/>
          <p:nvPr/>
        </p:nvSpPr>
        <p:spPr>
          <a:xfrm>
            <a:off x="7452360" y="3703320"/>
            <a:ext cx="4251960" cy="123444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3794760"/>
            <a:ext cx="3977639" cy="1051560"/>
          </a:xfrm>
          <a:prstGeom prst="rect">
            <a:avLst/>
          </a:prstGeom>
          <a:noFill/>
        </p:spPr>
        <p:txBody>
          <a:bodyPr wrap="square"/>
          <a:lstStyle/>
          <a:p>
            <a:pPr algn="l">
              <a:lnSpc>
                <a:spcPts val="1250"/>
              </a:lnSpc>
              <a:defRPr sz="1000" b="1">
                <a:solidFill>
                  <a:srgbClr val="38BDF8"/>
                </a:solidFill>
                <a:latin typeface="Calibri"/>
              </a:defRPr>
            </a:pPr>
            <a:r>
              <a:t>η = A/Q₁ = 1−Q₂/Q₁</a:t>
            </a:r>
            <a:br/>
            <a:r>
              <a:t>η_C = 1 − T₂/T₁   |   ε_C = T₂/(T₁−T₂)</a:t>
            </a:r>
          </a:p>
        </p:txBody>
      </p:sp>
      <p:sp>
        <p:nvSpPr>
          <p:cNvPr id="18" name="Rounded Rectangle 17"/>
          <p:cNvSpPr/>
          <p:nvPr/>
        </p:nvSpPr>
        <p:spPr>
          <a:xfrm>
            <a:off x="7452360" y="5074920"/>
            <a:ext cx="4251960" cy="132588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5166360"/>
            <a:ext cx="3977639" cy="1143000"/>
          </a:xfrm>
          <a:prstGeom prst="rect">
            <a:avLst/>
          </a:prstGeom>
          <a:noFill/>
        </p:spPr>
        <p:txBody>
          <a:bodyPr wrap="square"/>
          <a:lstStyle/>
          <a:p>
            <a:pPr algn="l">
              <a:lnSpc>
                <a:spcPts val="875"/>
              </a:lnSpc>
              <a:defRPr sz="700" b="0">
                <a:solidFill>
                  <a:srgbClr val="475569"/>
                </a:solidFill>
                <a:latin typeface="Calibri"/>
              </a:defRPr>
            </a:pPr>
            <a:r>
              <a:t>📌 T₁ (K) nguồn nóng, T₂ (K) nguồn lạnh</a:t>
            </a:r>
            <a:br/>
            <a:r>
              <a:t>Muốn η↑: tăng T₁ hoặc giảm T₂. Nhưng T₂≥0K → η&lt;100%</a:t>
            </a:r>
          </a:p>
        </p:txBody>
      </p:sp>
      <p:sp>
        <p:nvSpPr>
          <p:cNvPr id="20" name="TextBox 19"/>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22 /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5B21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7</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C7. Entropy — Thước đo hỗn loạn (3/3)</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6766560" cy="5440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6309360" cy="256032"/>
          </a:xfrm>
          <a:prstGeom prst="rect">
            <a:avLst/>
          </a:prstGeom>
          <a:noFill/>
        </p:spPr>
        <p:txBody>
          <a:bodyPr wrap="square"/>
          <a:lstStyle/>
          <a:p>
            <a:pPr algn="l">
              <a:lnSpc>
                <a:spcPts val="1375"/>
              </a:lnSpc>
              <a:defRPr sz="1100" b="1">
                <a:solidFill>
                  <a:srgbClr val="0F172A"/>
                </a:solidFill>
                <a:latin typeface="Calibri"/>
              </a:defRPr>
            </a:pPr>
            <a:r>
              <a:t>🌀  Entropy S (J/K) — Hàm trạng thái</a:t>
            </a:r>
          </a:p>
        </p:txBody>
      </p:sp>
      <p:sp>
        <p:nvSpPr>
          <p:cNvPr id="8" name="TextBox 7"/>
          <p:cNvSpPr txBox="1"/>
          <p:nvPr/>
        </p:nvSpPr>
        <p:spPr>
          <a:xfrm>
            <a:off x="640080" y="1463040"/>
            <a:ext cx="6309360" cy="1051560"/>
          </a:xfrm>
          <a:prstGeom prst="rect">
            <a:avLst/>
          </a:prstGeom>
          <a:noFill/>
        </p:spPr>
        <p:txBody>
          <a:bodyPr wrap="square"/>
          <a:lstStyle/>
          <a:p>
            <a:pPr algn="l">
              <a:lnSpc>
                <a:spcPts val="1125"/>
              </a:lnSpc>
              <a:defRPr sz="900" b="0">
                <a:solidFill>
                  <a:srgbClr val="475569"/>
                </a:solidFill>
                <a:latin typeface="Calibri"/>
              </a:defRPr>
            </a:pPr>
            <a:r>
              <a:t>• dS = δQ_rev / T (vi phân). ΔS = ∫ δQ_rev/T (phải theo đường thuận nghịch!)</a:t>
            </a:r>
            <a:br/>
            <a:r>
              <a:t>• Khí lý tưởng: ΔS = νC_V ln(T₂/T₁) + νR ln(V₂/V₁) = νC_p ln(T₂/T₁) − νR ln(p₂/p₁)</a:t>
            </a:r>
          </a:p>
        </p:txBody>
      </p:sp>
      <p:sp>
        <p:nvSpPr>
          <p:cNvPr id="9" name="TextBox 8"/>
          <p:cNvSpPr txBox="1"/>
          <p:nvPr/>
        </p:nvSpPr>
        <p:spPr>
          <a:xfrm>
            <a:off x="640080" y="2606040"/>
            <a:ext cx="6309360" cy="256032"/>
          </a:xfrm>
          <a:prstGeom prst="rect">
            <a:avLst/>
          </a:prstGeom>
          <a:noFill/>
        </p:spPr>
        <p:txBody>
          <a:bodyPr wrap="square"/>
          <a:lstStyle/>
          <a:p>
            <a:pPr algn="l">
              <a:lnSpc>
                <a:spcPts val="1375"/>
              </a:lnSpc>
              <a:defRPr sz="1100" b="1">
                <a:solidFill>
                  <a:srgbClr val="0F172A"/>
                </a:solidFill>
                <a:latin typeface="Calibri"/>
              </a:defRPr>
            </a:pPr>
            <a:r>
              <a:t>📈  Nguyên lý tăng entropy:</a:t>
            </a:r>
          </a:p>
        </p:txBody>
      </p:sp>
      <p:sp>
        <p:nvSpPr>
          <p:cNvPr id="10" name="TextBox 9"/>
          <p:cNvSpPr txBox="1"/>
          <p:nvPr/>
        </p:nvSpPr>
        <p:spPr>
          <a:xfrm>
            <a:off x="640080" y="2926080"/>
            <a:ext cx="6309360" cy="777240"/>
          </a:xfrm>
          <a:prstGeom prst="rect">
            <a:avLst/>
          </a:prstGeom>
          <a:noFill/>
        </p:spPr>
        <p:txBody>
          <a:bodyPr wrap="square"/>
          <a:lstStyle/>
          <a:p>
            <a:pPr algn="l">
              <a:lnSpc>
                <a:spcPts val="1125"/>
              </a:lnSpc>
              <a:defRPr sz="900" b="0">
                <a:solidFill>
                  <a:srgbClr val="475569"/>
                </a:solidFill>
                <a:latin typeface="Calibri"/>
              </a:defRPr>
            </a:pPr>
            <a:r>
              <a:t>• Hệ cô lập: ΔS ≥ 0. “=” thuận nghịch (lý tưởng), “&gt;” BKTN (thực tế).</a:t>
            </a:r>
            <a:br/>
            <a:r>
              <a:t>• Quá trình tự nhiên → S tăng. Cân bằng là S cực đại.</a:t>
            </a:r>
          </a:p>
        </p:txBody>
      </p:sp>
      <p:sp>
        <p:nvSpPr>
          <p:cNvPr id="11" name="TextBox 10"/>
          <p:cNvSpPr txBox="1"/>
          <p:nvPr/>
        </p:nvSpPr>
        <p:spPr>
          <a:xfrm>
            <a:off x="640080" y="3794760"/>
            <a:ext cx="6309360" cy="256032"/>
          </a:xfrm>
          <a:prstGeom prst="rect">
            <a:avLst/>
          </a:prstGeom>
          <a:noFill/>
        </p:spPr>
        <p:txBody>
          <a:bodyPr wrap="square"/>
          <a:lstStyle/>
          <a:p>
            <a:pPr algn="l">
              <a:lnSpc>
                <a:spcPts val="1250"/>
              </a:lnSpc>
              <a:defRPr sz="1000" b="1">
                <a:solidFill>
                  <a:srgbClr val="0F172A"/>
                </a:solidFill>
                <a:latin typeface="Calibri"/>
              </a:defRPr>
            </a:pPr>
            <a:r>
              <a:t>📊  ΔS cho khí lý tưởng — Hay thi:</a:t>
            </a:r>
          </a:p>
        </p:txBody>
      </p:sp>
      <p:sp>
        <p:nvSpPr>
          <p:cNvPr id="12" name="Rounded Rectangle 11"/>
          <p:cNvSpPr/>
          <p:nvPr/>
        </p:nvSpPr>
        <p:spPr>
          <a:xfrm>
            <a:off x="548640" y="4069080"/>
            <a:ext cx="6309360" cy="256032"/>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4105656"/>
            <a:ext cx="2231136" cy="182880"/>
          </a:xfrm>
          <a:prstGeom prst="rect">
            <a:avLst/>
          </a:prstGeom>
          <a:noFill/>
        </p:spPr>
        <p:txBody>
          <a:bodyPr wrap="square"/>
          <a:lstStyle/>
          <a:p>
            <a:pPr algn="ctr">
              <a:lnSpc>
                <a:spcPts val="875"/>
              </a:lnSpc>
              <a:defRPr sz="700" b="1">
                <a:solidFill>
                  <a:srgbClr val="475569"/>
                </a:solidFill>
                <a:latin typeface="Calibri"/>
              </a:defRPr>
            </a:pPr>
            <a:r>
              <a:t>QUÁ TRÌNH</a:t>
            </a:r>
          </a:p>
        </p:txBody>
      </p:sp>
      <p:sp>
        <p:nvSpPr>
          <p:cNvPr id="14" name="TextBox 13"/>
          <p:cNvSpPr txBox="1"/>
          <p:nvPr/>
        </p:nvSpPr>
        <p:spPr>
          <a:xfrm>
            <a:off x="3090672" y="4105656"/>
            <a:ext cx="3694176" cy="182880"/>
          </a:xfrm>
          <a:prstGeom prst="rect">
            <a:avLst/>
          </a:prstGeom>
          <a:noFill/>
        </p:spPr>
        <p:txBody>
          <a:bodyPr wrap="square"/>
          <a:lstStyle/>
          <a:p>
            <a:pPr algn="ctr">
              <a:lnSpc>
                <a:spcPts val="875"/>
              </a:lnSpc>
              <a:defRPr sz="700" b="1">
                <a:solidFill>
                  <a:srgbClr val="475569"/>
                </a:solidFill>
                <a:latin typeface="Calibri"/>
              </a:defRPr>
            </a:pPr>
            <a:r>
              <a:t>ΔS</a:t>
            </a:r>
          </a:p>
        </p:txBody>
      </p:sp>
      <p:sp>
        <p:nvSpPr>
          <p:cNvPr id="15" name="Rounded Rectangle 14"/>
          <p:cNvSpPr/>
          <p:nvPr/>
        </p:nvSpPr>
        <p:spPr>
          <a:xfrm>
            <a:off x="548640" y="4325112"/>
            <a:ext cx="6309360" cy="329184"/>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4379976"/>
            <a:ext cx="2231136" cy="219456"/>
          </a:xfrm>
          <a:prstGeom prst="rect">
            <a:avLst/>
          </a:prstGeom>
          <a:noFill/>
        </p:spPr>
        <p:txBody>
          <a:bodyPr wrap="square"/>
          <a:lstStyle/>
          <a:p>
            <a:pPr algn="ctr">
              <a:lnSpc>
                <a:spcPts val="1000"/>
              </a:lnSpc>
              <a:defRPr sz="800" b="1">
                <a:solidFill>
                  <a:srgbClr val="0F172A"/>
                </a:solidFill>
                <a:latin typeface="Calibri"/>
              </a:defRPr>
            </a:pPr>
            <a:r>
              <a:t>Đẳng tích</a:t>
            </a:r>
          </a:p>
        </p:txBody>
      </p:sp>
      <p:sp>
        <p:nvSpPr>
          <p:cNvPr id="17" name="TextBox 16"/>
          <p:cNvSpPr txBox="1"/>
          <p:nvPr/>
        </p:nvSpPr>
        <p:spPr>
          <a:xfrm>
            <a:off x="3090672" y="4379976"/>
            <a:ext cx="3694176" cy="219456"/>
          </a:xfrm>
          <a:prstGeom prst="rect">
            <a:avLst/>
          </a:prstGeom>
          <a:noFill/>
        </p:spPr>
        <p:txBody>
          <a:bodyPr wrap="square"/>
          <a:lstStyle/>
          <a:p>
            <a:pPr algn="ctr">
              <a:lnSpc>
                <a:spcPts val="1000"/>
              </a:lnSpc>
              <a:defRPr sz="800" b="0">
                <a:solidFill>
                  <a:srgbClr val="1E293B"/>
                </a:solidFill>
                <a:latin typeface="Calibri"/>
              </a:defRPr>
            </a:pPr>
            <a:r>
              <a:t>νC_V ln(T₂/T₁)</a:t>
            </a:r>
          </a:p>
        </p:txBody>
      </p:sp>
      <p:sp>
        <p:nvSpPr>
          <p:cNvPr id="18" name="Rounded Rectangle 17"/>
          <p:cNvSpPr/>
          <p:nvPr/>
        </p:nvSpPr>
        <p:spPr>
          <a:xfrm>
            <a:off x="548640" y="4654296"/>
            <a:ext cx="6309360" cy="329184"/>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4709160"/>
            <a:ext cx="2231136" cy="219456"/>
          </a:xfrm>
          <a:prstGeom prst="rect">
            <a:avLst/>
          </a:prstGeom>
          <a:noFill/>
        </p:spPr>
        <p:txBody>
          <a:bodyPr wrap="square"/>
          <a:lstStyle/>
          <a:p>
            <a:pPr algn="ctr">
              <a:lnSpc>
                <a:spcPts val="1000"/>
              </a:lnSpc>
              <a:defRPr sz="800" b="1">
                <a:solidFill>
                  <a:srgbClr val="0F172A"/>
                </a:solidFill>
                <a:latin typeface="Calibri"/>
              </a:defRPr>
            </a:pPr>
            <a:r>
              <a:t>Đẳng áp</a:t>
            </a:r>
          </a:p>
        </p:txBody>
      </p:sp>
      <p:sp>
        <p:nvSpPr>
          <p:cNvPr id="20" name="TextBox 19"/>
          <p:cNvSpPr txBox="1"/>
          <p:nvPr/>
        </p:nvSpPr>
        <p:spPr>
          <a:xfrm>
            <a:off x="3090672" y="4709160"/>
            <a:ext cx="3694176" cy="219456"/>
          </a:xfrm>
          <a:prstGeom prst="rect">
            <a:avLst/>
          </a:prstGeom>
          <a:noFill/>
        </p:spPr>
        <p:txBody>
          <a:bodyPr wrap="square"/>
          <a:lstStyle/>
          <a:p>
            <a:pPr algn="ctr">
              <a:lnSpc>
                <a:spcPts val="1000"/>
              </a:lnSpc>
              <a:defRPr sz="800" b="0">
                <a:solidFill>
                  <a:srgbClr val="1E293B"/>
                </a:solidFill>
                <a:latin typeface="Calibri"/>
              </a:defRPr>
            </a:pPr>
            <a:r>
              <a:t>νC_p ln(T₂/T₁)</a:t>
            </a:r>
          </a:p>
        </p:txBody>
      </p:sp>
      <p:sp>
        <p:nvSpPr>
          <p:cNvPr id="21" name="Rounded Rectangle 20"/>
          <p:cNvSpPr/>
          <p:nvPr/>
        </p:nvSpPr>
        <p:spPr>
          <a:xfrm>
            <a:off x="548640" y="4983480"/>
            <a:ext cx="6309360" cy="329184"/>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5038344"/>
            <a:ext cx="2231136" cy="219456"/>
          </a:xfrm>
          <a:prstGeom prst="rect">
            <a:avLst/>
          </a:prstGeom>
          <a:noFill/>
        </p:spPr>
        <p:txBody>
          <a:bodyPr wrap="square"/>
          <a:lstStyle/>
          <a:p>
            <a:pPr algn="ctr">
              <a:lnSpc>
                <a:spcPts val="1000"/>
              </a:lnSpc>
              <a:defRPr sz="800" b="1">
                <a:solidFill>
                  <a:srgbClr val="0F172A"/>
                </a:solidFill>
                <a:latin typeface="Calibri"/>
              </a:defRPr>
            </a:pPr>
            <a:r>
              <a:t>Đẳng nhiệt</a:t>
            </a:r>
          </a:p>
        </p:txBody>
      </p:sp>
      <p:sp>
        <p:nvSpPr>
          <p:cNvPr id="23" name="TextBox 22"/>
          <p:cNvSpPr txBox="1"/>
          <p:nvPr/>
        </p:nvSpPr>
        <p:spPr>
          <a:xfrm>
            <a:off x="3090672" y="5038344"/>
            <a:ext cx="3694176" cy="219456"/>
          </a:xfrm>
          <a:prstGeom prst="rect">
            <a:avLst/>
          </a:prstGeom>
          <a:noFill/>
        </p:spPr>
        <p:txBody>
          <a:bodyPr wrap="square"/>
          <a:lstStyle/>
          <a:p>
            <a:pPr algn="ctr">
              <a:lnSpc>
                <a:spcPts val="1000"/>
              </a:lnSpc>
              <a:defRPr sz="800" b="0">
                <a:solidFill>
                  <a:srgbClr val="1E293B"/>
                </a:solidFill>
                <a:latin typeface="Calibri"/>
              </a:defRPr>
            </a:pPr>
            <a:r>
              <a:t>νR ln(V₂/V₁)=Q_rev/T</a:t>
            </a:r>
          </a:p>
        </p:txBody>
      </p:sp>
      <p:sp>
        <p:nvSpPr>
          <p:cNvPr id="24" name="Rounded Rectangle 23"/>
          <p:cNvSpPr/>
          <p:nvPr/>
        </p:nvSpPr>
        <p:spPr>
          <a:xfrm>
            <a:off x="548640" y="5312664"/>
            <a:ext cx="6309360" cy="329184"/>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5367528"/>
            <a:ext cx="2231136" cy="219456"/>
          </a:xfrm>
          <a:prstGeom prst="rect">
            <a:avLst/>
          </a:prstGeom>
          <a:noFill/>
        </p:spPr>
        <p:txBody>
          <a:bodyPr wrap="square"/>
          <a:lstStyle/>
          <a:p>
            <a:pPr algn="ctr">
              <a:lnSpc>
                <a:spcPts val="1000"/>
              </a:lnSpc>
              <a:defRPr sz="800" b="1">
                <a:solidFill>
                  <a:srgbClr val="0F172A"/>
                </a:solidFill>
                <a:latin typeface="Calibri"/>
              </a:defRPr>
            </a:pPr>
            <a:r>
              <a:t>Đoạn nhiệt TN</a:t>
            </a:r>
          </a:p>
        </p:txBody>
      </p:sp>
      <p:sp>
        <p:nvSpPr>
          <p:cNvPr id="26" name="TextBox 25"/>
          <p:cNvSpPr txBox="1"/>
          <p:nvPr/>
        </p:nvSpPr>
        <p:spPr>
          <a:xfrm>
            <a:off x="3090672" y="5367528"/>
            <a:ext cx="3694176" cy="219456"/>
          </a:xfrm>
          <a:prstGeom prst="rect">
            <a:avLst/>
          </a:prstGeom>
          <a:noFill/>
        </p:spPr>
        <p:txBody>
          <a:bodyPr wrap="square"/>
          <a:lstStyle/>
          <a:p>
            <a:pPr algn="ctr">
              <a:lnSpc>
                <a:spcPts val="1000"/>
              </a:lnSpc>
              <a:defRPr sz="800" b="0">
                <a:solidFill>
                  <a:srgbClr val="1E293B"/>
                </a:solidFill>
                <a:latin typeface="Calibri"/>
              </a:defRPr>
            </a:pPr>
            <a:r>
              <a:t>0</a:t>
            </a:r>
          </a:p>
        </p:txBody>
      </p:sp>
      <p:sp>
        <p:nvSpPr>
          <p:cNvPr id="27" name="Rounded Rectangle 26"/>
          <p:cNvSpPr/>
          <p:nvPr/>
        </p:nvSpPr>
        <p:spPr>
          <a:xfrm>
            <a:off x="7452360" y="960120"/>
            <a:ext cx="4251960" cy="123444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38BDF8"/>
                </a:solidFill>
              </a:rPr>
              <a:t>dS = δQ_rev / T  |  ΔS = ∫ δQ_rev/T</a:t>
            </a:r>
          </a:p>
          <a:p>
            <a:pPr algn="ctr"/>
            <a:r>
              <a:rPr sz="900">
                <a:solidFill>
                  <a:srgbClr val="FDE68A"/>
                </a:solidFill>
              </a:rPr>
              <a:t>Hệ cô lập:  ΔS ≥ 0</a:t>
            </a:r>
          </a:p>
        </p:txBody>
      </p:sp>
      <p:sp>
        <p:nvSpPr>
          <p:cNvPr id="28" name="Rounded Rectangle 27"/>
          <p:cNvSpPr/>
          <p:nvPr/>
        </p:nvSpPr>
        <p:spPr>
          <a:xfrm>
            <a:off x="7452360" y="2331720"/>
            <a:ext cx="4251960" cy="1965960"/>
          </a:xfrm>
          <a:prstGeom prst="roundRect">
            <a:avLst/>
          </a:prstGeom>
          <a:solidFill>
            <a:srgbClr val="F5F3FF"/>
          </a:solidFill>
          <a:ln w="1524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0" y="2423160"/>
            <a:ext cx="3977639" cy="1783080"/>
          </a:xfrm>
          <a:prstGeom prst="rect">
            <a:avLst/>
          </a:prstGeom>
          <a:noFill/>
        </p:spPr>
        <p:txBody>
          <a:bodyPr wrap="square"/>
          <a:lstStyle/>
          <a:p>
            <a:pPr algn="l">
              <a:lnSpc>
                <a:spcPts val="1062"/>
              </a:lnSpc>
              <a:defRPr sz="850" b="0">
                <a:solidFill>
                  <a:srgbClr val="475569"/>
                </a:solidFill>
                <a:latin typeface="Calibri"/>
              </a:defRPr>
            </a:pPr>
            <a:r>
              <a:t>💡 Mẹo nói:</a:t>
            </a:r>
            <a:br/>
            <a:r>
              <a:t>Giãn đẳng nhiệt V₁→2V₁ ở 300K: ΔS=νR ln2≈5.76 J/K &gt;0 → hỗn loạn tăng (nhiều chỗ hơn). Nén lại ΔS âm nhưng phải tốn công &amp; thải nhiệt → S môi trường tăng nhiều hơn, tổng S vẫn tăng.</a:t>
            </a:r>
          </a:p>
        </p:txBody>
      </p:sp>
      <p:sp>
        <p:nvSpPr>
          <p:cNvPr id="30" name="Rounded Rectangle 29"/>
          <p:cNvSpPr/>
          <p:nvPr/>
        </p:nvSpPr>
        <p:spPr>
          <a:xfrm>
            <a:off x="7452360" y="4434840"/>
            <a:ext cx="4251960" cy="1463040"/>
          </a:xfrm>
          <a:prstGeom prst="roundRect">
            <a:avLst/>
          </a:prstGeom>
          <a:solidFill>
            <a:srgbClr val="FFF2F2"/>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89520" y="4526280"/>
            <a:ext cx="3977639" cy="1280160"/>
          </a:xfrm>
          <a:prstGeom prst="rect">
            <a:avLst/>
          </a:prstGeom>
          <a:noFill/>
        </p:spPr>
        <p:txBody>
          <a:bodyPr wrap="square"/>
          <a:lstStyle/>
          <a:p>
            <a:pPr algn="l">
              <a:lnSpc>
                <a:spcPts val="1000"/>
              </a:lnSpc>
              <a:defRPr sz="800" b="0">
                <a:solidFill>
                  <a:srgbClr val="B91C1C"/>
                </a:solidFill>
                <a:latin typeface="Calibri"/>
              </a:defRPr>
            </a:pPr>
            <a:r>
              <a:t>⚠️ Bẫy: Tính ΔS phải theo đường thuận nghịch, dù quá trình thực BKTN. Lấy Q_thực/T là sai!</a:t>
            </a:r>
          </a:p>
        </p:txBody>
      </p:sp>
      <p:sp>
        <p:nvSpPr>
          <p:cNvPr id="32" name="Rounded Rectangle 31"/>
          <p:cNvSpPr/>
          <p:nvPr/>
        </p:nvSpPr>
        <p:spPr>
          <a:xfrm>
            <a:off x="7452360" y="6035040"/>
            <a:ext cx="4251960" cy="50292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89520" y="6126480"/>
            <a:ext cx="3977639" cy="320040"/>
          </a:xfrm>
          <a:prstGeom prst="rect">
            <a:avLst/>
          </a:prstGeom>
          <a:noFill/>
        </p:spPr>
        <p:txBody>
          <a:bodyPr wrap="square"/>
          <a:lstStyle/>
          <a:p>
            <a:pPr algn="l">
              <a:lnSpc>
                <a:spcPts val="937"/>
              </a:lnSpc>
              <a:defRPr sz="750" b="0">
                <a:solidFill>
                  <a:srgbClr val="475569"/>
                </a:solidFill>
                <a:latin typeface="Calibri"/>
              </a:defRPr>
            </a:pPr>
            <a:r>
              <a:t>📌 S (J/K) đo vô trật tự. Phòng tự bừa S↑</a:t>
            </a:r>
          </a:p>
        </p:txBody>
      </p:sp>
      <p:sp>
        <p:nvSpPr>
          <p:cNvPr id="34" name="TextBox 33"/>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11480" y="228600"/>
            <a:ext cx="11365992" cy="365760"/>
          </a:xfrm>
          <a:prstGeom prst="rect">
            <a:avLst/>
          </a:prstGeom>
          <a:noFill/>
        </p:spPr>
        <p:txBody>
          <a:bodyPr wrap="square"/>
          <a:lstStyle/>
          <a:p>
            <a:pPr algn="ctr">
              <a:lnSpc>
                <a:spcPts val="1750"/>
              </a:lnSpc>
              <a:defRPr sz="1400" b="1">
                <a:solidFill>
                  <a:srgbClr val="FFFFFF"/>
                </a:solidFill>
                <a:latin typeface="Calibri"/>
              </a:defRPr>
            </a:pPr>
            <a:r>
              <a:t>📄  CHEAT SHEET 1 TRANG — NHÌN 30 GIÂY LÀ NHỚ</a:t>
            </a:r>
          </a:p>
        </p:txBody>
      </p:sp>
      <p:sp>
        <p:nvSpPr>
          <p:cNvPr id="3" name="TextBox 2"/>
          <p:cNvSpPr txBox="1"/>
          <p:nvPr/>
        </p:nvSpPr>
        <p:spPr>
          <a:xfrm>
            <a:off x="411480" y="566928"/>
            <a:ext cx="11365992" cy="201168"/>
          </a:xfrm>
          <a:prstGeom prst="rect">
            <a:avLst/>
          </a:prstGeom>
          <a:noFill/>
        </p:spPr>
        <p:txBody>
          <a:bodyPr wrap="square"/>
          <a:lstStyle/>
          <a:p>
            <a:pPr algn="ctr">
              <a:lnSpc>
                <a:spcPts val="1000"/>
              </a:lnSpc>
              <a:defRPr sz="800" b="0">
                <a:solidFill>
                  <a:srgbClr val="94A3B8"/>
                </a:solidFill>
                <a:latin typeface="Calibri"/>
              </a:defRPr>
            </a:pPr>
            <a:r>
              <a:t>In A4 dán tường • Chỉ nhớ chữ đậm → còn lại suy ra trong 10 giây</a:t>
            </a:r>
          </a:p>
        </p:txBody>
      </p:sp>
      <p:sp>
        <p:nvSpPr>
          <p:cNvPr id="4" name="Rounded Rectangle 3"/>
          <p:cNvSpPr/>
          <p:nvPr/>
        </p:nvSpPr>
        <p:spPr>
          <a:xfrm>
            <a:off x="411480" y="868680"/>
            <a:ext cx="3703320" cy="2514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21208" y="978408"/>
            <a:ext cx="3483864" cy="292608"/>
          </a:xfrm>
          <a:prstGeom prst="roundRect">
            <a:avLst/>
          </a:prstGeom>
          <a:solidFill>
            <a:srgbClr val="DBE6FE"/>
          </a:solidFill>
          <a:ln w="15240">
            <a:solidFill>
              <a:srgbClr val="DBE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0F172A"/>
                </a:solidFill>
              </a:rPr>
              <a:t>🔵 Động học</a:t>
            </a:r>
          </a:p>
        </p:txBody>
      </p:sp>
      <p:sp>
        <p:nvSpPr>
          <p:cNvPr id="6" name="TextBox 5"/>
          <p:cNvSpPr txBox="1"/>
          <p:nvPr/>
        </p:nvSpPr>
        <p:spPr>
          <a:xfrm>
            <a:off x="576072" y="1344168"/>
            <a:ext cx="3374136" cy="1920240"/>
          </a:xfrm>
          <a:prstGeom prst="rect">
            <a:avLst/>
          </a:prstGeom>
          <a:noFill/>
        </p:spPr>
        <p:txBody>
          <a:bodyPr wrap="square">
            <a:spAutoFit/>
          </a:bodyPr>
          <a:lstStyle/>
          <a:p>
            <a:pPr>
              <a:lnSpc>
                <a:spcPts val="800"/>
              </a:lnSpc>
              <a:spcAft>
                <a:spcPts val="200"/>
              </a:spcAft>
            </a:pPr>
            <a:r>
              <a:rPr sz="700" b="1">
                <a:solidFill>
                  <a:srgbClr val="1E293B"/>
                </a:solidFill>
              </a:rPr>
              <a:t>• v=dr/dt, a=dv/dt</a:t>
            </a:r>
            <a:r>
              <a:rPr sz="650">
                <a:solidFill>
                  <a:srgbClr val="475569"/>
                </a:solidFill>
              </a:rPr>
              <a:t>  a_t=dv/dt, a_n=v²/R</a:t>
            </a:r>
          </a:p>
          <a:p>
            <a:pPr>
              <a:lnSpc>
                <a:spcPts val="800"/>
              </a:lnSpc>
              <a:spcAft>
                <a:spcPts val="200"/>
              </a:spcAft>
            </a:pPr>
            <a:r>
              <a:rPr sz="700" b="1">
                <a:solidFill>
                  <a:srgbClr val="1E293B"/>
                </a:solidFill>
              </a:rPr>
              <a:t>• Tròn:</a:t>
            </a:r>
            <a:r>
              <a:rPr sz="650">
                <a:solidFill>
                  <a:srgbClr val="475569"/>
                </a:solidFill>
              </a:rPr>
              <a:t>  ω=dφ/dt, v=ωR, a_t=βR, a_n=ω²R</a:t>
            </a:r>
          </a:p>
          <a:p>
            <a:pPr>
              <a:lnSpc>
                <a:spcPts val="800"/>
              </a:lnSpc>
              <a:spcAft>
                <a:spcPts val="200"/>
              </a:spcAft>
            </a:pPr>
            <a:r>
              <a:rPr sz="700" b="1">
                <a:solidFill>
                  <a:srgbClr val="1E293B"/>
                </a:solidFill>
              </a:rPr>
              <a:t>• Thẳng BĐĐ:</a:t>
            </a:r>
            <a:r>
              <a:rPr sz="650">
                <a:solidFill>
                  <a:srgbClr val="475569"/>
                </a:solidFill>
              </a:rPr>
              <a:t>  v=v₀+at, x=x₀+v₀t+½at²</a:t>
            </a:r>
          </a:p>
          <a:p>
            <a:pPr>
              <a:lnSpc>
                <a:spcPts val="800"/>
              </a:lnSpc>
              <a:spcAft>
                <a:spcPts val="200"/>
              </a:spcAft>
            </a:pPr>
            <a:r>
              <a:rPr sz="700" b="1">
                <a:solidFill>
                  <a:srgbClr val="1E293B"/>
                </a:solidFill>
              </a:rPr>
              <a:t>• Ném xiên:</a:t>
            </a:r>
            <a:r>
              <a:rPr sz="650">
                <a:solidFill>
                  <a:srgbClr val="475569"/>
                </a:solidFill>
              </a:rPr>
              <a:t>  x=v₀cosα·t, y=v₀sinα·t−½gt²</a:t>
            </a:r>
          </a:p>
        </p:txBody>
      </p:sp>
      <p:sp>
        <p:nvSpPr>
          <p:cNvPr id="7" name="Rounded Rectangle 6"/>
          <p:cNvSpPr/>
          <p:nvPr/>
        </p:nvSpPr>
        <p:spPr>
          <a:xfrm>
            <a:off x="4325112" y="868680"/>
            <a:ext cx="3703320" cy="2514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34840" y="978408"/>
            <a:ext cx="3483864" cy="292608"/>
          </a:xfrm>
          <a:prstGeom prst="roundRect">
            <a:avLst/>
          </a:prstGeom>
          <a:solidFill>
            <a:srgbClr val="FEF3C7"/>
          </a:solidFill>
          <a:ln w="15240">
            <a:solidFill>
              <a:srgbClr val="FEF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0F172A"/>
                </a:solidFill>
              </a:rPr>
              <a:t>🟡 Động lực &amp; Bảo toàn</a:t>
            </a:r>
          </a:p>
        </p:txBody>
      </p:sp>
      <p:sp>
        <p:nvSpPr>
          <p:cNvPr id="9" name="TextBox 8"/>
          <p:cNvSpPr txBox="1"/>
          <p:nvPr/>
        </p:nvSpPr>
        <p:spPr>
          <a:xfrm>
            <a:off x="4489704" y="1344168"/>
            <a:ext cx="3374136" cy="1920240"/>
          </a:xfrm>
          <a:prstGeom prst="rect">
            <a:avLst/>
          </a:prstGeom>
          <a:noFill/>
        </p:spPr>
        <p:txBody>
          <a:bodyPr wrap="square">
            <a:spAutoFit/>
          </a:bodyPr>
          <a:lstStyle/>
          <a:p>
            <a:pPr>
              <a:lnSpc>
                <a:spcPts val="800"/>
              </a:lnSpc>
              <a:spcAft>
                <a:spcPts val="200"/>
              </a:spcAft>
            </a:pPr>
            <a:r>
              <a:rPr sz="700" b="1">
                <a:solidFill>
                  <a:srgbClr val="1E293B"/>
                </a:solidFill>
              </a:rPr>
              <a:t>• F=ma, F_AB=−F_BA</a:t>
            </a:r>
            <a:r>
              <a:rPr sz="650">
                <a:solidFill>
                  <a:srgbClr val="475569"/>
                </a:solidFill>
              </a:rPr>
              <a:t>  P=mg, F_hd=Gm₁m₂/r², F_đh=−kΔl, F_ms=μN</a:t>
            </a:r>
          </a:p>
          <a:p>
            <a:pPr>
              <a:lnSpc>
                <a:spcPts val="800"/>
              </a:lnSpc>
              <a:spcAft>
                <a:spcPts val="200"/>
              </a:spcAft>
            </a:pPr>
            <a:r>
              <a:rPr sz="700" b="1">
                <a:solidFill>
                  <a:srgbClr val="1E293B"/>
                </a:solidFill>
              </a:rPr>
              <a:t>• p=mv, F=dp/dt</a:t>
            </a:r>
            <a:r>
              <a:rPr sz="650">
                <a:solidFill>
                  <a:srgbClr val="475569"/>
                </a:solidFill>
              </a:rPr>
              <a:t>  Σp=const nếu ΣF=0</a:t>
            </a:r>
          </a:p>
          <a:p>
            <a:pPr>
              <a:lnSpc>
                <a:spcPts val="800"/>
              </a:lnSpc>
              <a:spcAft>
                <a:spcPts val="200"/>
              </a:spcAft>
            </a:pPr>
            <a:r>
              <a:rPr sz="700" b="1">
                <a:solidFill>
                  <a:srgbClr val="1E293B"/>
                </a:solidFill>
              </a:rPr>
              <a:t>• L=r×p, M=r×F</a:t>
            </a:r>
            <a:r>
              <a:rPr sz="650">
                <a:solidFill>
                  <a:srgbClr val="475569"/>
                </a:solidFill>
              </a:rPr>
              <a:t>  L=const nếu M=0</a:t>
            </a:r>
          </a:p>
          <a:p>
            <a:pPr>
              <a:lnSpc>
                <a:spcPts val="800"/>
              </a:lnSpc>
              <a:spcAft>
                <a:spcPts val="200"/>
              </a:spcAft>
            </a:pPr>
            <a:r>
              <a:rPr sz="700" b="1">
                <a:solidFill>
                  <a:srgbClr val="1E293B"/>
                </a:solidFill>
              </a:rPr>
              <a:t>• Wđ=½mv², Wt=mgh/½kx²</a:t>
            </a:r>
            <a:r>
              <a:rPr sz="650">
                <a:solidFill>
                  <a:srgbClr val="475569"/>
                </a:solidFill>
              </a:rPr>
              <a:t>  W=Wđ+Wt=const (chỉ lực thế)</a:t>
            </a:r>
          </a:p>
        </p:txBody>
      </p:sp>
      <p:sp>
        <p:nvSpPr>
          <p:cNvPr id="10" name="Rounded Rectangle 9"/>
          <p:cNvSpPr/>
          <p:nvPr/>
        </p:nvSpPr>
        <p:spPr>
          <a:xfrm>
            <a:off x="8238744" y="868680"/>
            <a:ext cx="3703320" cy="2514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48472" y="978408"/>
            <a:ext cx="3483864" cy="292608"/>
          </a:xfrm>
          <a:prstGeom prst="roundRect">
            <a:avLst/>
          </a:prstGeom>
          <a:solidFill>
            <a:srgbClr val="DCFCE7"/>
          </a:solidFill>
          <a:ln w="15240">
            <a:solidFill>
              <a:srgbClr val="DCF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0F172A"/>
                </a:solidFill>
              </a:rPr>
              <a:t>🟢 Vật rắn &amp; Va chạm</a:t>
            </a:r>
          </a:p>
        </p:txBody>
      </p:sp>
      <p:sp>
        <p:nvSpPr>
          <p:cNvPr id="12" name="TextBox 11"/>
          <p:cNvSpPr txBox="1"/>
          <p:nvPr/>
        </p:nvSpPr>
        <p:spPr>
          <a:xfrm>
            <a:off x="8403336" y="1344168"/>
            <a:ext cx="3374136" cy="1920240"/>
          </a:xfrm>
          <a:prstGeom prst="rect">
            <a:avLst/>
          </a:prstGeom>
          <a:noFill/>
        </p:spPr>
        <p:txBody>
          <a:bodyPr wrap="square">
            <a:spAutoFit/>
          </a:bodyPr>
          <a:lstStyle/>
          <a:p>
            <a:pPr>
              <a:lnSpc>
                <a:spcPts val="800"/>
              </a:lnSpc>
              <a:spcAft>
                <a:spcPts val="200"/>
              </a:spcAft>
            </a:pPr>
            <a:r>
              <a:rPr sz="700" b="1">
                <a:solidFill>
                  <a:srgbClr val="1E293B"/>
                </a:solidFill>
              </a:rPr>
              <a:t>• M=Iβ ↔ F=ma</a:t>
            </a:r>
            <a:r>
              <a:rPr sz="650">
                <a:solidFill>
                  <a:srgbClr val="475569"/>
                </a:solidFill>
              </a:rPr>
              <a:t>  L=Iω, Wq=½Iω²</a:t>
            </a:r>
          </a:p>
          <a:p>
            <a:pPr>
              <a:lnSpc>
                <a:spcPts val="800"/>
              </a:lnSpc>
              <a:spcAft>
                <a:spcPts val="200"/>
              </a:spcAft>
            </a:pPr>
            <a:r>
              <a:rPr sz="700" b="1">
                <a:solidFill>
                  <a:srgbClr val="1E293B"/>
                </a:solidFill>
              </a:rPr>
              <a:t>• I=Σmr², I=I_G+md²</a:t>
            </a:r>
          </a:p>
          <a:p>
            <a:pPr>
              <a:lnSpc>
                <a:spcPts val="800"/>
              </a:lnSpc>
              <a:spcAft>
                <a:spcPts val="200"/>
              </a:spcAft>
            </a:pPr>
            <a:r>
              <a:rPr sz="700" b="1">
                <a:solidFill>
                  <a:srgbClr val="1E293B"/>
                </a:solidFill>
              </a:rPr>
              <a:t>• Thanh G 1/12ml²</a:t>
            </a:r>
            <a:r>
              <a:rPr sz="650">
                <a:solidFill>
                  <a:srgbClr val="475569"/>
                </a:solidFill>
              </a:rPr>
              <a:t>  Đầu 1/3ml²</a:t>
            </a:r>
          </a:p>
          <a:p>
            <a:pPr>
              <a:lnSpc>
                <a:spcPts val="800"/>
              </a:lnSpc>
              <a:spcAft>
                <a:spcPts val="200"/>
              </a:spcAft>
            </a:pPr>
            <a:r>
              <a:rPr sz="700" b="1">
                <a:solidFill>
                  <a:srgbClr val="1E293B"/>
                </a:solidFill>
              </a:rPr>
              <a:t>• Đĩa ½mR²</a:t>
            </a:r>
            <a:r>
              <a:rPr sz="650">
                <a:solidFill>
                  <a:srgbClr val="475569"/>
                </a:solidFill>
              </a:rPr>
              <a:t>  Vành mR², Cầu 2/5mR²</a:t>
            </a:r>
          </a:p>
          <a:p>
            <a:pPr>
              <a:lnSpc>
                <a:spcPts val="800"/>
              </a:lnSpc>
              <a:spcAft>
                <a:spcPts val="200"/>
              </a:spcAft>
            </a:pPr>
            <a:r>
              <a:rPr sz="700" b="1">
                <a:solidFill>
                  <a:srgbClr val="1E293B"/>
                </a:solidFill>
              </a:rPr>
              <a:t>• Va chạm:</a:t>
            </a:r>
            <a:r>
              <a:rPr sz="650">
                <a:solidFill>
                  <a:srgbClr val="475569"/>
                </a:solidFill>
              </a:rPr>
              <a:t>  Đàn hồi (p+Wđ), Mềm (chỉ p)</a:t>
            </a:r>
          </a:p>
          <a:p>
            <a:pPr>
              <a:lnSpc>
                <a:spcPts val="800"/>
              </a:lnSpc>
              <a:spcAft>
                <a:spcPts val="200"/>
              </a:spcAft>
            </a:pPr>
            <a:r>
              <a:rPr sz="700" b="1">
                <a:solidFill>
                  <a:srgbClr val="1E293B"/>
                </a:solidFill>
              </a:rPr>
              <a:t>• Lăn:</a:t>
            </a:r>
            <a:r>
              <a:rPr sz="650">
                <a:solidFill>
                  <a:srgbClr val="475569"/>
                </a:solidFill>
              </a:rPr>
              <a:t>  v_G=ωR</a:t>
            </a:r>
          </a:p>
        </p:txBody>
      </p:sp>
      <p:sp>
        <p:nvSpPr>
          <p:cNvPr id="13" name="Rounded Rectangle 12"/>
          <p:cNvSpPr/>
          <p:nvPr/>
        </p:nvSpPr>
        <p:spPr>
          <a:xfrm>
            <a:off x="411480" y="3566160"/>
            <a:ext cx="3703320" cy="2514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21208" y="3675888"/>
            <a:ext cx="3483864" cy="292608"/>
          </a:xfrm>
          <a:prstGeom prst="roundRect">
            <a:avLst/>
          </a:prstGeom>
          <a:solidFill>
            <a:srgbClr val="FDE2F8"/>
          </a:solidFill>
          <a:ln w="15240">
            <a:solidFill>
              <a:srgbClr val="FDE2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0F172A"/>
                </a:solidFill>
              </a:rPr>
              <a:t>🟣 Khí lý tưởng</a:t>
            </a:r>
          </a:p>
        </p:txBody>
      </p:sp>
      <p:sp>
        <p:nvSpPr>
          <p:cNvPr id="15" name="TextBox 14"/>
          <p:cNvSpPr txBox="1"/>
          <p:nvPr/>
        </p:nvSpPr>
        <p:spPr>
          <a:xfrm>
            <a:off x="576072" y="4041648"/>
            <a:ext cx="3374136" cy="1920240"/>
          </a:xfrm>
          <a:prstGeom prst="rect">
            <a:avLst/>
          </a:prstGeom>
          <a:noFill/>
        </p:spPr>
        <p:txBody>
          <a:bodyPr wrap="square">
            <a:spAutoFit/>
          </a:bodyPr>
          <a:lstStyle/>
          <a:p>
            <a:pPr>
              <a:lnSpc>
                <a:spcPts val="800"/>
              </a:lnSpc>
              <a:spcAft>
                <a:spcPts val="200"/>
              </a:spcAft>
            </a:pPr>
            <a:r>
              <a:rPr sz="700" b="1">
                <a:solidFill>
                  <a:srgbClr val="1E293B"/>
                </a:solidFill>
              </a:rPr>
              <a:t>• pV=νRT</a:t>
            </a:r>
            <a:r>
              <a:rPr sz="650">
                <a:solidFill>
                  <a:srgbClr val="475569"/>
                </a:solidFill>
              </a:rPr>
              <a:t>  (m/M)RT</a:t>
            </a:r>
          </a:p>
          <a:p>
            <a:pPr>
              <a:lnSpc>
                <a:spcPts val="800"/>
              </a:lnSpc>
              <a:spcAft>
                <a:spcPts val="200"/>
              </a:spcAft>
            </a:pPr>
            <a:r>
              <a:rPr sz="700" b="1">
                <a:solidFill>
                  <a:srgbClr val="1E293B"/>
                </a:solidFill>
              </a:rPr>
              <a:t>• p=nkT</a:t>
            </a:r>
            <a:r>
              <a:rPr sz="650">
                <a:solidFill>
                  <a:srgbClr val="475569"/>
                </a:solidFill>
              </a:rPr>
              <a:t>  p=⅓n₀m⟨v²⟩</a:t>
            </a:r>
          </a:p>
          <a:p>
            <a:pPr>
              <a:lnSpc>
                <a:spcPts val="800"/>
              </a:lnSpc>
              <a:spcAft>
                <a:spcPts val="200"/>
              </a:spcAft>
            </a:pPr>
            <a:r>
              <a:rPr sz="700" b="1">
                <a:solidFill>
                  <a:srgbClr val="1E293B"/>
                </a:solidFill>
              </a:rPr>
              <a:t>• ⟨wđ⟩=3/2kT</a:t>
            </a:r>
          </a:p>
          <a:p>
            <a:pPr>
              <a:lnSpc>
                <a:spcPts val="800"/>
              </a:lnSpc>
              <a:spcAft>
                <a:spcPts val="200"/>
              </a:spcAft>
            </a:pPr>
            <a:r>
              <a:rPr sz="700" b="1">
                <a:solidFill>
                  <a:srgbClr val="1E293B"/>
                </a:solidFill>
              </a:rPr>
              <a:t>• U=νC_VT</a:t>
            </a:r>
          </a:p>
        </p:txBody>
      </p:sp>
      <p:sp>
        <p:nvSpPr>
          <p:cNvPr id="16" name="Rounded Rectangle 15"/>
          <p:cNvSpPr/>
          <p:nvPr/>
        </p:nvSpPr>
        <p:spPr>
          <a:xfrm>
            <a:off x="4325112" y="3566160"/>
            <a:ext cx="3703320" cy="2514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34840" y="3675888"/>
            <a:ext cx="3483864" cy="292608"/>
          </a:xfrm>
          <a:prstGeom prst="roundRect">
            <a:avLst/>
          </a:prstGeom>
          <a:solidFill>
            <a:srgbClr val="FFEDD5"/>
          </a:solidFill>
          <a:ln w="15240">
            <a:solidFill>
              <a:srgbClr val="FFE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0F172A"/>
                </a:solidFill>
              </a:rPr>
              <a:t>🟠 Nguyên lý I</a:t>
            </a:r>
          </a:p>
        </p:txBody>
      </p:sp>
      <p:sp>
        <p:nvSpPr>
          <p:cNvPr id="18" name="TextBox 17"/>
          <p:cNvSpPr txBox="1"/>
          <p:nvPr/>
        </p:nvSpPr>
        <p:spPr>
          <a:xfrm>
            <a:off x="4489704" y="4041648"/>
            <a:ext cx="3374136" cy="1920240"/>
          </a:xfrm>
          <a:prstGeom prst="rect">
            <a:avLst/>
          </a:prstGeom>
          <a:noFill/>
        </p:spPr>
        <p:txBody>
          <a:bodyPr wrap="square">
            <a:spAutoFit/>
          </a:bodyPr>
          <a:lstStyle/>
          <a:p>
            <a:pPr>
              <a:lnSpc>
                <a:spcPts val="800"/>
              </a:lnSpc>
              <a:spcAft>
                <a:spcPts val="200"/>
              </a:spcAft>
            </a:pPr>
            <a:r>
              <a:rPr sz="700" b="1">
                <a:solidFill>
                  <a:srgbClr val="1E293B"/>
                </a:solidFill>
              </a:rPr>
              <a:t>• ΔU=A+Q</a:t>
            </a:r>
            <a:r>
              <a:rPr sz="650">
                <a:solidFill>
                  <a:srgbClr val="475569"/>
                </a:solidFill>
              </a:rPr>
              <a:t>  dU=δQ−pdV</a:t>
            </a:r>
          </a:p>
          <a:p>
            <a:pPr>
              <a:lnSpc>
                <a:spcPts val="800"/>
              </a:lnSpc>
              <a:spcAft>
                <a:spcPts val="200"/>
              </a:spcAft>
            </a:pPr>
            <a:r>
              <a:rPr sz="700" b="1">
                <a:solidFill>
                  <a:srgbClr val="1E293B"/>
                </a:solidFill>
              </a:rPr>
              <a:t>• Cp−Cv=R</a:t>
            </a:r>
            <a:r>
              <a:rPr sz="650">
                <a:solidFill>
                  <a:srgbClr val="475569"/>
                </a:solidFill>
              </a:rPr>
              <a:t>  γ=Cp/Cv</a:t>
            </a:r>
          </a:p>
          <a:p>
            <a:pPr>
              <a:lnSpc>
                <a:spcPts val="800"/>
              </a:lnSpc>
              <a:spcAft>
                <a:spcPts val="200"/>
              </a:spcAft>
            </a:pPr>
            <a:r>
              <a:rPr sz="700" b="1">
                <a:solidFill>
                  <a:srgbClr val="1E293B"/>
                </a:solidFill>
              </a:rPr>
              <a:t>• Đẳng tích:</a:t>
            </a:r>
            <a:r>
              <a:rPr sz="650">
                <a:solidFill>
                  <a:srgbClr val="475569"/>
                </a:solidFill>
              </a:rPr>
              <a:t>  A=0, Q=νCvΔT</a:t>
            </a:r>
          </a:p>
          <a:p>
            <a:pPr>
              <a:lnSpc>
                <a:spcPts val="800"/>
              </a:lnSpc>
              <a:spcAft>
                <a:spcPts val="200"/>
              </a:spcAft>
            </a:pPr>
            <a:r>
              <a:rPr sz="700" b="1">
                <a:solidFill>
                  <a:srgbClr val="1E293B"/>
                </a:solidFill>
              </a:rPr>
              <a:t>• Đẳng áp:</a:t>
            </a:r>
            <a:r>
              <a:rPr sz="650">
                <a:solidFill>
                  <a:srgbClr val="475569"/>
                </a:solidFill>
              </a:rPr>
              <a:t>  A=−pΔV, Q=νCpΔT</a:t>
            </a:r>
          </a:p>
          <a:p>
            <a:pPr>
              <a:lnSpc>
                <a:spcPts val="800"/>
              </a:lnSpc>
              <a:spcAft>
                <a:spcPts val="200"/>
              </a:spcAft>
            </a:pPr>
            <a:r>
              <a:rPr sz="700" b="1">
                <a:solidFill>
                  <a:srgbClr val="1E293B"/>
                </a:solidFill>
              </a:rPr>
              <a:t>• Đẳng nhiệt:</a:t>
            </a:r>
            <a:r>
              <a:rPr sz="650">
                <a:solidFill>
                  <a:srgbClr val="475569"/>
                </a:solidFill>
              </a:rPr>
              <a:t>  ΔU=0, Q=−A=νRT ln(V₂/V₁)</a:t>
            </a:r>
          </a:p>
          <a:p>
            <a:pPr>
              <a:lnSpc>
                <a:spcPts val="800"/>
              </a:lnSpc>
              <a:spcAft>
                <a:spcPts val="200"/>
              </a:spcAft>
            </a:pPr>
            <a:r>
              <a:rPr sz="700" b="1">
                <a:solidFill>
                  <a:srgbClr val="1E293B"/>
                </a:solidFill>
              </a:rPr>
              <a:t>• Đoạn nhiệt:</a:t>
            </a:r>
            <a:r>
              <a:rPr sz="650">
                <a:solidFill>
                  <a:srgbClr val="475569"/>
                </a:solidFill>
              </a:rPr>
              <a:t>  Q=0, pV^γ=const</a:t>
            </a:r>
          </a:p>
        </p:txBody>
      </p:sp>
      <p:sp>
        <p:nvSpPr>
          <p:cNvPr id="19" name="Rounded Rectangle 18"/>
          <p:cNvSpPr/>
          <p:nvPr/>
        </p:nvSpPr>
        <p:spPr>
          <a:xfrm>
            <a:off x="8238744" y="3566160"/>
            <a:ext cx="3703320" cy="2514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348472" y="3675888"/>
            <a:ext cx="3483864" cy="292608"/>
          </a:xfrm>
          <a:prstGeom prst="roundRect">
            <a:avLst/>
          </a:prstGeom>
          <a:solidFill>
            <a:srgbClr val="EDE9FE"/>
          </a:solidFill>
          <a:ln w="15240">
            <a:solidFill>
              <a:srgbClr val="EDE9F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0F172A"/>
                </a:solidFill>
              </a:rPr>
              <a:t>🔷 Nguyên lý II</a:t>
            </a:r>
          </a:p>
        </p:txBody>
      </p:sp>
      <p:sp>
        <p:nvSpPr>
          <p:cNvPr id="21" name="TextBox 20"/>
          <p:cNvSpPr txBox="1"/>
          <p:nvPr/>
        </p:nvSpPr>
        <p:spPr>
          <a:xfrm>
            <a:off x="8403336" y="4041648"/>
            <a:ext cx="3374136" cy="1920240"/>
          </a:xfrm>
          <a:prstGeom prst="rect">
            <a:avLst/>
          </a:prstGeom>
          <a:noFill/>
        </p:spPr>
        <p:txBody>
          <a:bodyPr wrap="square">
            <a:spAutoFit/>
          </a:bodyPr>
          <a:lstStyle/>
          <a:p>
            <a:pPr>
              <a:lnSpc>
                <a:spcPts val="800"/>
              </a:lnSpc>
              <a:spcAft>
                <a:spcPts val="200"/>
              </a:spcAft>
            </a:pPr>
            <a:r>
              <a:rPr sz="700" b="1">
                <a:solidFill>
                  <a:srgbClr val="1E293B"/>
                </a:solidFill>
              </a:rPr>
              <a:t>• η=1−Q₂/Q₁</a:t>
            </a:r>
            <a:r>
              <a:rPr sz="650">
                <a:solidFill>
                  <a:srgbClr val="475569"/>
                </a:solidFill>
              </a:rPr>
              <a:t>  η_C=1−T₂/T₁ (max)</a:t>
            </a:r>
          </a:p>
          <a:p>
            <a:pPr>
              <a:lnSpc>
                <a:spcPts val="800"/>
              </a:lnSpc>
              <a:spcAft>
                <a:spcPts val="200"/>
              </a:spcAft>
            </a:pPr>
            <a:r>
              <a:rPr sz="700" b="1">
                <a:solidFill>
                  <a:srgbClr val="1E293B"/>
                </a:solidFill>
              </a:rPr>
              <a:t>• ε=Q₂/A</a:t>
            </a:r>
            <a:r>
              <a:rPr sz="650">
                <a:solidFill>
                  <a:srgbClr val="475569"/>
                </a:solidFill>
              </a:rPr>
              <a:t>  ε_C=T₂/(T₁−T₂)</a:t>
            </a:r>
          </a:p>
          <a:p>
            <a:pPr>
              <a:lnSpc>
                <a:spcPts val="800"/>
              </a:lnSpc>
              <a:spcAft>
                <a:spcPts val="200"/>
              </a:spcAft>
            </a:pPr>
            <a:r>
              <a:rPr sz="700" b="1">
                <a:solidFill>
                  <a:srgbClr val="1E293B"/>
                </a:solidFill>
              </a:rPr>
              <a:t>• dS=δQ_rev/T</a:t>
            </a:r>
            <a:r>
              <a:rPr sz="650">
                <a:solidFill>
                  <a:srgbClr val="475569"/>
                </a:solidFill>
              </a:rPr>
              <a:t>  ΔS≥0 (cô lập)</a:t>
            </a:r>
          </a:p>
        </p:txBody>
      </p:sp>
      <p:sp>
        <p:nvSpPr>
          <p:cNvPr id="22" name="TextBox 21"/>
          <p:cNvSpPr txBox="1"/>
          <p:nvPr/>
        </p:nvSpPr>
        <p:spPr>
          <a:xfrm>
            <a:off x="411480" y="6400800"/>
            <a:ext cx="11365992" cy="201168"/>
          </a:xfrm>
          <a:prstGeom prst="rect">
            <a:avLst/>
          </a:prstGeom>
          <a:noFill/>
        </p:spPr>
        <p:txBody>
          <a:bodyPr wrap="square"/>
          <a:lstStyle/>
          <a:p>
            <a:pPr algn="ctr">
              <a:lnSpc>
                <a:spcPts val="875"/>
              </a:lnSpc>
              <a:defRPr sz="700" b="0">
                <a:solidFill>
                  <a:srgbClr val="94A3B8"/>
                </a:solidFill>
                <a:latin typeface="Calibri"/>
              </a:defRPr>
            </a:pPr>
            <a:r>
              <a:t>💡 Chỉ nhớ công thức đậm → còn lại suy ra • Kiểm tra quy ước dấu A,Q trước khi làm bài • T phải Kelvin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164592"/>
            <a:ext cx="868680" cy="457200"/>
          </a:xfrm>
          <a:prstGeom prst="roundRect">
            <a:avLst>
              <a:gd name="adj" fmla="val 15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Calibri"/>
              </a:rPr>
              <a:t>CHƯƠNG P</a:t>
            </a:r>
          </a:p>
        </p:txBody>
      </p:sp>
      <p:sp>
        <p:nvSpPr>
          <p:cNvPr id="4" name="TextBox 3"/>
          <p:cNvSpPr txBox="1"/>
          <p:nvPr/>
        </p:nvSpPr>
        <p:spPr>
          <a:xfrm>
            <a:off x="1463040" y="146304"/>
            <a:ext cx="8229600" cy="502920"/>
          </a:xfrm>
          <a:prstGeom prst="rect">
            <a:avLst/>
          </a:prstGeom>
          <a:noFill/>
        </p:spPr>
        <p:txBody>
          <a:bodyPr wrap="square"/>
          <a:lstStyle/>
          <a:p>
            <a:pPr algn="l">
              <a:lnSpc>
                <a:spcPts val="2250"/>
              </a:lnSpc>
              <a:defRPr sz="1800" b="1">
                <a:solidFill>
                  <a:srgbClr val="FFFFFF"/>
                </a:solidFill>
                <a:latin typeface="Calibri"/>
              </a:defRPr>
            </a:pPr>
            <a:r>
              <a:t>Phụ lục — Bảng tra ký hiệu (in riêng để tra nhanh)</a:t>
            </a:r>
          </a:p>
        </p:txBody>
      </p:sp>
      <p:sp>
        <p:nvSpPr>
          <p:cNvPr id="5" name="Rounded Rectangle 4"/>
          <p:cNvSpPr/>
          <p:nvPr/>
        </p:nvSpPr>
        <p:spPr>
          <a:xfrm>
            <a:off x="411480" y="6537960"/>
            <a:ext cx="11365992" cy="127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960120"/>
            <a:ext cx="11365992" cy="5440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143000"/>
            <a:ext cx="11091672" cy="329184"/>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197864"/>
            <a:ext cx="1865376" cy="219456"/>
          </a:xfrm>
          <a:prstGeom prst="rect">
            <a:avLst/>
          </a:prstGeom>
          <a:noFill/>
        </p:spPr>
        <p:txBody>
          <a:bodyPr wrap="square"/>
          <a:lstStyle/>
          <a:p>
            <a:pPr algn="ctr">
              <a:lnSpc>
                <a:spcPts val="875"/>
              </a:lnSpc>
              <a:defRPr sz="700" b="1">
                <a:solidFill>
                  <a:srgbClr val="475569"/>
                </a:solidFill>
                <a:latin typeface="Calibri"/>
              </a:defRPr>
            </a:pPr>
            <a:r>
              <a:t>KÝ HIỆU</a:t>
            </a:r>
          </a:p>
        </p:txBody>
      </p:sp>
      <p:sp>
        <p:nvSpPr>
          <p:cNvPr id="9" name="TextBox 8"/>
          <p:cNvSpPr txBox="1"/>
          <p:nvPr/>
        </p:nvSpPr>
        <p:spPr>
          <a:xfrm>
            <a:off x="2724912" y="1197864"/>
            <a:ext cx="4425696" cy="219456"/>
          </a:xfrm>
          <a:prstGeom prst="rect">
            <a:avLst/>
          </a:prstGeom>
          <a:noFill/>
        </p:spPr>
        <p:txBody>
          <a:bodyPr wrap="square"/>
          <a:lstStyle/>
          <a:p>
            <a:pPr algn="ctr">
              <a:lnSpc>
                <a:spcPts val="875"/>
              </a:lnSpc>
              <a:defRPr sz="700" b="1">
                <a:solidFill>
                  <a:srgbClr val="475569"/>
                </a:solidFill>
                <a:latin typeface="Calibri"/>
              </a:defRPr>
            </a:pPr>
            <a:r>
              <a:t>TÊN</a:t>
            </a:r>
          </a:p>
        </p:txBody>
      </p:sp>
      <p:sp>
        <p:nvSpPr>
          <p:cNvPr id="10" name="TextBox 9"/>
          <p:cNvSpPr txBox="1"/>
          <p:nvPr/>
        </p:nvSpPr>
        <p:spPr>
          <a:xfrm>
            <a:off x="7296912" y="1197864"/>
            <a:ext cx="1865376" cy="219456"/>
          </a:xfrm>
          <a:prstGeom prst="rect">
            <a:avLst/>
          </a:prstGeom>
          <a:noFill/>
        </p:spPr>
        <p:txBody>
          <a:bodyPr wrap="square"/>
          <a:lstStyle/>
          <a:p>
            <a:pPr algn="ctr">
              <a:lnSpc>
                <a:spcPts val="875"/>
              </a:lnSpc>
              <a:defRPr sz="700" b="1">
                <a:solidFill>
                  <a:srgbClr val="475569"/>
                </a:solidFill>
                <a:latin typeface="Calibri"/>
              </a:defRPr>
            </a:pPr>
            <a:r>
              <a:t>ĐƠN VỊ</a:t>
            </a:r>
          </a:p>
        </p:txBody>
      </p:sp>
      <p:sp>
        <p:nvSpPr>
          <p:cNvPr id="11" name="TextBox 10"/>
          <p:cNvSpPr txBox="1"/>
          <p:nvPr/>
        </p:nvSpPr>
        <p:spPr>
          <a:xfrm>
            <a:off x="9308592" y="1197864"/>
            <a:ext cx="1499616" cy="219456"/>
          </a:xfrm>
          <a:prstGeom prst="rect">
            <a:avLst/>
          </a:prstGeom>
          <a:noFill/>
        </p:spPr>
        <p:txBody>
          <a:bodyPr wrap="square"/>
          <a:lstStyle/>
          <a:p>
            <a:pPr algn="ctr">
              <a:lnSpc>
                <a:spcPts val="875"/>
              </a:lnSpc>
              <a:defRPr sz="700" b="1">
                <a:solidFill>
                  <a:srgbClr val="475569"/>
                </a:solidFill>
                <a:latin typeface="Calibri"/>
              </a:defRPr>
            </a:pPr>
            <a:r>
              <a:t>CHƯƠNG</a:t>
            </a:r>
          </a:p>
        </p:txBody>
      </p:sp>
      <p:sp>
        <p:nvSpPr>
          <p:cNvPr id="12" name="Rounded Rectangle 11"/>
          <p:cNvSpPr/>
          <p:nvPr/>
        </p:nvSpPr>
        <p:spPr>
          <a:xfrm>
            <a:off x="548640" y="1472184"/>
            <a:ext cx="11091672" cy="365760"/>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1545336"/>
            <a:ext cx="1865376" cy="219456"/>
          </a:xfrm>
          <a:prstGeom prst="rect">
            <a:avLst/>
          </a:prstGeom>
          <a:noFill/>
        </p:spPr>
        <p:txBody>
          <a:bodyPr wrap="square"/>
          <a:lstStyle/>
          <a:p>
            <a:pPr algn="l">
              <a:lnSpc>
                <a:spcPts val="937"/>
              </a:lnSpc>
              <a:defRPr sz="750" b="1">
                <a:solidFill>
                  <a:srgbClr val="0F172A"/>
                </a:solidFill>
                <a:latin typeface="Calibri"/>
              </a:defRPr>
            </a:pPr>
            <a:r>
              <a:t>r, x,y,z</a:t>
            </a:r>
          </a:p>
        </p:txBody>
      </p:sp>
      <p:sp>
        <p:nvSpPr>
          <p:cNvPr id="14" name="TextBox 13"/>
          <p:cNvSpPr txBox="1"/>
          <p:nvPr/>
        </p:nvSpPr>
        <p:spPr>
          <a:xfrm>
            <a:off x="2724912" y="1545336"/>
            <a:ext cx="4425696" cy="219456"/>
          </a:xfrm>
          <a:prstGeom prst="rect">
            <a:avLst/>
          </a:prstGeom>
          <a:noFill/>
        </p:spPr>
        <p:txBody>
          <a:bodyPr wrap="square"/>
          <a:lstStyle/>
          <a:p>
            <a:pPr algn="l">
              <a:lnSpc>
                <a:spcPts val="937"/>
              </a:lnSpc>
              <a:defRPr sz="750" b="0">
                <a:solidFill>
                  <a:srgbClr val="475569"/>
                </a:solidFill>
                <a:latin typeface="Calibri"/>
              </a:defRPr>
            </a:pPr>
            <a:r>
              <a:t>Vectơ vị trí / tọa độ</a:t>
            </a:r>
          </a:p>
        </p:txBody>
      </p:sp>
      <p:sp>
        <p:nvSpPr>
          <p:cNvPr id="15" name="TextBox 14"/>
          <p:cNvSpPr txBox="1"/>
          <p:nvPr/>
        </p:nvSpPr>
        <p:spPr>
          <a:xfrm>
            <a:off x="7296912" y="1545336"/>
            <a:ext cx="1865376" cy="219456"/>
          </a:xfrm>
          <a:prstGeom prst="rect">
            <a:avLst/>
          </a:prstGeom>
          <a:noFill/>
        </p:spPr>
        <p:txBody>
          <a:bodyPr wrap="square"/>
          <a:lstStyle/>
          <a:p>
            <a:pPr algn="ctr">
              <a:lnSpc>
                <a:spcPts val="875"/>
              </a:lnSpc>
              <a:defRPr sz="700" b="0">
                <a:solidFill>
                  <a:srgbClr val="475569"/>
                </a:solidFill>
                <a:latin typeface="Calibri"/>
              </a:defRPr>
            </a:pPr>
            <a:r>
              <a:t>m</a:t>
            </a:r>
          </a:p>
        </p:txBody>
      </p:sp>
      <p:sp>
        <p:nvSpPr>
          <p:cNvPr id="16" name="TextBox 15"/>
          <p:cNvSpPr txBox="1"/>
          <p:nvPr/>
        </p:nvSpPr>
        <p:spPr>
          <a:xfrm>
            <a:off x="9308592" y="1545336"/>
            <a:ext cx="1499616" cy="219456"/>
          </a:xfrm>
          <a:prstGeom prst="rect">
            <a:avLst/>
          </a:prstGeom>
          <a:noFill/>
        </p:spPr>
        <p:txBody>
          <a:bodyPr wrap="square"/>
          <a:lstStyle/>
          <a:p>
            <a:pPr algn="ctr">
              <a:lnSpc>
                <a:spcPts val="875"/>
              </a:lnSpc>
              <a:defRPr sz="700" b="0">
                <a:solidFill>
                  <a:srgbClr val="475569"/>
                </a:solidFill>
                <a:latin typeface="Calibri"/>
              </a:defRPr>
            </a:pPr>
            <a:r>
              <a:t>C1</a:t>
            </a:r>
          </a:p>
        </p:txBody>
      </p:sp>
      <p:sp>
        <p:nvSpPr>
          <p:cNvPr id="17" name="Rounded Rectangle 16"/>
          <p:cNvSpPr/>
          <p:nvPr/>
        </p:nvSpPr>
        <p:spPr>
          <a:xfrm>
            <a:off x="548640" y="1837944"/>
            <a:ext cx="11091672" cy="365760"/>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1911096"/>
            <a:ext cx="1865376" cy="219456"/>
          </a:xfrm>
          <a:prstGeom prst="rect">
            <a:avLst/>
          </a:prstGeom>
          <a:noFill/>
        </p:spPr>
        <p:txBody>
          <a:bodyPr wrap="square"/>
          <a:lstStyle/>
          <a:p>
            <a:pPr algn="l">
              <a:lnSpc>
                <a:spcPts val="937"/>
              </a:lnSpc>
              <a:defRPr sz="750" b="1">
                <a:solidFill>
                  <a:srgbClr val="0F172A"/>
                </a:solidFill>
                <a:latin typeface="Calibri"/>
              </a:defRPr>
            </a:pPr>
            <a:r>
              <a:t>v, ω</a:t>
            </a:r>
          </a:p>
        </p:txBody>
      </p:sp>
      <p:sp>
        <p:nvSpPr>
          <p:cNvPr id="19" name="TextBox 18"/>
          <p:cNvSpPr txBox="1"/>
          <p:nvPr/>
        </p:nvSpPr>
        <p:spPr>
          <a:xfrm>
            <a:off x="2724912" y="1911096"/>
            <a:ext cx="4425696" cy="219456"/>
          </a:xfrm>
          <a:prstGeom prst="rect">
            <a:avLst/>
          </a:prstGeom>
          <a:noFill/>
        </p:spPr>
        <p:txBody>
          <a:bodyPr wrap="square"/>
          <a:lstStyle/>
          <a:p>
            <a:pPr algn="l">
              <a:lnSpc>
                <a:spcPts val="937"/>
              </a:lnSpc>
              <a:defRPr sz="750" b="0">
                <a:solidFill>
                  <a:srgbClr val="475569"/>
                </a:solidFill>
                <a:latin typeface="Calibri"/>
              </a:defRPr>
            </a:pPr>
            <a:r>
              <a:t>Vận tốc dài / góc</a:t>
            </a:r>
          </a:p>
        </p:txBody>
      </p:sp>
      <p:sp>
        <p:nvSpPr>
          <p:cNvPr id="20" name="TextBox 19"/>
          <p:cNvSpPr txBox="1"/>
          <p:nvPr/>
        </p:nvSpPr>
        <p:spPr>
          <a:xfrm>
            <a:off x="7296912" y="1911096"/>
            <a:ext cx="1865376" cy="219456"/>
          </a:xfrm>
          <a:prstGeom prst="rect">
            <a:avLst/>
          </a:prstGeom>
          <a:noFill/>
        </p:spPr>
        <p:txBody>
          <a:bodyPr wrap="square"/>
          <a:lstStyle/>
          <a:p>
            <a:pPr algn="ctr">
              <a:lnSpc>
                <a:spcPts val="875"/>
              </a:lnSpc>
              <a:defRPr sz="700" b="0">
                <a:solidFill>
                  <a:srgbClr val="475569"/>
                </a:solidFill>
                <a:latin typeface="Calibri"/>
              </a:defRPr>
            </a:pPr>
            <a:r>
              <a:t>m/s, rad/s</a:t>
            </a:r>
          </a:p>
        </p:txBody>
      </p:sp>
      <p:sp>
        <p:nvSpPr>
          <p:cNvPr id="21" name="TextBox 20"/>
          <p:cNvSpPr txBox="1"/>
          <p:nvPr/>
        </p:nvSpPr>
        <p:spPr>
          <a:xfrm>
            <a:off x="9308592" y="1911096"/>
            <a:ext cx="1499616" cy="219456"/>
          </a:xfrm>
          <a:prstGeom prst="rect">
            <a:avLst/>
          </a:prstGeom>
          <a:noFill/>
        </p:spPr>
        <p:txBody>
          <a:bodyPr wrap="square"/>
          <a:lstStyle/>
          <a:p>
            <a:pPr algn="ctr">
              <a:lnSpc>
                <a:spcPts val="875"/>
              </a:lnSpc>
              <a:defRPr sz="700" b="0">
                <a:solidFill>
                  <a:srgbClr val="475569"/>
                </a:solidFill>
                <a:latin typeface="Calibri"/>
              </a:defRPr>
            </a:pPr>
            <a:r>
              <a:t>C1</a:t>
            </a:r>
          </a:p>
        </p:txBody>
      </p:sp>
      <p:sp>
        <p:nvSpPr>
          <p:cNvPr id="22" name="Rounded Rectangle 21"/>
          <p:cNvSpPr/>
          <p:nvPr/>
        </p:nvSpPr>
        <p:spPr>
          <a:xfrm>
            <a:off x="548640" y="2203704"/>
            <a:ext cx="11091672" cy="365760"/>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2276856"/>
            <a:ext cx="1865376" cy="219456"/>
          </a:xfrm>
          <a:prstGeom prst="rect">
            <a:avLst/>
          </a:prstGeom>
          <a:noFill/>
        </p:spPr>
        <p:txBody>
          <a:bodyPr wrap="square"/>
          <a:lstStyle/>
          <a:p>
            <a:pPr algn="l">
              <a:lnSpc>
                <a:spcPts val="937"/>
              </a:lnSpc>
              <a:defRPr sz="750" b="1">
                <a:solidFill>
                  <a:srgbClr val="0F172A"/>
                </a:solidFill>
                <a:latin typeface="Calibri"/>
              </a:defRPr>
            </a:pPr>
            <a:r>
              <a:t>a, a_t, a_n, β</a:t>
            </a:r>
          </a:p>
        </p:txBody>
      </p:sp>
      <p:sp>
        <p:nvSpPr>
          <p:cNvPr id="24" name="TextBox 23"/>
          <p:cNvSpPr txBox="1"/>
          <p:nvPr/>
        </p:nvSpPr>
        <p:spPr>
          <a:xfrm>
            <a:off x="2724912" y="2276856"/>
            <a:ext cx="4425696" cy="219456"/>
          </a:xfrm>
          <a:prstGeom prst="rect">
            <a:avLst/>
          </a:prstGeom>
          <a:noFill/>
        </p:spPr>
        <p:txBody>
          <a:bodyPr wrap="square"/>
          <a:lstStyle/>
          <a:p>
            <a:pPr algn="l">
              <a:lnSpc>
                <a:spcPts val="937"/>
              </a:lnSpc>
              <a:defRPr sz="750" b="0">
                <a:solidFill>
                  <a:srgbClr val="475569"/>
                </a:solidFill>
                <a:latin typeface="Calibri"/>
              </a:defRPr>
            </a:pPr>
            <a:r>
              <a:t>Gia tốc / tiếp / pháp / góc</a:t>
            </a:r>
          </a:p>
        </p:txBody>
      </p:sp>
      <p:sp>
        <p:nvSpPr>
          <p:cNvPr id="25" name="TextBox 24"/>
          <p:cNvSpPr txBox="1"/>
          <p:nvPr/>
        </p:nvSpPr>
        <p:spPr>
          <a:xfrm>
            <a:off x="7296912" y="2276856"/>
            <a:ext cx="1865376" cy="219456"/>
          </a:xfrm>
          <a:prstGeom prst="rect">
            <a:avLst/>
          </a:prstGeom>
          <a:noFill/>
        </p:spPr>
        <p:txBody>
          <a:bodyPr wrap="square"/>
          <a:lstStyle/>
          <a:p>
            <a:pPr algn="ctr">
              <a:lnSpc>
                <a:spcPts val="875"/>
              </a:lnSpc>
              <a:defRPr sz="700" b="0">
                <a:solidFill>
                  <a:srgbClr val="475569"/>
                </a:solidFill>
                <a:latin typeface="Calibri"/>
              </a:defRPr>
            </a:pPr>
            <a:r>
              <a:t>m/s², rad/s²</a:t>
            </a:r>
          </a:p>
        </p:txBody>
      </p:sp>
      <p:sp>
        <p:nvSpPr>
          <p:cNvPr id="26" name="TextBox 25"/>
          <p:cNvSpPr txBox="1"/>
          <p:nvPr/>
        </p:nvSpPr>
        <p:spPr>
          <a:xfrm>
            <a:off x="9308592" y="2276856"/>
            <a:ext cx="1499616" cy="219456"/>
          </a:xfrm>
          <a:prstGeom prst="rect">
            <a:avLst/>
          </a:prstGeom>
          <a:noFill/>
        </p:spPr>
        <p:txBody>
          <a:bodyPr wrap="square"/>
          <a:lstStyle/>
          <a:p>
            <a:pPr algn="ctr">
              <a:lnSpc>
                <a:spcPts val="875"/>
              </a:lnSpc>
              <a:defRPr sz="700" b="0">
                <a:solidFill>
                  <a:srgbClr val="475569"/>
                </a:solidFill>
                <a:latin typeface="Calibri"/>
              </a:defRPr>
            </a:pPr>
            <a:r>
              <a:t>C1</a:t>
            </a:r>
          </a:p>
        </p:txBody>
      </p:sp>
      <p:sp>
        <p:nvSpPr>
          <p:cNvPr id="27" name="Rounded Rectangle 26"/>
          <p:cNvSpPr/>
          <p:nvPr/>
        </p:nvSpPr>
        <p:spPr>
          <a:xfrm>
            <a:off x="548640" y="2569464"/>
            <a:ext cx="11091672" cy="365760"/>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2642616"/>
            <a:ext cx="1865376" cy="219456"/>
          </a:xfrm>
          <a:prstGeom prst="rect">
            <a:avLst/>
          </a:prstGeom>
          <a:noFill/>
        </p:spPr>
        <p:txBody>
          <a:bodyPr wrap="square"/>
          <a:lstStyle/>
          <a:p>
            <a:pPr algn="l">
              <a:lnSpc>
                <a:spcPts val="937"/>
              </a:lnSpc>
              <a:defRPr sz="750" b="1">
                <a:solidFill>
                  <a:srgbClr val="0F172A"/>
                </a:solidFill>
                <a:latin typeface="Calibri"/>
              </a:defRPr>
            </a:pPr>
            <a:r>
              <a:t>R, φ, s</a:t>
            </a:r>
          </a:p>
        </p:txBody>
      </p:sp>
      <p:sp>
        <p:nvSpPr>
          <p:cNvPr id="29" name="TextBox 28"/>
          <p:cNvSpPr txBox="1"/>
          <p:nvPr/>
        </p:nvSpPr>
        <p:spPr>
          <a:xfrm>
            <a:off x="2724912" y="2642616"/>
            <a:ext cx="4425696" cy="219456"/>
          </a:xfrm>
          <a:prstGeom prst="rect">
            <a:avLst/>
          </a:prstGeom>
          <a:noFill/>
        </p:spPr>
        <p:txBody>
          <a:bodyPr wrap="square"/>
          <a:lstStyle/>
          <a:p>
            <a:pPr algn="l">
              <a:lnSpc>
                <a:spcPts val="937"/>
              </a:lnSpc>
              <a:defRPr sz="750" b="0">
                <a:solidFill>
                  <a:srgbClr val="475569"/>
                </a:solidFill>
                <a:latin typeface="Calibri"/>
              </a:defRPr>
            </a:pPr>
            <a:r>
              <a:t>Bán kính cong / góc quay / quãng đường</a:t>
            </a:r>
          </a:p>
        </p:txBody>
      </p:sp>
      <p:sp>
        <p:nvSpPr>
          <p:cNvPr id="30" name="TextBox 29"/>
          <p:cNvSpPr txBox="1"/>
          <p:nvPr/>
        </p:nvSpPr>
        <p:spPr>
          <a:xfrm>
            <a:off x="7296912" y="2642616"/>
            <a:ext cx="1865376" cy="219456"/>
          </a:xfrm>
          <a:prstGeom prst="rect">
            <a:avLst/>
          </a:prstGeom>
          <a:noFill/>
        </p:spPr>
        <p:txBody>
          <a:bodyPr wrap="square"/>
          <a:lstStyle/>
          <a:p>
            <a:pPr algn="ctr">
              <a:lnSpc>
                <a:spcPts val="875"/>
              </a:lnSpc>
              <a:defRPr sz="700" b="0">
                <a:solidFill>
                  <a:srgbClr val="475569"/>
                </a:solidFill>
                <a:latin typeface="Calibri"/>
              </a:defRPr>
            </a:pPr>
            <a:r>
              <a:t>m, rad, m</a:t>
            </a:r>
          </a:p>
        </p:txBody>
      </p:sp>
      <p:sp>
        <p:nvSpPr>
          <p:cNvPr id="31" name="TextBox 30"/>
          <p:cNvSpPr txBox="1"/>
          <p:nvPr/>
        </p:nvSpPr>
        <p:spPr>
          <a:xfrm>
            <a:off x="9308592" y="2642616"/>
            <a:ext cx="1499616" cy="219456"/>
          </a:xfrm>
          <a:prstGeom prst="rect">
            <a:avLst/>
          </a:prstGeom>
          <a:noFill/>
        </p:spPr>
        <p:txBody>
          <a:bodyPr wrap="square"/>
          <a:lstStyle/>
          <a:p>
            <a:pPr algn="ctr">
              <a:lnSpc>
                <a:spcPts val="875"/>
              </a:lnSpc>
              <a:defRPr sz="700" b="0">
                <a:solidFill>
                  <a:srgbClr val="475569"/>
                </a:solidFill>
                <a:latin typeface="Calibri"/>
              </a:defRPr>
            </a:pPr>
            <a:r>
              <a:t>C1</a:t>
            </a:r>
          </a:p>
        </p:txBody>
      </p:sp>
      <p:sp>
        <p:nvSpPr>
          <p:cNvPr id="32" name="Rounded Rectangle 31"/>
          <p:cNvSpPr/>
          <p:nvPr/>
        </p:nvSpPr>
        <p:spPr>
          <a:xfrm>
            <a:off x="548640" y="2935224"/>
            <a:ext cx="11091672" cy="365760"/>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 y="3008376"/>
            <a:ext cx="1865376" cy="219456"/>
          </a:xfrm>
          <a:prstGeom prst="rect">
            <a:avLst/>
          </a:prstGeom>
          <a:noFill/>
        </p:spPr>
        <p:txBody>
          <a:bodyPr wrap="square"/>
          <a:lstStyle/>
          <a:p>
            <a:pPr algn="l">
              <a:lnSpc>
                <a:spcPts val="937"/>
              </a:lnSpc>
              <a:defRPr sz="750" b="1">
                <a:solidFill>
                  <a:srgbClr val="0F172A"/>
                </a:solidFill>
                <a:latin typeface="Calibri"/>
              </a:defRPr>
            </a:pPr>
            <a:r>
              <a:t>m, F, P, N</a:t>
            </a:r>
          </a:p>
        </p:txBody>
      </p:sp>
      <p:sp>
        <p:nvSpPr>
          <p:cNvPr id="34" name="TextBox 33"/>
          <p:cNvSpPr txBox="1"/>
          <p:nvPr/>
        </p:nvSpPr>
        <p:spPr>
          <a:xfrm>
            <a:off x="2724912" y="3008376"/>
            <a:ext cx="4425696" cy="219456"/>
          </a:xfrm>
          <a:prstGeom prst="rect">
            <a:avLst/>
          </a:prstGeom>
          <a:noFill/>
        </p:spPr>
        <p:txBody>
          <a:bodyPr wrap="square"/>
          <a:lstStyle/>
          <a:p>
            <a:pPr algn="l">
              <a:lnSpc>
                <a:spcPts val="937"/>
              </a:lnSpc>
              <a:defRPr sz="750" b="0">
                <a:solidFill>
                  <a:srgbClr val="475569"/>
                </a:solidFill>
                <a:latin typeface="Calibri"/>
              </a:defRPr>
            </a:pPr>
            <a:r>
              <a:t>Khối lượng / lực / trọng lực / phản lực</a:t>
            </a:r>
          </a:p>
        </p:txBody>
      </p:sp>
      <p:sp>
        <p:nvSpPr>
          <p:cNvPr id="35" name="TextBox 34"/>
          <p:cNvSpPr txBox="1"/>
          <p:nvPr/>
        </p:nvSpPr>
        <p:spPr>
          <a:xfrm>
            <a:off x="7296912" y="3008376"/>
            <a:ext cx="1865376" cy="219456"/>
          </a:xfrm>
          <a:prstGeom prst="rect">
            <a:avLst/>
          </a:prstGeom>
          <a:noFill/>
        </p:spPr>
        <p:txBody>
          <a:bodyPr wrap="square"/>
          <a:lstStyle/>
          <a:p>
            <a:pPr algn="ctr">
              <a:lnSpc>
                <a:spcPts val="875"/>
              </a:lnSpc>
              <a:defRPr sz="700" b="0">
                <a:solidFill>
                  <a:srgbClr val="475569"/>
                </a:solidFill>
                <a:latin typeface="Calibri"/>
              </a:defRPr>
            </a:pPr>
            <a:r>
              <a:t>kg, N</a:t>
            </a:r>
          </a:p>
        </p:txBody>
      </p:sp>
      <p:sp>
        <p:nvSpPr>
          <p:cNvPr id="36" name="TextBox 35"/>
          <p:cNvSpPr txBox="1"/>
          <p:nvPr/>
        </p:nvSpPr>
        <p:spPr>
          <a:xfrm>
            <a:off x="9308592" y="3008376"/>
            <a:ext cx="1499616" cy="219456"/>
          </a:xfrm>
          <a:prstGeom prst="rect">
            <a:avLst/>
          </a:prstGeom>
          <a:noFill/>
        </p:spPr>
        <p:txBody>
          <a:bodyPr wrap="square"/>
          <a:lstStyle/>
          <a:p>
            <a:pPr algn="ctr">
              <a:lnSpc>
                <a:spcPts val="875"/>
              </a:lnSpc>
              <a:defRPr sz="700" b="0">
                <a:solidFill>
                  <a:srgbClr val="475569"/>
                </a:solidFill>
                <a:latin typeface="Calibri"/>
              </a:defRPr>
            </a:pPr>
            <a:r>
              <a:t>C2</a:t>
            </a:r>
          </a:p>
        </p:txBody>
      </p:sp>
      <p:sp>
        <p:nvSpPr>
          <p:cNvPr id="37" name="Rounded Rectangle 36"/>
          <p:cNvSpPr/>
          <p:nvPr/>
        </p:nvSpPr>
        <p:spPr>
          <a:xfrm>
            <a:off x="548640" y="3300984"/>
            <a:ext cx="11091672" cy="365760"/>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3232" y="3374136"/>
            <a:ext cx="1865376" cy="219456"/>
          </a:xfrm>
          <a:prstGeom prst="rect">
            <a:avLst/>
          </a:prstGeom>
          <a:noFill/>
        </p:spPr>
        <p:txBody>
          <a:bodyPr wrap="square"/>
          <a:lstStyle/>
          <a:p>
            <a:pPr algn="l">
              <a:lnSpc>
                <a:spcPts val="937"/>
              </a:lnSpc>
              <a:defRPr sz="750" b="1">
                <a:solidFill>
                  <a:srgbClr val="0F172A"/>
                </a:solidFill>
                <a:latin typeface="Calibri"/>
              </a:defRPr>
            </a:pPr>
            <a:r>
              <a:t>G, g, k, μ</a:t>
            </a:r>
          </a:p>
        </p:txBody>
      </p:sp>
      <p:sp>
        <p:nvSpPr>
          <p:cNvPr id="39" name="TextBox 38"/>
          <p:cNvSpPr txBox="1"/>
          <p:nvPr/>
        </p:nvSpPr>
        <p:spPr>
          <a:xfrm>
            <a:off x="2724912" y="3374136"/>
            <a:ext cx="4425696" cy="219456"/>
          </a:xfrm>
          <a:prstGeom prst="rect">
            <a:avLst/>
          </a:prstGeom>
          <a:noFill/>
        </p:spPr>
        <p:txBody>
          <a:bodyPr wrap="square"/>
          <a:lstStyle/>
          <a:p>
            <a:pPr algn="l">
              <a:lnSpc>
                <a:spcPts val="937"/>
              </a:lnSpc>
              <a:defRPr sz="750" b="0">
                <a:solidFill>
                  <a:srgbClr val="475569"/>
                </a:solidFill>
                <a:latin typeface="Calibri"/>
              </a:defRPr>
            </a:pPr>
            <a:r>
              <a:t>Hằng số hấp dẫn / g / độ cứng / hệ số ma sát</a:t>
            </a:r>
          </a:p>
        </p:txBody>
      </p:sp>
      <p:sp>
        <p:nvSpPr>
          <p:cNvPr id="40" name="TextBox 39"/>
          <p:cNvSpPr txBox="1"/>
          <p:nvPr/>
        </p:nvSpPr>
        <p:spPr>
          <a:xfrm>
            <a:off x="7296912" y="3374136"/>
            <a:ext cx="1865376" cy="219456"/>
          </a:xfrm>
          <a:prstGeom prst="rect">
            <a:avLst/>
          </a:prstGeom>
          <a:noFill/>
        </p:spPr>
        <p:txBody>
          <a:bodyPr wrap="square"/>
          <a:lstStyle/>
          <a:p>
            <a:pPr algn="ctr">
              <a:lnSpc>
                <a:spcPts val="875"/>
              </a:lnSpc>
              <a:defRPr sz="700" b="0">
                <a:solidFill>
                  <a:srgbClr val="475569"/>
                </a:solidFill>
                <a:latin typeface="Calibri"/>
              </a:defRPr>
            </a:pPr>
            <a:r>
              <a:t>N·m²/kg², m/s², N/m, —</a:t>
            </a:r>
          </a:p>
        </p:txBody>
      </p:sp>
      <p:sp>
        <p:nvSpPr>
          <p:cNvPr id="41" name="TextBox 40"/>
          <p:cNvSpPr txBox="1"/>
          <p:nvPr/>
        </p:nvSpPr>
        <p:spPr>
          <a:xfrm>
            <a:off x="9308592" y="3374136"/>
            <a:ext cx="1499616" cy="219456"/>
          </a:xfrm>
          <a:prstGeom prst="rect">
            <a:avLst/>
          </a:prstGeom>
          <a:noFill/>
        </p:spPr>
        <p:txBody>
          <a:bodyPr wrap="square"/>
          <a:lstStyle/>
          <a:p>
            <a:pPr algn="ctr">
              <a:lnSpc>
                <a:spcPts val="875"/>
              </a:lnSpc>
              <a:defRPr sz="700" b="0">
                <a:solidFill>
                  <a:srgbClr val="475569"/>
                </a:solidFill>
                <a:latin typeface="Calibri"/>
              </a:defRPr>
            </a:pPr>
            <a:r>
              <a:t>C2</a:t>
            </a:r>
          </a:p>
        </p:txBody>
      </p:sp>
      <p:sp>
        <p:nvSpPr>
          <p:cNvPr id="42" name="Rounded Rectangle 41"/>
          <p:cNvSpPr/>
          <p:nvPr/>
        </p:nvSpPr>
        <p:spPr>
          <a:xfrm>
            <a:off x="548640" y="3666744"/>
            <a:ext cx="11091672" cy="365760"/>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3232" y="3739896"/>
            <a:ext cx="1865376" cy="219456"/>
          </a:xfrm>
          <a:prstGeom prst="rect">
            <a:avLst/>
          </a:prstGeom>
          <a:noFill/>
        </p:spPr>
        <p:txBody>
          <a:bodyPr wrap="square"/>
          <a:lstStyle/>
          <a:p>
            <a:pPr algn="l">
              <a:lnSpc>
                <a:spcPts val="937"/>
              </a:lnSpc>
              <a:defRPr sz="750" b="1">
                <a:solidFill>
                  <a:srgbClr val="0F172A"/>
                </a:solidFill>
                <a:latin typeface="Calibri"/>
              </a:defRPr>
            </a:pPr>
            <a:r>
              <a:t>p, L, M</a:t>
            </a:r>
          </a:p>
        </p:txBody>
      </p:sp>
      <p:sp>
        <p:nvSpPr>
          <p:cNvPr id="44" name="TextBox 43"/>
          <p:cNvSpPr txBox="1"/>
          <p:nvPr/>
        </p:nvSpPr>
        <p:spPr>
          <a:xfrm>
            <a:off x="2724912" y="3739896"/>
            <a:ext cx="4425696" cy="219456"/>
          </a:xfrm>
          <a:prstGeom prst="rect">
            <a:avLst/>
          </a:prstGeom>
          <a:noFill/>
        </p:spPr>
        <p:txBody>
          <a:bodyPr wrap="square"/>
          <a:lstStyle/>
          <a:p>
            <a:pPr algn="l">
              <a:lnSpc>
                <a:spcPts val="937"/>
              </a:lnSpc>
              <a:defRPr sz="750" b="0">
                <a:solidFill>
                  <a:srgbClr val="475569"/>
                </a:solidFill>
                <a:latin typeface="Calibri"/>
              </a:defRPr>
            </a:pPr>
            <a:r>
              <a:t>Động lượng / mômen động lượng / mômen lực</a:t>
            </a:r>
          </a:p>
        </p:txBody>
      </p:sp>
      <p:sp>
        <p:nvSpPr>
          <p:cNvPr id="45" name="TextBox 44"/>
          <p:cNvSpPr txBox="1"/>
          <p:nvPr/>
        </p:nvSpPr>
        <p:spPr>
          <a:xfrm>
            <a:off x="7296912" y="3739896"/>
            <a:ext cx="1865376" cy="219456"/>
          </a:xfrm>
          <a:prstGeom prst="rect">
            <a:avLst/>
          </a:prstGeom>
          <a:noFill/>
        </p:spPr>
        <p:txBody>
          <a:bodyPr wrap="square"/>
          <a:lstStyle/>
          <a:p>
            <a:pPr algn="ctr">
              <a:lnSpc>
                <a:spcPts val="875"/>
              </a:lnSpc>
              <a:defRPr sz="700" b="0">
                <a:solidFill>
                  <a:srgbClr val="475569"/>
                </a:solidFill>
                <a:latin typeface="Calibri"/>
              </a:defRPr>
            </a:pPr>
            <a:r>
              <a:t>kg·m/s, kg·m²/s, N·m</a:t>
            </a:r>
          </a:p>
        </p:txBody>
      </p:sp>
      <p:sp>
        <p:nvSpPr>
          <p:cNvPr id="46" name="TextBox 45"/>
          <p:cNvSpPr txBox="1"/>
          <p:nvPr/>
        </p:nvSpPr>
        <p:spPr>
          <a:xfrm>
            <a:off x="9308592" y="3739896"/>
            <a:ext cx="1499616" cy="219456"/>
          </a:xfrm>
          <a:prstGeom prst="rect">
            <a:avLst/>
          </a:prstGeom>
          <a:noFill/>
        </p:spPr>
        <p:txBody>
          <a:bodyPr wrap="square"/>
          <a:lstStyle/>
          <a:p>
            <a:pPr algn="ctr">
              <a:lnSpc>
                <a:spcPts val="875"/>
              </a:lnSpc>
              <a:defRPr sz="700" b="0">
                <a:solidFill>
                  <a:srgbClr val="475569"/>
                </a:solidFill>
                <a:latin typeface="Calibri"/>
              </a:defRPr>
            </a:pPr>
            <a:r>
              <a:t>C3-4</a:t>
            </a:r>
          </a:p>
        </p:txBody>
      </p:sp>
      <p:sp>
        <p:nvSpPr>
          <p:cNvPr id="47" name="Rounded Rectangle 46"/>
          <p:cNvSpPr/>
          <p:nvPr/>
        </p:nvSpPr>
        <p:spPr>
          <a:xfrm>
            <a:off x="548640" y="4032504"/>
            <a:ext cx="11091672" cy="365760"/>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13232" y="4105656"/>
            <a:ext cx="1865376" cy="219456"/>
          </a:xfrm>
          <a:prstGeom prst="rect">
            <a:avLst/>
          </a:prstGeom>
          <a:noFill/>
        </p:spPr>
        <p:txBody>
          <a:bodyPr wrap="square"/>
          <a:lstStyle/>
          <a:p>
            <a:pPr algn="l">
              <a:lnSpc>
                <a:spcPts val="937"/>
              </a:lnSpc>
              <a:defRPr sz="750" b="1">
                <a:solidFill>
                  <a:srgbClr val="0F172A"/>
                </a:solidFill>
                <a:latin typeface="Calibri"/>
              </a:defRPr>
            </a:pPr>
            <a:r>
              <a:t>A, P, Wđ, Wt, W</a:t>
            </a:r>
          </a:p>
        </p:txBody>
      </p:sp>
      <p:sp>
        <p:nvSpPr>
          <p:cNvPr id="49" name="TextBox 48"/>
          <p:cNvSpPr txBox="1"/>
          <p:nvPr/>
        </p:nvSpPr>
        <p:spPr>
          <a:xfrm>
            <a:off x="2724912" y="4105656"/>
            <a:ext cx="4425696" cy="219456"/>
          </a:xfrm>
          <a:prstGeom prst="rect">
            <a:avLst/>
          </a:prstGeom>
          <a:noFill/>
        </p:spPr>
        <p:txBody>
          <a:bodyPr wrap="square"/>
          <a:lstStyle/>
          <a:p>
            <a:pPr algn="l">
              <a:lnSpc>
                <a:spcPts val="937"/>
              </a:lnSpc>
              <a:defRPr sz="750" b="0">
                <a:solidFill>
                  <a:srgbClr val="475569"/>
                </a:solidFill>
                <a:latin typeface="Calibri"/>
              </a:defRPr>
            </a:pPr>
            <a:r>
              <a:t>Công / công suất / động / thế / cơ năng</a:t>
            </a:r>
          </a:p>
        </p:txBody>
      </p:sp>
      <p:sp>
        <p:nvSpPr>
          <p:cNvPr id="50" name="TextBox 49"/>
          <p:cNvSpPr txBox="1"/>
          <p:nvPr/>
        </p:nvSpPr>
        <p:spPr>
          <a:xfrm>
            <a:off x="7296912" y="4105656"/>
            <a:ext cx="1865376" cy="219456"/>
          </a:xfrm>
          <a:prstGeom prst="rect">
            <a:avLst/>
          </a:prstGeom>
          <a:noFill/>
        </p:spPr>
        <p:txBody>
          <a:bodyPr wrap="square"/>
          <a:lstStyle/>
          <a:p>
            <a:pPr algn="ctr">
              <a:lnSpc>
                <a:spcPts val="875"/>
              </a:lnSpc>
              <a:defRPr sz="700" b="0">
                <a:solidFill>
                  <a:srgbClr val="475569"/>
                </a:solidFill>
                <a:latin typeface="Calibri"/>
              </a:defRPr>
            </a:pPr>
            <a:r>
              <a:t>J, W, J</a:t>
            </a:r>
          </a:p>
        </p:txBody>
      </p:sp>
      <p:sp>
        <p:nvSpPr>
          <p:cNvPr id="51" name="TextBox 50"/>
          <p:cNvSpPr txBox="1"/>
          <p:nvPr/>
        </p:nvSpPr>
        <p:spPr>
          <a:xfrm>
            <a:off x="9308592" y="4105656"/>
            <a:ext cx="1499616" cy="219456"/>
          </a:xfrm>
          <a:prstGeom prst="rect">
            <a:avLst/>
          </a:prstGeom>
          <a:noFill/>
        </p:spPr>
        <p:txBody>
          <a:bodyPr wrap="square"/>
          <a:lstStyle/>
          <a:p>
            <a:pPr algn="ctr">
              <a:lnSpc>
                <a:spcPts val="875"/>
              </a:lnSpc>
              <a:defRPr sz="700" b="0">
                <a:solidFill>
                  <a:srgbClr val="475569"/>
                </a:solidFill>
                <a:latin typeface="Calibri"/>
              </a:defRPr>
            </a:pPr>
            <a:r>
              <a:t>C3</a:t>
            </a:r>
          </a:p>
        </p:txBody>
      </p:sp>
      <p:sp>
        <p:nvSpPr>
          <p:cNvPr id="52" name="Rounded Rectangle 51"/>
          <p:cNvSpPr/>
          <p:nvPr/>
        </p:nvSpPr>
        <p:spPr>
          <a:xfrm>
            <a:off x="548640" y="4398264"/>
            <a:ext cx="11091672" cy="365760"/>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3232" y="4471416"/>
            <a:ext cx="1865376" cy="219456"/>
          </a:xfrm>
          <a:prstGeom prst="rect">
            <a:avLst/>
          </a:prstGeom>
          <a:noFill/>
        </p:spPr>
        <p:txBody>
          <a:bodyPr wrap="square"/>
          <a:lstStyle/>
          <a:p>
            <a:pPr algn="l">
              <a:lnSpc>
                <a:spcPts val="937"/>
              </a:lnSpc>
              <a:defRPr sz="750" b="1">
                <a:solidFill>
                  <a:srgbClr val="0F172A"/>
                </a:solidFill>
                <a:latin typeface="Calibri"/>
              </a:defRPr>
            </a:pPr>
            <a:r>
              <a:t>I, ω, β</a:t>
            </a:r>
          </a:p>
        </p:txBody>
      </p:sp>
      <p:sp>
        <p:nvSpPr>
          <p:cNvPr id="54" name="TextBox 53"/>
          <p:cNvSpPr txBox="1"/>
          <p:nvPr/>
        </p:nvSpPr>
        <p:spPr>
          <a:xfrm>
            <a:off x="2724912" y="4471416"/>
            <a:ext cx="4425696" cy="219456"/>
          </a:xfrm>
          <a:prstGeom prst="rect">
            <a:avLst/>
          </a:prstGeom>
          <a:noFill/>
        </p:spPr>
        <p:txBody>
          <a:bodyPr wrap="square"/>
          <a:lstStyle/>
          <a:p>
            <a:pPr algn="l">
              <a:lnSpc>
                <a:spcPts val="937"/>
              </a:lnSpc>
              <a:defRPr sz="750" b="0">
                <a:solidFill>
                  <a:srgbClr val="475569"/>
                </a:solidFill>
                <a:latin typeface="Calibri"/>
              </a:defRPr>
            </a:pPr>
            <a:r>
              <a:t>Mômen quán tính / v góc / gia tốc góc</a:t>
            </a:r>
          </a:p>
        </p:txBody>
      </p:sp>
      <p:sp>
        <p:nvSpPr>
          <p:cNvPr id="55" name="TextBox 54"/>
          <p:cNvSpPr txBox="1"/>
          <p:nvPr/>
        </p:nvSpPr>
        <p:spPr>
          <a:xfrm>
            <a:off x="7296912" y="4471416"/>
            <a:ext cx="1865376" cy="219456"/>
          </a:xfrm>
          <a:prstGeom prst="rect">
            <a:avLst/>
          </a:prstGeom>
          <a:noFill/>
        </p:spPr>
        <p:txBody>
          <a:bodyPr wrap="square"/>
          <a:lstStyle/>
          <a:p>
            <a:pPr algn="ctr">
              <a:lnSpc>
                <a:spcPts val="875"/>
              </a:lnSpc>
              <a:defRPr sz="700" b="0">
                <a:solidFill>
                  <a:srgbClr val="475569"/>
                </a:solidFill>
                <a:latin typeface="Calibri"/>
              </a:defRPr>
            </a:pPr>
            <a:r>
              <a:t>kg·m², rad/s, rad/s²</a:t>
            </a:r>
          </a:p>
        </p:txBody>
      </p:sp>
      <p:sp>
        <p:nvSpPr>
          <p:cNvPr id="56" name="TextBox 55"/>
          <p:cNvSpPr txBox="1"/>
          <p:nvPr/>
        </p:nvSpPr>
        <p:spPr>
          <a:xfrm>
            <a:off x="9308592" y="4471416"/>
            <a:ext cx="1499616" cy="219456"/>
          </a:xfrm>
          <a:prstGeom prst="rect">
            <a:avLst/>
          </a:prstGeom>
          <a:noFill/>
        </p:spPr>
        <p:txBody>
          <a:bodyPr wrap="square"/>
          <a:lstStyle/>
          <a:p>
            <a:pPr algn="ctr">
              <a:lnSpc>
                <a:spcPts val="875"/>
              </a:lnSpc>
              <a:defRPr sz="700" b="0">
                <a:solidFill>
                  <a:srgbClr val="475569"/>
                </a:solidFill>
                <a:latin typeface="Calibri"/>
              </a:defRPr>
            </a:pPr>
            <a:r>
              <a:t>C4</a:t>
            </a:r>
          </a:p>
        </p:txBody>
      </p:sp>
      <p:sp>
        <p:nvSpPr>
          <p:cNvPr id="57" name="Rounded Rectangle 56"/>
          <p:cNvSpPr/>
          <p:nvPr/>
        </p:nvSpPr>
        <p:spPr>
          <a:xfrm>
            <a:off x="548640" y="4764024"/>
            <a:ext cx="11091672" cy="365760"/>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13232" y="4837176"/>
            <a:ext cx="1865376" cy="219456"/>
          </a:xfrm>
          <a:prstGeom prst="rect">
            <a:avLst/>
          </a:prstGeom>
          <a:noFill/>
        </p:spPr>
        <p:txBody>
          <a:bodyPr wrap="square"/>
          <a:lstStyle/>
          <a:p>
            <a:pPr algn="l">
              <a:lnSpc>
                <a:spcPts val="937"/>
              </a:lnSpc>
              <a:defRPr sz="750" b="1">
                <a:solidFill>
                  <a:srgbClr val="0F172A"/>
                </a:solidFill>
                <a:latin typeface="Calibri"/>
              </a:defRPr>
            </a:pPr>
            <a:r>
              <a:t>p, V, T, ν=m/μ</a:t>
            </a:r>
          </a:p>
        </p:txBody>
      </p:sp>
      <p:sp>
        <p:nvSpPr>
          <p:cNvPr id="59" name="TextBox 58"/>
          <p:cNvSpPr txBox="1"/>
          <p:nvPr/>
        </p:nvSpPr>
        <p:spPr>
          <a:xfrm>
            <a:off x="2724912" y="4837176"/>
            <a:ext cx="4425696" cy="219456"/>
          </a:xfrm>
          <a:prstGeom prst="rect">
            <a:avLst/>
          </a:prstGeom>
          <a:noFill/>
        </p:spPr>
        <p:txBody>
          <a:bodyPr wrap="square"/>
          <a:lstStyle/>
          <a:p>
            <a:pPr algn="l">
              <a:lnSpc>
                <a:spcPts val="937"/>
              </a:lnSpc>
              <a:defRPr sz="750" b="0">
                <a:solidFill>
                  <a:srgbClr val="475569"/>
                </a:solidFill>
                <a:latin typeface="Calibri"/>
              </a:defRPr>
            </a:pPr>
            <a:r>
              <a:t>Áp suất / thể tích / nhiệt độ / số mol</a:t>
            </a:r>
          </a:p>
        </p:txBody>
      </p:sp>
      <p:sp>
        <p:nvSpPr>
          <p:cNvPr id="60" name="TextBox 59"/>
          <p:cNvSpPr txBox="1"/>
          <p:nvPr/>
        </p:nvSpPr>
        <p:spPr>
          <a:xfrm>
            <a:off x="7296912" y="4837176"/>
            <a:ext cx="1865376" cy="219456"/>
          </a:xfrm>
          <a:prstGeom prst="rect">
            <a:avLst/>
          </a:prstGeom>
          <a:noFill/>
        </p:spPr>
        <p:txBody>
          <a:bodyPr wrap="square"/>
          <a:lstStyle/>
          <a:p>
            <a:pPr algn="ctr">
              <a:lnSpc>
                <a:spcPts val="875"/>
              </a:lnSpc>
              <a:defRPr sz="700" b="0">
                <a:solidFill>
                  <a:srgbClr val="475569"/>
                </a:solidFill>
                <a:latin typeface="Calibri"/>
              </a:defRPr>
            </a:pPr>
            <a:r>
              <a:t>Pa, m³, K, mol</a:t>
            </a:r>
          </a:p>
        </p:txBody>
      </p:sp>
      <p:sp>
        <p:nvSpPr>
          <p:cNvPr id="61" name="TextBox 60"/>
          <p:cNvSpPr txBox="1"/>
          <p:nvPr/>
        </p:nvSpPr>
        <p:spPr>
          <a:xfrm>
            <a:off x="9308592" y="4837176"/>
            <a:ext cx="1499616" cy="219456"/>
          </a:xfrm>
          <a:prstGeom prst="rect">
            <a:avLst/>
          </a:prstGeom>
          <a:noFill/>
        </p:spPr>
        <p:txBody>
          <a:bodyPr wrap="square"/>
          <a:lstStyle/>
          <a:p>
            <a:pPr algn="ctr">
              <a:lnSpc>
                <a:spcPts val="875"/>
              </a:lnSpc>
              <a:defRPr sz="700" b="0">
                <a:solidFill>
                  <a:srgbClr val="475569"/>
                </a:solidFill>
                <a:latin typeface="Calibri"/>
              </a:defRPr>
            </a:pPr>
            <a:r>
              <a:t>C5-6</a:t>
            </a:r>
          </a:p>
        </p:txBody>
      </p:sp>
      <p:sp>
        <p:nvSpPr>
          <p:cNvPr id="62" name="Rounded Rectangle 61"/>
          <p:cNvSpPr/>
          <p:nvPr/>
        </p:nvSpPr>
        <p:spPr>
          <a:xfrm>
            <a:off x="548640" y="5129784"/>
            <a:ext cx="11091672" cy="365760"/>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13232" y="5202936"/>
            <a:ext cx="1865376" cy="219456"/>
          </a:xfrm>
          <a:prstGeom prst="rect">
            <a:avLst/>
          </a:prstGeom>
          <a:noFill/>
        </p:spPr>
        <p:txBody>
          <a:bodyPr wrap="square"/>
          <a:lstStyle/>
          <a:p>
            <a:pPr algn="l">
              <a:lnSpc>
                <a:spcPts val="937"/>
              </a:lnSpc>
              <a:defRPr sz="750" b="1">
                <a:solidFill>
                  <a:srgbClr val="0F172A"/>
                </a:solidFill>
                <a:latin typeface="Calibri"/>
              </a:defRPr>
            </a:pPr>
            <a:r>
              <a:t>R, k, N_A, n₀</a:t>
            </a:r>
          </a:p>
        </p:txBody>
      </p:sp>
      <p:sp>
        <p:nvSpPr>
          <p:cNvPr id="64" name="TextBox 63"/>
          <p:cNvSpPr txBox="1"/>
          <p:nvPr/>
        </p:nvSpPr>
        <p:spPr>
          <a:xfrm>
            <a:off x="2724912" y="5202936"/>
            <a:ext cx="4425696" cy="219456"/>
          </a:xfrm>
          <a:prstGeom prst="rect">
            <a:avLst/>
          </a:prstGeom>
          <a:noFill/>
        </p:spPr>
        <p:txBody>
          <a:bodyPr wrap="square"/>
          <a:lstStyle/>
          <a:p>
            <a:pPr algn="l">
              <a:lnSpc>
                <a:spcPts val="937"/>
              </a:lnSpc>
              <a:defRPr sz="750" b="0">
                <a:solidFill>
                  <a:srgbClr val="475569"/>
                </a:solidFill>
                <a:latin typeface="Calibri"/>
              </a:defRPr>
            </a:pPr>
            <a:r>
              <a:t>Hằng số khí / Boltzmann / Avogadro / mật độ</a:t>
            </a:r>
          </a:p>
        </p:txBody>
      </p:sp>
      <p:sp>
        <p:nvSpPr>
          <p:cNvPr id="65" name="TextBox 64"/>
          <p:cNvSpPr txBox="1"/>
          <p:nvPr/>
        </p:nvSpPr>
        <p:spPr>
          <a:xfrm>
            <a:off x="7296912" y="5202936"/>
            <a:ext cx="1865376" cy="219456"/>
          </a:xfrm>
          <a:prstGeom prst="rect">
            <a:avLst/>
          </a:prstGeom>
          <a:noFill/>
        </p:spPr>
        <p:txBody>
          <a:bodyPr wrap="square"/>
          <a:lstStyle/>
          <a:p>
            <a:pPr algn="ctr">
              <a:lnSpc>
                <a:spcPts val="875"/>
              </a:lnSpc>
              <a:defRPr sz="700" b="0">
                <a:solidFill>
                  <a:srgbClr val="475569"/>
                </a:solidFill>
                <a:latin typeface="Calibri"/>
              </a:defRPr>
            </a:pPr>
            <a:r>
              <a:t>J/mol·K, J/K, mol⁻¹, m⁻³</a:t>
            </a:r>
          </a:p>
        </p:txBody>
      </p:sp>
      <p:sp>
        <p:nvSpPr>
          <p:cNvPr id="66" name="TextBox 65"/>
          <p:cNvSpPr txBox="1"/>
          <p:nvPr/>
        </p:nvSpPr>
        <p:spPr>
          <a:xfrm>
            <a:off x="9308592" y="5202936"/>
            <a:ext cx="1499616" cy="219456"/>
          </a:xfrm>
          <a:prstGeom prst="rect">
            <a:avLst/>
          </a:prstGeom>
          <a:noFill/>
        </p:spPr>
        <p:txBody>
          <a:bodyPr wrap="square"/>
          <a:lstStyle/>
          <a:p>
            <a:pPr algn="ctr">
              <a:lnSpc>
                <a:spcPts val="875"/>
              </a:lnSpc>
              <a:defRPr sz="700" b="0">
                <a:solidFill>
                  <a:srgbClr val="475569"/>
                </a:solidFill>
                <a:latin typeface="Calibri"/>
              </a:defRPr>
            </a:pPr>
            <a:r>
              <a:t>C5</a:t>
            </a:r>
          </a:p>
        </p:txBody>
      </p:sp>
      <p:sp>
        <p:nvSpPr>
          <p:cNvPr id="67" name="Rounded Rectangle 66"/>
          <p:cNvSpPr/>
          <p:nvPr/>
        </p:nvSpPr>
        <p:spPr>
          <a:xfrm>
            <a:off x="548640" y="5495544"/>
            <a:ext cx="11091672" cy="365760"/>
          </a:xfrm>
          <a:prstGeom prst="roundRect">
            <a:avLst/>
          </a:prstGeom>
          <a:solidFill>
            <a:srgbClr val="F8FAFC"/>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13232" y="5568696"/>
            <a:ext cx="1865376" cy="219456"/>
          </a:xfrm>
          <a:prstGeom prst="rect">
            <a:avLst/>
          </a:prstGeom>
          <a:noFill/>
        </p:spPr>
        <p:txBody>
          <a:bodyPr wrap="square"/>
          <a:lstStyle/>
          <a:p>
            <a:pPr algn="l">
              <a:lnSpc>
                <a:spcPts val="937"/>
              </a:lnSpc>
              <a:defRPr sz="750" b="1">
                <a:solidFill>
                  <a:srgbClr val="0F172A"/>
                </a:solidFill>
                <a:latin typeface="Calibri"/>
              </a:defRPr>
            </a:pPr>
            <a:r>
              <a:t>U, Q, C_V, C_P, γ, i</a:t>
            </a:r>
          </a:p>
        </p:txBody>
      </p:sp>
      <p:sp>
        <p:nvSpPr>
          <p:cNvPr id="69" name="TextBox 68"/>
          <p:cNvSpPr txBox="1"/>
          <p:nvPr/>
        </p:nvSpPr>
        <p:spPr>
          <a:xfrm>
            <a:off x="2724912" y="5568696"/>
            <a:ext cx="4425696" cy="219456"/>
          </a:xfrm>
          <a:prstGeom prst="rect">
            <a:avLst/>
          </a:prstGeom>
          <a:noFill/>
        </p:spPr>
        <p:txBody>
          <a:bodyPr wrap="square"/>
          <a:lstStyle/>
          <a:p>
            <a:pPr algn="l">
              <a:lnSpc>
                <a:spcPts val="937"/>
              </a:lnSpc>
              <a:defRPr sz="750" b="0">
                <a:solidFill>
                  <a:srgbClr val="475569"/>
                </a:solidFill>
                <a:latin typeface="Calibri"/>
              </a:defRPr>
            </a:pPr>
            <a:r>
              <a:t>Nội năng / nhiệt / C_V / C_P / γ / bậc tự do</a:t>
            </a:r>
          </a:p>
        </p:txBody>
      </p:sp>
      <p:sp>
        <p:nvSpPr>
          <p:cNvPr id="70" name="TextBox 69"/>
          <p:cNvSpPr txBox="1"/>
          <p:nvPr/>
        </p:nvSpPr>
        <p:spPr>
          <a:xfrm>
            <a:off x="7296912" y="5568696"/>
            <a:ext cx="1865376" cy="219456"/>
          </a:xfrm>
          <a:prstGeom prst="rect">
            <a:avLst/>
          </a:prstGeom>
          <a:noFill/>
        </p:spPr>
        <p:txBody>
          <a:bodyPr wrap="square"/>
          <a:lstStyle/>
          <a:p>
            <a:pPr algn="ctr">
              <a:lnSpc>
                <a:spcPts val="875"/>
              </a:lnSpc>
              <a:defRPr sz="700" b="0">
                <a:solidFill>
                  <a:srgbClr val="475569"/>
                </a:solidFill>
                <a:latin typeface="Calibri"/>
              </a:defRPr>
            </a:pPr>
            <a:r>
              <a:t>J, J, J/mol·K, —, —</a:t>
            </a:r>
          </a:p>
        </p:txBody>
      </p:sp>
      <p:sp>
        <p:nvSpPr>
          <p:cNvPr id="71" name="TextBox 70"/>
          <p:cNvSpPr txBox="1"/>
          <p:nvPr/>
        </p:nvSpPr>
        <p:spPr>
          <a:xfrm>
            <a:off x="9308592" y="5568696"/>
            <a:ext cx="1499616" cy="219456"/>
          </a:xfrm>
          <a:prstGeom prst="rect">
            <a:avLst/>
          </a:prstGeom>
          <a:noFill/>
        </p:spPr>
        <p:txBody>
          <a:bodyPr wrap="square"/>
          <a:lstStyle/>
          <a:p>
            <a:pPr algn="ctr">
              <a:lnSpc>
                <a:spcPts val="875"/>
              </a:lnSpc>
              <a:defRPr sz="700" b="0">
                <a:solidFill>
                  <a:srgbClr val="475569"/>
                </a:solidFill>
                <a:latin typeface="Calibri"/>
              </a:defRPr>
            </a:pPr>
            <a:r>
              <a:t>C6</a:t>
            </a:r>
          </a:p>
        </p:txBody>
      </p:sp>
      <p:sp>
        <p:nvSpPr>
          <p:cNvPr id="72" name="Rounded Rectangle 71"/>
          <p:cNvSpPr/>
          <p:nvPr/>
        </p:nvSpPr>
        <p:spPr>
          <a:xfrm>
            <a:off x="548640" y="5861304"/>
            <a:ext cx="11091672" cy="365760"/>
          </a:xfrm>
          <a:prstGeom prst="roundRect">
            <a:avLst/>
          </a:prstGeom>
          <a:solidFill>
            <a:srgbClr val="FFFFFF"/>
          </a:solidFill>
          <a:ln w="1524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13232" y="5934456"/>
            <a:ext cx="1865376" cy="219456"/>
          </a:xfrm>
          <a:prstGeom prst="rect">
            <a:avLst/>
          </a:prstGeom>
          <a:noFill/>
        </p:spPr>
        <p:txBody>
          <a:bodyPr wrap="square"/>
          <a:lstStyle/>
          <a:p>
            <a:pPr algn="l">
              <a:lnSpc>
                <a:spcPts val="937"/>
              </a:lnSpc>
              <a:defRPr sz="750" b="1">
                <a:solidFill>
                  <a:srgbClr val="0F172A"/>
                </a:solidFill>
                <a:latin typeface="Calibri"/>
              </a:defRPr>
            </a:pPr>
            <a:r>
              <a:t>η, ε, Q₁, Q₂, S</a:t>
            </a:r>
          </a:p>
        </p:txBody>
      </p:sp>
      <p:sp>
        <p:nvSpPr>
          <p:cNvPr id="74" name="TextBox 73"/>
          <p:cNvSpPr txBox="1"/>
          <p:nvPr/>
        </p:nvSpPr>
        <p:spPr>
          <a:xfrm>
            <a:off x="2724912" y="5934456"/>
            <a:ext cx="4425696" cy="219456"/>
          </a:xfrm>
          <a:prstGeom prst="rect">
            <a:avLst/>
          </a:prstGeom>
          <a:noFill/>
        </p:spPr>
        <p:txBody>
          <a:bodyPr wrap="square"/>
          <a:lstStyle/>
          <a:p>
            <a:pPr algn="l">
              <a:lnSpc>
                <a:spcPts val="937"/>
              </a:lnSpc>
              <a:defRPr sz="750" b="0">
                <a:solidFill>
                  <a:srgbClr val="475569"/>
                </a:solidFill>
                <a:latin typeface="Calibri"/>
              </a:defRPr>
            </a:pPr>
            <a:r>
              <a:t>Hiệu suất / hệ số lạnh / Q nóng/lạnh / entropy</a:t>
            </a:r>
          </a:p>
        </p:txBody>
      </p:sp>
      <p:sp>
        <p:nvSpPr>
          <p:cNvPr id="75" name="TextBox 74"/>
          <p:cNvSpPr txBox="1"/>
          <p:nvPr/>
        </p:nvSpPr>
        <p:spPr>
          <a:xfrm>
            <a:off x="7296912" y="5934456"/>
            <a:ext cx="1865376" cy="219456"/>
          </a:xfrm>
          <a:prstGeom prst="rect">
            <a:avLst/>
          </a:prstGeom>
          <a:noFill/>
        </p:spPr>
        <p:txBody>
          <a:bodyPr wrap="square"/>
          <a:lstStyle/>
          <a:p>
            <a:pPr algn="ctr">
              <a:lnSpc>
                <a:spcPts val="875"/>
              </a:lnSpc>
              <a:defRPr sz="700" b="0">
                <a:solidFill>
                  <a:srgbClr val="475569"/>
                </a:solidFill>
                <a:latin typeface="Calibri"/>
              </a:defRPr>
            </a:pPr>
            <a:r>
              <a:t>—, —, J, J, J/K</a:t>
            </a:r>
          </a:p>
        </p:txBody>
      </p:sp>
      <p:sp>
        <p:nvSpPr>
          <p:cNvPr id="76" name="TextBox 75"/>
          <p:cNvSpPr txBox="1"/>
          <p:nvPr/>
        </p:nvSpPr>
        <p:spPr>
          <a:xfrm>
            <a:off x="9308592" y="5934456"/>
            <a:ext cx="1499616" cy="219456"/>
          </a:xfrm>
          <a:prstGeom prst="rect">
            <a:avLst/>
          </a:prstGeom>
          <a:noFill/>
        </p:spPr>
        <p:txBody>
          <a:bodyPr wrap="square"/>
          <a:lstStyle/>
          <a:p>
            <a:pPr algn="ctr">
              <a:lnSpc>
                <a:spcPts val="875"/>
              </a:lnSpc>
              <a:defRPr sz="700" b="0">
                <a:solidFill>
                  <a:srgbClr val="475569"/>
                </a:solidFill>
                <a:latin typeface="Calibri"/>
              </a:defRPr>
            </a:pPr>
            <a:r>
              <a:t>C7</a:t>
            </a:r>
          </a:p>
        </p:txBody>
      </p:sp>
      <p:sp>
        <p:nvSpPr>
          <p:cNvPr id="77" name="TextBox 76"/>
          <p:cNvSpPr txBox="1"/>
          <p:nvPr/>
        </p:nvSpPr>
        <p:spPr>
          <a:xfrm>
            <a:off x="11430000" y="6565392"/>
            <a:ext cx="548640" cy="201168"/>
          </a:xfrm>
          <a:prstGeom prst="rect">
            <a:avLst/>
          </a:prstGeom>
          <a:noFill/>
        </p:spPr>
        <p:txBody>
          <a:bodyPr wrap="square"/>
          <a:lstStyle/>
          <a:p>
            <a:pPr algn="r">
              <a:lnSpc>
                <a:spcPts val="1000"/>
              </a:lnSpc>
              <a:defRPr sz="800" b="0">
                <a:solidFill>
                  <a:srgbClr val="94A3B8"/>
                </a:solidFill>
                <a:latin typeface="Calibri"/>
              </a:defRPr>
            </a:pPr>
            <a:r>
              <a:t>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6858000" y="-914400"/>
            <a:ext cx="5486400" cy="548640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2286000"/>
            <a:ext cx="3657600" cy="36576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31520"/>
            <a:ext cx="6858000" cy="320040"/>
          </a:xfrm>
          <a:prstGeom prst="rect">
            <a:avLst/>
          </a:prstGeom>
          <a:noFill/>
        </p:spPr>
        <p:txBody>
          <a:bodyPr wrap="square"/>
          <a:lstStyle/>
          <a:p>
            <a:pPr algn="l">
              <a:lnSpc>
                <a:spcPts val="1125"/>
              </a:lnSpc>
              <a:defRPr sz="900" b="1">
                <a:solidFill>
                  <a:srgbClr val="38BDF8"/>
                </a:solidFill>
                <a:latin typeface="Calibri"/>
              </a:defRPr>
            </a:pPr>
            <a:r>
              <a:t>🎤  KẾT THÚC — HỎI &amp; ĐÁP</a:t>
            </a:r>
          </a:p>
        </p:txBody>
      </p:sp>
      <p:sp>
        <p:nvSpPr>
          <p:cNvPr id="5" name="TextBox 4"/>
          <p:cNvSpPr txBox="1"/>
          <p:nvPr/>
        </p:nvSpPr>
        <p:spPr>
          <a:xfrm>
            <a:off x="548640" y="1234440"/>
            <a:ext cx="6858000" cy="1280160"/>
          </a:xfrm>
          <a:prstGeom prst="rect">
            <a:avLst/>
          </a:prstGeom>
          <a:noFill/>
        </p:spPr>
        <p:txBody>
          <a:bodyPr wrap="square">
            <a:spAutoFit/>
          </a:bodyPr>
          <a:lstStyle/>
          <a:p>
            <a:r>
              <a:rPr sz="3400" b="1">
                <a:solidFill>
                  <a:srgbClr val="FFFFFF"/>
                </a:solidFill>
              </a:rPr>
              <a:t>Bạn đã có đủ
</a:t>
            </a:r>
          </a:p>
          <a:p>
            <a:r>
              <a:rPr sz="3400" b="1">
                <a:solidFill>
                  <a:srgbClr val="38BDF8"/>
                </a:solidFill>
              </a:rPr>
              <a:t>để nói trôi chảy 90 phút</a:t>
            </a:r>
          </a:p>
        </p:txBody>
      </p:sp>
      <p:sp>
        <p:nvSpPr>
          <p:cNvPr id="6" name="TextBox 5"/>
          <p:cNvSpPr txBox="1"/>
          <p:nvPr/>
        </p:nvSpPr>
        <p:spPr>
          <a:xfrm>
            <a:off x="548640" y="2697480"/>
            <a:ext cx="6400800" cy="822960"/>
          </a:xfrm>
          <a:prstGeom prst="rect">
            <a:avLst/>
          </a:prstGeom>
          <a:noFill/>
        </p:spPr>
        <p:txBody>
          <a:bodyPr wrap="square"/>
          <a:lstStyle/>
          <a:p>
            <a:pPr algn="l">
              <a:lnSpc>
                <a:spcPts val="1375"/>
              </a:lnSpc>
              <a:defRPr sz="1100" b="0">
                <a:solidFill>
                  <a:srgbClr val="CBD5E1"/>
                </a:solidFill>
                <a:latin typeface="Calibri"/>
              </a:defRPr>
            </a:pPr>
            <a:r>
              <a:t>Dàn bài này trích từ V3 (font 17px, 8 hình, 9 hộp chú thích). Mỗi slide đã có sẵn: công thức gốc + chú thích + ví dụ + bẫy. Bạn chỉ cần mở chế độ Presenter và nói theo thứ tự.</a:t>
            </a:r>
          </a:p>
        </p:txBody>
      </p:sp>
      <p:sp>
        <p:nvSpPr>
          <p:cNvPr id="7" name="Rounded Rectangle 6"/>
          <p:cNvSpPr/>
          <p:nvPr/>
        </p:nvSpPr>
        <p:spPr>
          <a:xfrm>
            <a:off x="548640" y="3794760"/>
            <a:ext cx="2148840" cy="1051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3977639"/>
            <a:ext cx="329184" cy="329184"/>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F172A"/>
                </a:solidFill>
              </a:rPr>
              <a:t>1</a:t>
            </a:r>
          </a:p>
        </p:txBody>
      </p:sp>
      <p:sp>
        <p:nvSpPr>
          <p:cNvPr id="9" name="TextBox 8"/>
          <p:cNvSpPr txBox="1"/>
          <p:nvPr/>
        </p:nvSpPr>
        <p:spPr>
          <a:xfrm>
            <a:off x="1097280" y="3977639"/>
            <a:ext cx="1463040" cy="329184"/>
          </a:xfrm>
          <a:prstGeom prst="rect">
            <a:avLst/>
          </a:prstGeom>
          <a:noFill/>
        </p:spPr>
        <p:txBody>
          <a:bodyPr wrap="square"/>
          <a:lstStyle/>
          <a:p>
            <a:pPr algn="l">
              <a:lnSpc>
                <a:spcPts val="1375"/>
              </a:lnSpc>
              <a:defRPr sz="1100" b="1">
                <a:solidFill>
                  <a:srgbClr val="FFFFFF"/>
                </a:solidFill>
                <a:latin typeface="Calibri"/>
              </a:defRPr>
            </a:pPr>
            <a:r>
              <a:t>Luyện nói</a:t>
            </a:r>
          </a:p>
        </p:txBody>
      </p:sp>
      <p:sp>
        <p:nvSpPr>
          <p:cNvPr id="10" name="TextBox 9"/>
          <p:cNvSpPr txBox="1"/>
          <p:nvPr/>
        </p:nvSpPr>
        <p:spPr>
          <a:xfrm>
            <a:off x="685800" y="4389120"/>
            <a:ext cx="1874519" cy="411480"/>
          </a:xfrm>
          <a:prstGeom prst="rect">
            <a:avLst/>
          </a:prstGeom>
          <a:noFill/>
        </p:spPr>
        <p:txBody>
          <a:bodyPr wrap="square"/>
          <a:lstStyle/>
          <a:p>
            <a:pPr algn="l">
              <a:lnSpc>
                <a:spcPts val="1000"/>
              </a:lnSpc>
              <a:defRPr sz="800" b="0">
                <a:solidFill>
                  <a:srgbClr val="94A3B8"/>
                </a:solidFill>
                <a:latin typeface="Calibri"/>
              </a:defRPr>
            </a:pPr>
            <a:r>
              <a:t>Nói thử 1 chương/ngày, bấm giờ 3 phút/slide</a:t>
            </a:r>
          </a:p>
        </p:txBody>
      </p:sp>
      <p:sp>
        <p:nvSpPr>
          <p:cNvPr id="11" name="Rounded Rectangle 10"/>
          <p:cNvSpPr/>
          <p:nvPr/>
        </p:nvSpPr>
        <p:spPr>
          <a:xfrm>
            <a:off x="2880360" y="3794760"/>
            <a:ext cx="2148840" cy="1051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017520" y="3977639"/>
            <a:ext cx="329184" cy="329184"/>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F172A"/>
                </a:solidFill>
              </a:rPr>
              <a:t>2</a:t>
            </a:r>
          </a:p>
        </p:txBody>
      </p:sp>
      <p:sp>
        <p:nvSpPr>
          <p:cNvPr id="13" name="TextBox 12"/>
          <p:cNvSpPr txBox="1"/>
          <p:nvPr/>
        </p:nvSpPr>
        <p:spPr>
          <a:xfrm>
            <a:off x="3429000" y="3977639"/>
            <a:ext cx="1463040" cy="329184"/>
          </a:xfrm>
          <a:prstGeom prst="rect">
            <a:avLst/>
          </a:prstGeom>
          <a:noFill/>
        </p:spPr>
        <p:txBody>
          <a:bodyPr wrap="square"/>
          <a:lstStyle/>
          <a:p>
            <a:pPr algn="l">
              <a:lnSpc>
                <a:spcPts val="1375"/>
              </a:lnSpc>
              <a:defRPr sz="1100" b="1">
                <a:solidFill>
                  <a:srgbClr val="FFFFFF"/>
                </a:solidFill>
                <a:latin typeface="Calibri"/>
              </a:defRPr>
            </a:pPr>
            <a:r>
              <a:t>In Cheat Sheet</a:t>
            </a:r>
          </a:p>
        </p:txBody>
      </p:sp>
      <p:sp>
        <p:nvSpPr>
          <p:cNvPr id="14" name="TextBox 13"/>
          <p:cNvSpPr txBox="1"/>
          <p:nvPr/>
        </p:nvSpPr>
        <p:spPr>
          <a:xfrm>
            <a:off x="3017520" y="4389120"/>
            <a:ext cx="1874519" cy="411480"/>
          </a:xfrm>
          <a:prstGeom prst="rect">
            <a:avLst/>
          </a:prstGeom>
          <a:noFill/>
        </p:spPr>
        <p:txBody>
          <a:bodyPr wrap="square"/>
          <a:lstStyle/>
          <a:p>
            <a:pPr algn="l">
              <a:lnSpc>
                <a:spcPts val="1000"/>
              </a:lnSpc>
              <a:defRPr sz="800" b="0">
                <a:solidFill>
                  <a:srgbClr val="94A3B8"/>
                </a:solidFill>
                <a:latin typeface="Calibri"/>
              </a:defRPr>
            </a:pPr>
            <a:r>
              <a:t>Slide 24 in A4 dán tường, nhìn 30s mỗi sáng</a:t>
            </a:r>
          </a:p>
        </p:txBody>
      </p:sp>
      <p:sp>
        <p:nvSpPr>
          <p:cNvPr id="15" name="Rounded Rectangle 14"/>
          <p:cNvSpPr/>
          <p:nvPr/>
        </p:nvSpPr>
        <p:spPr>
          <a:xfrm>
            <a:off x="5212079" y="3794760"/>
            <a:ext cx="2148840" cy="1051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349239" y="3977639"/>
            <a:ext cx="329184" cy="329184"/>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F172A"/>
                </a:solidFill>
              </a:rPr>
              <a:t>3</a:t>
            </a:r>
          </a:p>
        </p:txBody>
      </p:sp>
      <p:sp>
        <p:nvSpPr>
          <p:cNvPr id="17" name="TextBox 16"/>
          <p:cNvSpPr txBox="1"/>
          <p:nvPr/>
        </p:nvSpPr>
        <p:spPr>
          <a:xfrm>
            <a:off x="5760719" y="3977639"/>
            <a:ext cx="1463040" cy="329184"/>
          </a:xfrm>
          <a:prstGeom prst="rect">
            <a:avLst/>
          </a:prstGeom>
          <a:noFill/>
        </p:spPr>
        <p:txBody>
          <a:bodyPr wrap="square"/>
          <a:lstStyle/>
          <a:p>
            <a:pPr algn="l">
              <a:lnSpc>
                <a:spcPts val="1375"/>
              </a:lnSpc>
              <a:defRPr sz="1100" b="1">
                <a:solidFill>
                  <a:srgbClr val="FFFFFF"/>
                </a:solidFill>
                <a:latin typeface="Calibri"/>
              </a:defRPr>
            </a:pPr>
            <a:r>
              <a:t>Làm đề</a:t>
            </a:r>
          </a:p>
        </p:txBody>
      </p:sp>
      <p:sp>
        <p:nvSpPr>
          <p:cNvPr id="18" name="TextBox 17"/>
          <p:cNvSpPr txBox="1"/>
          <p:nvPr/>
        </p:nvSpPr>
        <p:spPr>
          <a:xfrm>
            <a:off x="5349239" y="4389120"/>
            <a:ext cx="1874519" cy="411480"/>
          </a:xfrm>
          <a:prstGeom prst="rect">
            <a:avLst/>
          </a:prstGeom>
          <a:noFill/>
        </p:spPr>
        <p:txBody>
          <a:bodyPr wrap="square"/>
          <a:lstStyle/>
          <a:p>
            <a:pPr algn="l">
              <a:lnSpc>
                <a:spcPts val="1000"/>
              </a:lnSpc>
              <a:defRPr sz="800" b="0">
                <a:solidFill>
                  <a:srgbClr val="94A3B8"/>
                </a:solidFill>
                <a:latin typeface="Calibri"/>
              </a:defRPr>
            </a:pPr>
            <a:r>
              <a:t>Sau khi nói xong, làm 60 câu trắc nghiệm từ V3</a:t>
            </a:r>
          </a:p>
        </p:txBody>
      </p:sp>
      <p:sp>
        <p:nvSpPr>
          <p:cNvPr id="19" name="TextBox 18"/>
          <p:cNvSpPr txBox="1"/>
          <p:nvPr/>
        </p:nvSpPr>
        <p:spPr>
          <a:xfrm>
            <a:off x="548640" y="5212080"/>
            <a:ext cx="6858000" cy="365760"/>
          </a:xfrm>
          <a:prstGeom prst="rect">
            <a:avLst/>
          </a:prstGeom>
          <a:noFill/>
        </p:spPr>
        <p:txBody>
          <a:bodyPr wrap="square"/>
          <a:lstStyle/>
          <a:p>
            <a:pPr algn="l">
              <a:lnSpc>
                <a:spcPts val="1125"/>
              </a:lnSpc>
              <a:defRPr sz="900" b="0">
                <a:solidFill>
                  <a:srgbClr val="94A3B8"/>
                </a:solidFill>
                <a:latin typeface="Calibri"/>
              </a:defRPr>
            </a:pPr>
            <a:r>
              <a:t>Cần mình tạo thêm:  • File PDF dàn bài  • Video thuyết minh  • Bộ 60 câu trắc nghiệm  • Flashcard Anki ?</a:t>
            </a:r>
          </a:p>
        </p:txBody>
      </p:sp>
      <p:sp>
        <p:nvSpPr>
          <p:cNvPr id="20" name="TextBox 19"/>
          <p:cNvSpPr txBox="1"/>
          <p:nvPr/>
        </p:nvSpPr>
        <p:spPr>
          <a:xfrm>
            <a:off x="548640" y="6400800"/>
            <a:ext cx="10972800" cy="201168"/>
          </a:xfrm>
          <a:prstGeom prst="rect">
            <a:avLst/>
          </a:prstGeom>
          <a:noFill/>
        </p:spPr>
        <p:txBody>
          <a:bodyPr wrap="square"/>
          <a:lstStyle/>
          <a:p>
            <a:pPr algn="l">
              <a:lnSpc>
                <a:spcPts val="875"/>
              </a:lnSpc>
              <a:defRPr sz="700" b="0">
                <a:solidFill>
                  <a:srgbClr val="94A3B8"/>
                </a:solidFill>
                <a:latin typeface="Calibri"/>
              </a:defRPr>
            </a:pPr>
            <a:r>
              <a:t>Nguồn: 7 file slide gốc + V3 chi tiết (10/09/2026)  •  Chúc bạn thuyết trình tự tin! ✨</a:t>
            </a:r>
          </a:p>
        </p:txBody>
      </p:sp>
      <p:sp>
        <p:nvSpPr>
          <p:cNvPr id="21" name="Rounded Rectangle 20"/>
          <p:cNvSpPr/>
          <p:nvPr/>
        </p:nvSpPr>
        <p:spPr>
          <a:xfrm>
            <a:off x="7498079" y="914400"/>
            <a:ext cx="3931920" cy="438912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26679" y="1143000"/>
            <a:ext cx="3474720" cy="320040"/>
          </a:xfrm>
          <a:prstGeom prst="rect">
            <a:avLst/>
          </a:prstGeom>
          <a:noFill/>
        </p:spPr>
        <p:txBody>
          <a:bodyPr wrap="square"/>
          <a:lstStyle/>
          <a:p>
            <a:pPr algn="ctr">
              <a:lnSpc>
                <a:spcPts val="2000"/>
              </a:lnSpc>
              <a:defRPr sz="1600" b="1">
                <a:solidFill>
                  <a:srgbClr val="0F172A"/>
                </a:solidFill>
                <a:latin typeface="Calibri"/>
              </a:defRPr>
            </a:pPr>
            <a:r>
              <a:t>💬  Q &amp; A</a:t>
            </a:r>
          </a:p>
        </p:txBody>
      </p:sp>
      <p:sp>
        <p:nvSpPr>
          <p:cNvPr id="23" name="TextBox 22"/>
          <p:cNvSpPr txBox="1"/>
          <p:nvPr/>
        </p:nvSpPr>
        <p:spPr>
          <a:xfrm>
            <a:off x="7726679" y="1554480"/>
            <a:ext cx="3474720" cy="256032"/>
          </a:xfrm>
          <a:prstGeom prst="rect">
            <a:avLst/>
          </a:prstGeom>
          <a:noFill/>
        </p:spPr>
        <p:txBody>
          <a:bodyPr wrap="square"/>
          <a:lstStyle/>
          <a:p>
            <a:pPr algn="ctr">
              <a:lnSpc>
                <a:spcPts val="1000"/>
              </a:lnSpc>
              <a:defRPr sz="800" b="0">
                <a:solidFill>
                  <a:srgbClr val="475569"/>
                </a:solidFill>
                <a:latin typeface="Calibri"/>
              </a:defRPr>
            </a:pPr>
            <a:r>
              <a:t>Đặt câu hỏi cho khán giả:</a:t>
            </a:r>
          </a:p>
        </p:txBody>
      </p:sp>
      <p:sp>
        <p:nvSpPr>
          <p:cNvPr id="24" name="TextBox 23"/>
          <p:cNvSpPr txBox="1"/>
          <p:nvPr/>
        </p:nvSpPr>
        <p:spPr>
          <a:xfrm>
            <a:off x="7726679" y="1874519"/>
            <a:ext cx="3474720" cy="1463040"/>
          </a:xfrm>
          <a:prstGeom prst="rect">
            <a:avLst/>
          </a:prstGeom>
          <a:noFill/>
        </p:spPr>
        <p:txBody>
          <a:bodyPr wrap="square">
            <a:spAutoFit/>
          </a:bodyPr>
          <a:lstStyle/>
          <a:p>
            <a:pPr>
              <a:spcAft>
                <a:spcPts val="600"/>
              </a:spcAft>
            </a:pPr>
            <a:r>
              <a:rPr sz="800">
                <a:solidFill>
                  <a:srgbClr val="475569"/>
                </a:solidFill>
                <a:latin typeface="Calibri"/>
              </a:rPr>
              <a:t>• Tại sao a_n = v²/R lại khiến xe cua gấp thì văng?</a:t>
            </a:r>
          </a:p>
          <a:p>
            <a:pPr>
              <a:spcAft>
                <a:spcPts val="600"/>
              </a:spcAft>
            </a:pPr>
            <a:r>
              <a:rPr sz="800">
                <a:solidFill>
                  <a:srgbClr val="475569"/>
                </a:solidFill>
                <a:latin typeface="Calibri"/>
              </a:rPr>
              <a:t>• Khi nào dùng bảo toàn p, khi nào dùng W?</a:t>
            </a:r>
          </a:p>
          <a:p>
            <a:pPr>
              <a:spcAft>
                <a:spcPts val="600"/>
              </a:spcAft>
            </a:pPr>
            <a:r>
              <a:rPr sz="800">
                <a:solidFill>
                  <a:srgbClr val="475569"/>
                </a:solidFill>
                <a:latin typeface="Calibri"/>
              </a:rPr>
              <a:t>• Đẳng nhiệt vs đoạn nhiệt khác gì trên đồ thị p-V?</a:t>
            </a:r>
          </a:p>
          <a:p>
            <a:pPr>
              <a:spcAft>
                <a:spcPts val="600"/>
              </a:spcAft>
            </a:pPr>
            <a:r>
              <a:rPr sz="800">
                <a:solidFill>
                  <a:srgbClr val="475569"/>
                </a:solidFill>
                <a:latin typeface="Calibri"/>
              </a:rPr>
              <a:t>• Tại sao η_Carnot không thể 100%?</a:t>
            </a:r>
          </a:p>
        </p:txBody>
      </p:sp>
      <p:sp>
        <p:nvSpPr>
          <p:cNvPr id="25" name="Rounded Rectangle 24"/>
          <p:cNvSpPr/>
          <p:nvPr/>
        </p:nvSpPr>
        <p:spPr>
          <a:xfrm>
            <a:off x="7726679" y="3520440"/>
            <a:ext cx="3474720" cy="141732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0" y="3611880"/>
            <a:ext cx="3200400" cy="1234440"/>
          </a:xfrm>
          <a:prstGeom prst="rect">
            <a:avLst/>
          </a:prstGeom>
          <a:noFill/>
        </p:spPr>
        <p:txBody>
          <a:bodyPr wrap="square"/>
          <a:lstStyle/>
          <a:p>
            <a:pPr algn="l">
              <a:lnSpc>
                <a:spcPts val="1000"/>
              </a:lnSpc>
              <a:defRPr sz="800" b="0">
                <a:solidFill>
                  <a:srgbClr val="475569"/>
                </a:solidFill>
                <a:latin typeface="Calibri"/>
              </a:defRPr>
            </a:pPr>
            <a:r>
              <a:t>🎯  Gợi ý tương tác:</a:t>
            </a:r>
            <a:br/>
            <a:r>
              <a:t>Cho khán giả tính nhanh a_n khi xe 36 km/h cua R=25m → a_n=4 m/s². Ai trả lời đúng tặng sticker!</a:t>
            </a:r>
          </a:p>
        </p:txBody>
      </p:sp>
      <p:sp>
        <p:nvSpPr>
          <p:cNvPr id="27" name="Rounded Rectangle 26"/>
          <p:cNvSpPr/>
          <p:nvPr/>
        </p:nvSpPr>
        <p:spPr>
          <a:xfrm>
            <a:off x="7726679" y="5120640"/>
            <a:ext cx="3474720" cy="41148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26679" y="5166360"/>
            <a:ext cx="3474720" cy="320040"/>
          </a:xfrm>
          <a:prstGeom prst="rect">
            <a:avLst/>
          </a:prstGeom>
          <a:noFill/>
        </p:spPr>
        <p:txBody>
          <a:bodyPr wrap="square"/>
          <a:lstStyle/>
          <a:p>
            <a:pPr algn="ctr">
              <a:lnSpc>
                <a:spcPts val="1375"/>
              </a:lnSpc>
              <a:defRPr sz="1100" b="1">
                <a:solidFill>
                  <a:srgbClr val="FFFFFF"/>
                </a:solidFill>
                <a:latin typeface="Calibri"/>
              </a:defRPr>
            </a:pPr>
            <a:r>
              <a:t>Cảm ơn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