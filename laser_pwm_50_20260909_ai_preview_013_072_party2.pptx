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64"/>
  </p:notesMasterIdLst>
  <p:sldIdLst>
    <p:sldId id="328" r:id="rId3"/>
    <p:sldId id="329" r:id="rId4"/>
    <p:sldId id="330" r:id="rId5"/>
    <p:sldId id="331" r:id="rId6"/>
    <p:sldId id="332" r:id="rId7"/>
    <p:sldId id="333" r:id="rId8"/>
    <p:sldId id="334" r:id="rId9"/>
    <p:sldId id="335" r:id="rId10"/>
    <p:sldId id="336"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4" r:id="rId29"/>
    <p:sldId id="355" r:id="rId30"/>
    <p:sldId id="356" r:id="rId31"/>
    <p:sldId id="357" r:id="rId32"/>
    <p:sldId id="358" r:id="rId33"/>
    <p:sldId id="359" r:id="rId34"/>
    <p:sldId id="360" r:id="rId35"/>
    <p:sldId id="361" r:id="rId36"/>
    <p:sldId id="362" r:id="rId37"/>
    <p:sldId id="363" r:id="rId38"/>
    <p:sldId id="364" r:id="rId39"/>
    <p:sldId id="365" r:id="rId40"/>
    <p:sldId id="366" r:id="rId41"/>
    <p:sldId id="367" r:id="rId42"/>
    <p:sldId id="368" r:id="rId43"/>
    <p:sldId id="369" r:id="rId44"/>
    <p:sldId id="370" r:id="rId45"/>
    <p:sldId id="371" r:id="rId46"/>
    <p:sldId id="372" r:id="rId47"/>
    <p:sldId id="373" r:id="rId48"/>
    <p:sldId id="374" r:id="rId49"/>
    <p:sldId id="375" r:id="rId50"/>
    <p:sldId id="376" r:id="rId51"/>
    <p:sldId id="377" r:id="rId52"/>
    <p:sldId id="378" r:id="rId53"/>
    <p:sldId id="379" r:id="rId54"/>
    <p:sldId id="380" r:id="rId55"/>
    <p:sldId id="381" r:id="rId56"/>
    <p:sldId id="382" r:id="rId57"/>
    <p:sldId id="383" r:id="rId58"/>
    <p:sldId id="384" r:id="rId59"/>
    <p:sldId id="385" r:id="rId60"/>
    <p:sldId id="386" r:id="rId61"/>
    <p:sldId id="387" r:id="rId62"/>
    <p:sldId id="388"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5" d="100"/>
          <a:sy n="105" d="100"/>
        </p:scale>
        <p:origin x="69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61" Type="http://schemas.openxmlformats.org/officeDocument/2006/relationships/slide" Target="slides/slide59.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A1DED3-66AA-4561-AF7D-215E19E37BDC}" type="datetimeFigureOut">
              <a:rPr lang="en-US" smtClean="0"/>
              <a:t>09-Sep-26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706B16-9287-4D7D-8F43-F3C91E840D32}" type="slidenum">
              <a:rPr lang="en-US" smtClean="0"/>
              <a:t>‹#›</a:t>
            </a:fld>
            <a:endParaRPr lang="en-US"/>
          </a:p>
        </p:txBody>
      </p:sp>
    </p:spTree>
    <p:extLst>
      <p:ext uri="{BB962C8B-B14F-4D97-AF65-F5344CB8AC3E}">
        <p14:creationId xmlns:p14="http://schemas.microsoft.com/office/powerpoint/2010/main" val="23282645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Góc/độ cong dư, nhám, nứt, độ cứng và độ ổn định qua chu kỳ.</a:t>
            </a:r>
          </a:p>
          <a:p>
            <a:r>
              <a:rPr lang="en-US" dirty="0"/>
              <a:t>• Cổng quyết định: Hình dạng dư lặp lại và bền; tách rõ biến dạng nóng tức thời khỏi biến dạng còn lại.</a:t>
            </a:r>
          </a:p>
          <a:p>
            <a:r>
              <a:rPr lang="en-US" dirty="0"/>
              <a:t>• Giới hạn: Đây là hướng tạo thay đổi vật liệu vĩnh viễn, khác E2 là ưu tiên thuận nghịch.</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S10</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Dùng nhiệt cục bộ sau cấy ion để phục hồi tổn thương mạng và thay đổi trạng thái hoạt hóa điện của dopant. Khảo sát hoạt hóa và đánh đổi khuếch tán–khuyết tật với ngân sách nhiệt cục bộ.</a:t>
            </a:r>
          </a:p>
          <a:p>
            <a:endParaRPr lang="en-US" dirty="0"/>
          </a:p>
          <a:p>
            <a:r>
              <a:rPr lang="en-US" dirty="0"/>
              <a:t>Nội dung đầy đủ</a:t>
            </a:r>
          </a:p>
          <a:p>
            <a:endParaRPr lang="en-US" dirty="0"/>
          </a:p>
          <a:p>
            <a:r>
              <a:rPr lang="en-US" dirty="0"/>
              <a:t>• Định nghĩa: Dùng nhiệt cục bộ sau cấy ion để phục hồi tổn thương mạng và thay đổi trạng thái hoạt hóa điện của dopant.</a:t>
            </a:r>
          </a:p>
          <a:p>
            <a:r>
              <a:rPr lang="en-US" dirty="0"/>
              <a:t>• Vì sao cần: Khảo sát hoạt hóa và đánh đổi khuếch tán–khuyết tật với ngân sách nhiệt cục bộ.</a:t>
            </a:r>
          </a:p>
          <a:p>
            <a:r>
              <a:rPr lang="en-US" dirty="0"/>
              <a:t>• Đầu ra phải là chức năng hoặc đại lượng đo được, không chỉ là hiệu ứng nhìn thấy.</a:t>
            </a:r>
          </a:p>
          <a:p>
            <a:endParaRPr lang="en-US" dirty="0"/>
          </a:p>
          <a:p>
            <a:r>
              <a:rPr lang="en-US" dirty="0"/>
              <a:t>Hình và cách trình bày</a:t>
            </a:r>
          </a:p>
          <a:p>
            <a:endParaRPr lang="en-US" dirty="0"/>
          </a:p>
          <a:p>
            <a:r>
              <a:rPr lang="en-US" dirty="0"/>
              <a:t>Sơ đồ vật thể/chức năng; thuật ngữ tiếng Việt và English cùng xuất hiện.</a:t>
            </a:r>
          </a:p>
          <a:p>
            <a:endParaRPr lang="en-US" dirty="0"/>
          </a:p>
          <a:p>
            <a:r>
              <a:rPr lang="en-US" dirty="0"/>
              <a:t>Ranh giới bằng chứng</a:t>
            </a:r>
          </a:p>
          <a:p>
            <a:endParaRPr lang="en-US" dirty="0"/>
          </a:p>
          <a:p>
            <a:r>
              <a:rPr lang="en-US" dirty="0"/>
              <a:t>Giải thích vật thể trước khi nói khả năng phù hợp nguồn.</a:t>
            </a:r>
          </a:p>
          <a:p>
            <a:endParaRPr lang="en-US" dirty="0"/>
          </a:p>
          <a:p>
            <a:r>
              <a:rPr lang="en-US" dirty="0"/>
              <a:t>Citation giữ lại</a:t>
            </a:r>
          </a:p>
          <a:p>
            <a:endParaRPr lang="en-US" dirty="0"/>
          </a:p>
          <a:p>
            <a:r>
              <a:rPr lang="en-US" dirty="0"/>
              <a:t>S11, S26</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Cơ chế đề xuất phải được tách khỏi thông số của tài liệu.</a:t>
            </a:r>
          </a:p>
          <a:p>
            <a:endParaRPr lang="en-US" dirty="0"/>
          </a:p>
          <a:p>
            <a:r>
              <a:rPr lang="en-US" dirty="0"/>
              <a:t>Nội dung đầy đủ</a:t>
            </a:r>
          </a:p>
          <a:p>
            <a:endParaRPr lang="en-US" dirty="0"/>
          </a:p>
          <a:p>
            <a:r>
              <a:rPr lang="en-US" dirty="0"/>
              <a:t>• Cơ chế: Hấp thụ → lịch sử nhiệt nhanh → tái sắp xếp mạng/khuyết tật/dopant → tính điện sau nguội.</a:t>
            </a:r>
          </a:p>
          <a:p>
            <a:r>
              <a:rPr lang="en-US" dirty="0"/>
              <a:t>• Bằng chứng: S11 hỗ trợ tiền lệ diode CW 808 nm và ảnh hưởng pattern; S26 cung cấp dữ liệu quang học Si. Không lấy công suất/tốc độ quét tài liệu làm thông số setup.</a:t>
            </a:r>
          </a:p>
          <a:p>
            <a:r>
              <a:rPr lang="en-US" dirty="0"/>
              <a:t>• Nêu rõ điều kiện còn thiếu: nguồn, stack, detector, hóa chất, nhiệt độ hoặc môi trường.</a:t>
            </a:r>
          </a:p>
          <a:p>
            <a:endParaRPr lang="en-US" dirty="0"/>
          </a:p>
          <a:p>
            <a:r>
              <a:rPr lang="en-US" dirty="0"/>
              <a:t>Hình và cách trình bày</a:t>
            </a:r>
          </a:p>
          <a:p>
            <a:endParaRPr lang="en-US" dirty="0"/>
          </a:p>
          <a:p>
            <a:r>
              <a:rPr lang="en-US" dirty="0"/>
              <a:t>Sơ đồ cơ chế + thẻ citation; dấu hỏi tại phần chưa xác nhận.</a:t>
            </a:r>
          </a:p>
          <a:p>
            <a:endParaRPr lang="en-US" dirty="0"/>
          </a:p>
          <a:p>
            <a:r>
              <a:rPr lang="en-US" dirty="0"/>
              <a:t>Ranh giới bằng chứng</a:t>
            </a:r>
          </a:p>
          <a:p>
            <a:endParaRPr lang="en-US" dirty="0"/>
          </a:p>
          <a:p>
            <a:r>
              <a:rPr lang="en-US" dirty="0"/>
              <a:t>Không trình bày nguồn như bằng chứng setup hiện tại đã làm được.</a:t>
            </a:r>
          </a:p>
          <a:p>
            <a:endParaRPr lang="en-US" dirty="0"/>
          </a:p>
          <a:p>
            <a:r>
              <a:rPr lang="en-US" dirty="0"/>
              <a:t>Citation giữ lại</a:t>
            </a:r>
          </a:p>
          <a:p>
            <a:endParaRPr lang="en-US" dirty="0"/>
          </a:p>
          <a:p>
            <a:r>
              <a:rPr lang="en-US" dirty="0"/>
              <a:t>S11, S26</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Hình phải giúp người nghe nhìn thấy mẫu, vị trí chiếu và đường đo.</a:t>
            </a:r>
          </a:p>
          <a:p>
            <a:endParaRPr lang="en-US" dirty="0"/>
          </a:p>
          <a:p>
            <a:r>
              <a:rPr lang="en-US" dirty="0"/>
              <a:t>Nội dung đầy đủ</a:t>
            </a:r>
          </a:p>
          <a:p>
            <a:endParaRPr lang="en-US" dirty="0"/>
          </a:p>
          <a:p>
            <a:r>
              <a:rPr lang="en-US" dirty="0"/>
              <a:t>• Mẫu đầu tiên: Mặt cắt silicon có vùng cấy ion; line scan laser; wafer/điều kiện cấy phải được chốt trước khi tuyên bố.</a:t>
            </a:r>
          </a:p>
          <a:p>
            <a:r>
              <a:rPr lang="en-US" dirty="0"/>
              <a:t>• Bố trí: laser/optics, stage/gá, camera/cảm biến và đối chứng.</a:t>
            </a:r>
          </a:p>
          <a:p>
            <a:r>
              <a:rPr lang="en-US" dirty="0"/>
              <a:t>• Chưa có ảnh thật thì dùng sơ đồ concept; không tạo ảnh giả SEM/PL/thermal map.</a:t>
            </a:r>
          </a:p>
          <a:p>
            <a:endParaRPr lang="en-US" dirty="0"/>
          </a:p>
          <a:p>
            <a:r>
              <a:rPr lang="en-US" dirty="0"/>
              <a:t>Hình và cách trình bày</a:t>
            </a:r>
          </a:p>
          <a:p>
            <a:endParaRPr lang="en-US" dirty="0"/>
          </a:p>
          <a:p>
            <a:r>
              <a:rPr lang="en-US" dirty="0"/>
              <a:t>Trước cấy–sau cấy–sau ủ; vùng tổn thương, line scan và vị trí đo điện.</a:t>
            </a:r>
          </a:p>
          <a:p>
            <a:endParaRPr lang="en-US" dirty="0"/>
          </a:p>
          <a:p>
            <a:r>
              <a:rPr lang="en-US" dirty="0"/>
              <a:t>Ranh giới bằng chứng</a:t>
            </a:r>
          </a:p>
          <a:p>
            <a:endParaRPr lang="en-US" dirty="0"/>
          </a:p>
          <a:p>
            <a:r>
              <a:rPr lang="en-US" dirty="0"/>
              <a:t>Mẫu và hình chỉ là đề xuất thiết kế nếu chưa chế tạo/đo.</a:t>
            </a:r>
          </a:p>
          <a:p>
            <a:endParaRPr lang="en-US" dirty="0"/>
          </a:p>
          <a:p>
            <a:r>
              <a:rPr lang="en-US" dirty="0"/>
              <a:t>Citation giữ lại</a:t>
            </a:r>
          </a:p>
          <a:p>
            <a:endParaRPr lang="en-US" dirty="0"/>
          </a:p>
          <a:p>
            <a:r>
              <a:rPr lang="en-US" dirty="0"/>
              <a:t>S11, S26</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Rs, đồng đều, hình thái, dấu hiệu hư hỏng; Hall/SIMS nếu tuyên bố hoạt hóa/phân bố dopant.</a:t>
            </a:r>
          </a:p>
          <a:p>
            <a:r>
              <a:rPr lang="en-US" dirty="0"/>
              <a:t>• Cổng quyết định: Có cửa sổ nhiệt lặp lại, đo điện có sai số và không vượt giới hạn hư hỏng.</a:t>
            </a:r>
          </a:p>
          <a:p>
            <a:r>
              <a:rPr lang="en-US" dirty="0"/>
              <a:t>• Giới hạn: Ellipsometry không thay Hall/SIMS; Rs giảm không chỉ có một nguyên nhân.</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S11, S26</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Kích thích silicon và ghi ánh sáng phát quang để xem vùng không đồng đều, khuyết tật hoặc trạng thái tái hợp. Quan sát vùng tái hợp/không đồng đều trong Si bằng tín hiệu phát quang.</a:t>
            </a:r>
          </a:p>
          <a:p>
            <a:endParaRPr lang="en-US" dirty="0"/>
          </a:p>
          <a:p>
            <a:r>
              <a:rPr lang="en-US" dirty="0"/>
              <a:t>Nội dung đầy đủ</a:t>
            </a:r>
          </a:p>
          <a:p>
            <a:endParaRPr lang="en-US" dirty="0"/>
          </a:p>
          <a:p>
            <a:r>
              <a:rPr lang="en-US" dirty="0"/>
              <a:t>• Định nghĩa: Kích thích silicon và ghi ánh sáng phát quang để xem vùng không đồng đều, khuyết tật hoặc trạng thái tái hợp.</a:t>
            </a:r>
          </a:p>
          <a:p>
            <a:r>
              <a:rPr lang="en-US" dirty="0"/>
              <a:t>• Vì sao cần: Quan sát vùng tái hợp/không đồng đều trong Si bằng tín hiệu phát quang.</a:t>
            </a:r>
          </a:p>
          <a:p>
            <a:r>
              <a:rPr lang="en-US" dirty="0"/>
              <a:t>• Đầu ra phải là chức năng hoặc đại lượng đo được, không chỉ là hiệu ứng nhìn thấy.</a:t>
            </a:r>
          </a:p>
          <a:p>
            <a:endParaRPr lang="en-US" dirty="0"/>
          </a:p>
          <a:p>
            <a:r>
              <a:rPr lang="en-US" dirty="0"/>
              <a:t>Hình và cách trình bày</a:t>
            </a:r>
          </a:p>
          <a:p>
            <a:endParaRPr lang="en-US" dirty="0"/>
          </a:p>
          <a:p>
            <a:r>
              <a:rPr lang="en-US" dirty="0"/>
              <a:t>Sơ đồ vật thể/chức năng; thuật ngữ tiếng Việt và English cùng xuất hiện.</a:t>
            </a:r>
          </a:p>
          <a:p>
            <a:endParaRPr lang="en-US" dirty="0"/>
          </a:p>
          <a:p>
            <a:r>
              <a:rPr lang="en-US" dirty="0"/>
              <a:t>Ranh giới bằng chứng</a:t>
            </a:r>
          </a:p>
          <a:p>
            <a:endParaRPr lang="en-US" dirty="0"/>
          </a:p>
          <a:p>
            <a:r>
              <a:rPr lang="en-US" dirty="0"/>
              <a:t>Giải thích vật thể trước khi nói khả năng phù hợp nguồn.</a:t>
            </a:r>
          </a:p>
          <a:p>
            <a:endParaRPr lang="en-US" dirty="0"/>
          </a:p>
          <a:p>
            <a:r>
              <a:rPr lang="en-US" dirty="0"/>
              <a:t>Citation giữ lại</a:t>
            </a:r>
          </a:p>
          <a:p>
            <a:endParaRPr lang="en-US" dirty="0"/>
          </a:p>
          <a:p>
            <a:r>
              <a:rPr lang="en-US" dirty="0"/>
              <a:t>S16, S17</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Cơ chế đề xuất phải được tách khỏi thông số của tài liệu.</a:t>
            </a:r>
          </a:p>
          <a:p>
            <a:endParaRPr lang="en-US" dirty="0"/>
          </a:p>
          <a:p>
            <a:r>
              <a:rPr lang="en-US" dirty="0"/>
              <a:t>Nội dung đầy đủ</a:t>
            </a:r>
          </a:p>
          <a:p>
            <a:endParaRPr lang="en-US" dirty="0"/>
          </a:p>
          <a:p>
            <a:r>
              <a:rPr lang="en-US" dirty="0"/>
              <a:t>• Cơ chế: Kích thích tạo hạt tải → tái hợp phát photon → detector ghi phổ/cường độ; tín hiệu phụ thuộc bước sóng và detector.</a:t>
            </a:r>
          </a:p>
          <a:p>
            <a:r>
              <a:rPr lang="en-US" dirty="0"/>
              <a:t>• Bằng chứng: S16/S17 hỗ trợ PL/EL và giới hạn phổ detector; không mặc định camera hiện có đủ dải NIR hoặc độ nhạy.</a:t>
            </a:r>
          </a:p>
          <a:p>
            <a:r>
              <a:rPr lang="en-US" dirty="0"/>
              <a:t>• Nêu rõ điều kiện còn thiếu: nguồn, stack, detector, hóa chất, nhiệt độ hoặc môi trường.</a:t>
            </a:r>
          </a:p>
          <a:p>
            <a:endParaRPr lang="en-US" dirty="0"/>
          </a:p>
          <a:p>
            <a:r>
              <a:rPr lang="en-US" dirty="0"/>
              <a:t>Hình và cách trình bày</a:t>
            </a:r>
          </a:p>
          <a:p>
            <a:endParaRPr lang="en-US" dirty="0"/>
          </a:p>
          <a:p>
            <a:r>
              <a:rPr lang="en-US" dirty="0"/>
              <a:t>Sơ đồ cơ chế + thẻ citation; dấu hỏi tại phần chưa xác nhận.</a:t>
            </a:r>
          </a:p>
          <a:p>
            <a:endParaRPr lang="en-US" dirty="0"/>
          </a:p>
          <a:p>
            <a:r>
              <a:rPr lang="en-US" dirty="0"/>
              <a:t>Ranh giới bằng chứng</a:t>
            </a:r>
          </a:p>
          <a:p>
            <a:endParaRPr lang="en-US" dirty="0"/>
          </a:p>
          <a:p>
            <a:r>
              <a:rPr lang="en-US" dirty="0"/>
              <a:t>Không trình bày nguồn như bằng chứng setup hiện tại đã làm được.</a:t>
            </a:r>
          </a:p>
          <a:p>
            <a:endParaRPr lang="en-US" dirty="0"/>
          </a:p>
          <a:p>
            <a:r>
              <a:rPr lang="en-US" dirty="0"/>
              <a:t>Citation giữ lại</a:t>
            </a:r>
          </a:p>
          <a:p>
            <a:endParaRPr lang="en-US" dirty="0"/>
          </a:p>
          <a:p>
            <a:r>
              <a:rPr lang="en-US" dirty="0"/>
              <a:t>S16, S17</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Hình phải giúp người nghe nhìn thấy mẫu, vị trí chiếu và đường đo.</a:t>
            </a:r>
          </a:p>
          <a:p>
            <a:endParaRPr lang="en-US" dirty="0"/>
          </a:p>
          <a:p>
            <a:r>
              <a:rPr lang="en-US" dirty="0"/>
              <a:t>Nội dung đầy đủ</a:t>
            </a:r>
          </a:p>
          <a:p>
            <a:endParaRPr lang="en-US" dirty="0"/>
          </a:p>
          <a:p>
            <a:r>
              <a:rPr lang="en-US" dirty="0"/>
              <a:t>• Mẫu đầu tiên: Wafer Si tham chiếu và mẫu có vùng xử lý; cần điều kiện nền/tối và detector phù hợp.</a:t>
            </a:r>
          </a:p>
          <a:p>
            <a:r>
              <a:rPr lang="en-US" dirty="0"/>
              <a:t>• Bố trí: laser/optics, stage/gá, camera/cảm biến và đối chứng.</a:t>
            </a:r>
          </a:p>
          <a:p>
            <a:r>
              <a:rPr lang="en-US" dirty="0"/>
              <a:t>• Chưa có ảnh thật thì dùng sơ đồ concept; không tạo ảnh giả SEM/PL/thermal map.</a:t>
            </a:r>
          </a:p>
          <a:p>
            <a:endParaRPr lang="en-US" dirty="0"/>
          </a:p>
          <a:p>
            <a:r>
              <a:rPr lang="en-US" dirty="0"/>
              <a:t>Hình và cách trình bày</a:t>
            </a:r>
          </a:p>
          <a:p>
            <a:endParaRPr lang="en-US" dirty="0"/>
          </a:p>
          <a:p>
            <a:r>
              <a:rPr lang="en-US" dirty="0"/>
              <a:t>Mặt wafer, vùng laser, đường phát quang đến detector; bản đồ PL chỉ là dữ liệu khi có phép đo thật.</a:t>
            </a:r>
          </a:p>
          <a:p>
            <a:endParaRPr lang="en-US" dirty="0"/>
          </a:p>
          <a:p>
            <a:r>
              <a:rPr lang="en-US" dirty="0"/>
              <a:t>Ranh giới bằng chứng</a:t>
            </a:r>
          </a:p>
          <a:p>
            <a:endParaRPr lang="en-US" dirty="0"/>
          </a:p>
          <a:p>
            <a:r>
              <a:rPr lang="en-US" dirty="0"/>
              <a:t>Mẫu và hình chỉ là đề xuất thiết kế nếu chưa chế tạo/đo.</a:t>
            </a:r>
          </a:p>
          <a:p>
            <a:endParaRPr lang="en-US" dirty="0"/>
          </a:p>
          <a:p>
            <a:r>
              <a:rPr lang="en-US" dirty="0"/>
              <a:t>Citation giữ lại</a:t>
            </a:r>
          </a:p>
          <a:p>
            <a:endParaRPr lang="en-US" dirty="0"/>
          </a:p>
          <a:p>
            <a:r>
              <a:rPr lang="en-US" dirty="0"/>
              <a:t>S16, S17</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Cường độ/phổ PL, SNR, độ lặp lại, phụ thuộc công suất và nhiệt nền.</a:t>
            </a:r>
          </a:p>
          <a:p>
            <a:r>
              <a:rPr lang="en-US" dirty="0"/>
              <a:t>• Cổng quyết định: Tách được tín hiệu PL khỏi ánh sáng tán xạ/nhiệt và có chuẩn tham chiếu.</a:t>
            </a:r>
          </a:p>
          <a:p>
            <a:r>
              <a:rPr lang="en-US" dirty="0"/>
              <a:t>• Giới hạn: NIR rộng có thể cần InGaAs; camera silicon không tự ghi toàn phổ.</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S16, S17</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Dùng xử lý nhiệt cục bộ để biến silicon vô định hình (a-Si) thành silicon đa tinh thể (poly-Si). Tạo poly-Si từ a-Si bằng xử lý nhiệt vùng và nghiên cứu cửa sổ kết tinh.</a:t>
            </a:r>
          </a:p>
          <a:p>
            <a:endParaRPr lang="en-US" dirty="0"/>
          </a:p>
          <a:p>
            <a:r>
              <a:rPr lang="en-US" dirty="0"/>
              <a:t>Nội dung đầy đủ</a:t>
            </a:r>
          </a:p>
          <a:p>
            <a:endParaRPr lang="en-US" dirty="0"/>
          </a:p>
          <a:p>
            <a:r>
              <a:rPr lang="en-US" dirty="0"/>
              <a:t>• Định nghĩa: Dùng xử lý nhiệt cục bộ để biến silicon vô định hình (a-Si) thành silicon đa tinh thể (poly-Si).</a:t>
            </a:r>
          </a:p>
          <a:p>
            <a:r>
              <a:rPr lang="en-US" dirty="0"/>
              <a:t>• Vì sao cần: Tạo poly-Si từ a-Si bằng xử lý nhiệt vùng và nghiên cứu cửa sổ kết tinh.</a:t>
            </a:r>
          </a:p>
          <a:p>
            <a:r>
              <a:rPr lang="en-US" dirty="0"/>
              <a:t>• Đầu ra phải là chức năng hoặc đại lượng đo được, không chỉ là hiệu ứng nhìn thấy.</a:t>
            </a:r>
          </a:p>
          <a:p>
            <a:endParaRPr lang="en-US" dirty="0"/>
          </a:p>
          <a:p>
            <a:r>
              <a:rPr lang="en-US" dirty="0"/>
              <a:t>Hình và cách trình bày</a:t>
            </a:r>
          </a:p>
          <a:p>
            <a:endParaRPr lang="en-US" dirty="0"/>
          </a:p>
          <a:p>
            <a:r>
              <a:rPr lang="en-US" dirty="0"/>
              <a:t>Sơ đồ vật thể/chức năng; thuật ngữ tiếng Việt và English cùng xuất hiện.</a:t>
            </a:r>
          </a:p>
          <a:p>
            <a:endParaRPr lang="en-US" dirty="0"/>
          </a:p>
          <a:p>
            <a:r>
              <a:rPr lang="en-US" dirty="0"/>
              <a:t>Ranh giới bằng chứng</a:t>
            </a:r>
          </a:p>
          <a:p>
            <a:endParaRPr lang="en-US" dirty="0"/>
          </a:p>
          <a:p>
            <a:r>
              <a:rPr lang="en-US" dirty="0"/>
              <a:t>Giải thích vật thể trước khi nói khả năng phù hợp nguồn.</a:t>
            </a:r>
          </a:p>
          <a:p>
            <a:endParaRPr lang="en-US" dirty="0"/>
          </a:p>
          <a:p>
            <a:r>
              <a:rPr lang="en-US" dirty="0"/>
              <a:t>Citation giữ lại</a:t>
            </a:r>
          </a:p>
          <a:p>
            <a:endParaRPr lang="en-US" dirty="0"/>
          </a:p>
          <a:p>
            <a:r>
              <a:rPr lang="en-US" dirty="0"/>
              <a:t>S12, S13, S14</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Cơ chế đề xuất phải được tách khỏi thông số của tài liệu.</a:t>
            </a:r>
          </a:p>
          <a:p>
            <a:endParaRPr lang="en-US" dirty="0"/>
          </a:p>
          <a:p>
            <a:r>
              <a:rPr lang="en-US" dirty="0"/>
              <a:t>Nội dung đầy đủ</a:t>
            </a:r>
          </a:p>
          <a:p>
            <a:endParaRPr lang="en-US" dirty="0"/>
          </a:p>
          <a:p>
            <a:r>
              <a:rPr lang="en-US" dirty="0"/>
              <a:t>• Cơ chế: Hấp thụ → nung/di chuyển mặt nóng chảy → kết tinh khi nguội; phụ thuộc màng, nền và lịch sử nhiệt.</a:t>
            </a:r>
          </a:p>
          <a:p>
            <a:r>
              <a:rPr lang="en-US" dirty="0"/>
              <a:t>• Bằng chứng: S12–S14 hỗ trợ laser crystallization và ảnh hưởng bước sóng/điều kiện; không chuyển trực tiếp line beam/LSA sang nguồn chưa đặc trưng.</a:t>
            </a:r>
          </a:p>
          <a:p>
            <a:r>
              <a:rPr lang="en-US" dirty="0"/>
              <a:t>• Nêu rõ điều kiện còn thiếu: nguồn, stack, detector, hóa chất, nhiệt độ hoặc môi trường.</a:t>
            </a:r>
          </a:p>
          <a:p>
            <a:endParaRPr lang="en-US" dirty="0"/>
          </a:p>
          <a:p>
            <a:r>
              <a:rPr lang="en-US" dirty="0"/>
              <a:t>Hình và cách trình bày</a:t>
            </a:r>
          </a:p>
          <a:p>
            <a:endParaRPr lang="en-US" dirty="0"/>
          </a:p>
          <a:p>
            <a:r>
              <a:rPr lang="en-US" dirty="0"/>
              <a:t>Sơ đồ cơ chế + thẻ citation; dấu hỏi tại phần chưa xác nhận.</a:t>
            </a:r>
          </a:p>
          <a:p>
            <a:endParaRPr lang="en-US" dirty="0"/>
          </a:p>
          <a:p>
            <a:r>
              <a:rPr lang="en-US" dirty="0"/>
              <a:t>Ranh giới bằng chứng</a:t>
            </a:r>
          </a:p>
          <a:p>
            <a:endParaRPr lang="en-US" dirty="0"/>
          </a:p>
          <a:p>
            <a:r>
              <a:rPr lang="en-US" dirty="0"/>
              <a:t>Không trình bày nguồn như bằng chứng setup hiện tại đã làm được.</a:t>
            </a:r>
          </a:p>
          <a:p>
            <a:endParaRPr lang="en-US" dirty="0"/>
          </a:p>
          <a:p>
            <a:r>
              <a:rPr lang="en-US" dirty="0"/>
              <a:t>Citation giữ lại</a:t>
            </a:r>
          </a:p>
          <a:p>
            <a:endParaRPr lang="en-US" dirty="0"/>
          </a:p>
          <a:p>
            <a:r>
              <a:rPr lang="en-US" dirty="0"/>
              <a:t>S12, S13, S14</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Hình phải giúp người nghe nhìn thấy mẫu, vị trí chiếu và đường đo.</a:t>
            </a:r>
          </a:p>
          <a:p>
            <a:endParaRPr lang="en-US" dirty="0"/>
          </a:p>
          <a:p>
            <a:r>
              <a:rPr lang="en-US" dirty="0"/>
              <a:t>Nội dung đầy đủ</a:t>
            </a:r>
          </a:p>
          <a:p>
            <a:endParaRPr lang="en-US" dirty="0"/>
          </a:p>
          <a:p>
            <a:r>
              <a:rPr lang="en-US" dirty="0"/>
              <a:t>• Mẫu đầu tiên: Màng a-Si trên kính/oxide, có vùng không xử lý và mẫu anneal tham chiếu.</a:t>
            </a:r>
          </a:p>
          <a:p>
            <a:r>
              <a:rPr lang="en-US" dirty="0"/>
              <a:t>• Bố trí: laser/optics, stage/gá, camera/cảm biến và đối chứng.</a:t>
            </a:r>
          </a:p>
          <a:p>
            <a:r>
              <a:rPr lang="en-US" dirty="0"/>
              <a:t>• Chưa có ảnh thật thì dùng sơ đồ concept; không tạo ảnh giả SEM/PL/thermal map.</a:t>
            </a:r>
          </a:p>
          <a:p>
            <a:endParaRPr lang="en-US" dirty="0"/>
          </a:p>
          <a:p>
            <a:r>
              <a:rPr lang="en-US" dirty="0"/>
              <a:t>Hình và cách trình bày</a:t>
            </a:r>
          </a:p>
          <a:p>
            <a:endParaRPr lang="en-US" dirty="0"/>
          </a:p>
          <a:p>
            <a:r>
              <a:rPr lang="en-US" dirty="0"/>
              <a:t>Mặt cắt a-Si trước, vùng nóng chảy, poly-Si sau; đường quét và vùng hạt.</a:t>
            </a:r>
          </a:p>
          <a:p>
            <a:endParaRPr lang="en-US" dirty="0"/>
          </a:p>
          <a:p>
            <a:r>
              <a:rPr lang="en-US" dirty="0"/>
              <a:t>Ranh giới bằng chứng</a:t>
            </a:r>
          </a:p>
          <a:p>
            <a:endParaRPr lang="en-US" dirty="0"/>
          </a:p>
          <a:p>
            <a:r>
              <a:rPr lang="en-US" dirty="0"/>
              <a:t>Mẫu và hình chỉ là đề xuất thiết kế nếu chưa chế tạo/đo.</a:t>
            </a:r>
          </a:p>
          <a:p>
            <a:endParaRPr lang="en-US" dirty="0"/>
          </a:p>
          <a:p>
            <a:r>
              <a:rPr lang="en-US" dirty="0"/>
              <a:t>Citation giữ lại</a:t>
            </a:r>
          </a:p>
          <a:p>
            <a:endParaRPr lang="en-US" dirty="0"/>
          </a:p>
          <a:p>
            <a:r>
              <a:rPr lang="en-US" dirty="0"/>
              <a:t>S12, S13, S14</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Raman/XRD/SEM nếu có, hình thái hạt, độ dày, điện trở và đồng đều vùng quét.</a:t>
            </a:r>
          </a:p>
          <a:p>
            <a:r>
              <a:rPr lang="en-US" dirty="0"/>
              <a:t>• Cổng quyết định: Có bằng chứng pha/hạt độc lập và cửa sổ không phá nền; không kết luận chỉ từ đổi màu/điện trở.</a:t>
            </a:r>
          </a:p>
          <a:p>
            <a:r>
              <a:rPr lang="en-US" dirty="0"/>
              <a:t>• Giới hạn: Cần xác nhận thêm điều kiện vật liệu, nguồn và phép đo trước khi triển khai.</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S12, S13, S14</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Tạo vùng pha tạp hoặc junction cục bộ bằng xử lý laser kết hợp nguồn dopant/vật liệu phù hợp. Tạo vùng pha tạp/junction chọn lọc khi mục tiêu cuối là điện tử Si.</a:t>
            </a:r>
          </a:p>
          <a:p>
            <a:endParaRPr lang="en-US" dirty="0"/>
          </a:p>
          <a:p>
            <a:r>
              <a:rPr lang="en-US" dirty="0"/>
              <a:t>Nội dung đầy đủ</a:t>
            </a:r>
          </a:p>
          <a:p>
            <a:endParaRPr lang="en-US" dirty="0"/>
          </a:p>
          <a:p>
            <a:r>
              <a:rPr lang="en-US" dirty="0"/>
              <a:t>• Định nghĩa: Tạo vùng pha tạp hoặc junction cục bộ bằng xử lý laser kết hợp nguồn dopant/vật liệu phù hợp.</a:t>
            </a:r>
          </a:p>
          <a:p>
            <a:r>
              <a:rPr lang="en-US" dirty="0"/>
              <a:t>• Vì sao cần: Tạo vùng pha tạp/junction chọn lọc khi mục tiêu cuối là điện tử Si.</a:t>
            </a:r>
          </a:p>
          <a:p>
            <a:r>
              <a:rPr lang="en-US" dirty="0"/>
              <a:t>• Đầu ra phải là chức năng hoặc đại lượng đo được, không chỉ là hiệu ứng nhìn thấy.</a:t>
            </a:r>
          </a:p>
          <a:p>
            <a:endParaRPr lang="en-US" dirty="0"/>
          </a:p>
          <a:p>
            <a:r>
              <a:rPr lang="en-US" dirty="0"/>
              <a:t>Hình và cách trình bày</a:t>
            </a:r>
          </a:p>
          <a:p>
            <a:endParaRPr lang="en-US" dirty="0"/>
          </a:p>
          <a:p>
            <a:r>
              <a:rPr lang="en-US" dirty="0"/>
              <a:t>Sơ đồ vật thể/chức năng; thuật ngữ tiếng Việt và English cùng xuất hiện.</a:t>
            </a:r>
          </a:p>
          <a:p>
            <a:endParaRPr lang="en-US" dirty="0"/>
          </a:p>
          <a:p>
            <a:r>
              <a:rPr lang="en-US" dirty="0"/>
              <a:t>Ranh giới bằng chứng</a:t>
            </a:r>
          </a:p>
          <a:p>
            <a:endParaRPr lang="en-US" dirty="0"/>
          </a:p>
          <a:p>
            <a:r>
              <a:rPr lang="en-US" dirty="0"/>
              <a:t>Giải thích vật thể trước khi nói khả năng phù hợp nguồn.</a:t>
            </a:r>
          </a:p>
          <a:p>
            <a:endParaRPr lang="en-US" dirty="0"/>
          </a:p>
          <a:p>
            <a:r>
              <a:rPr lang="en-US" dirty="0"/>
              <a:t>Citation giữ lại</a:t>
            </a:r>
          </a:p>
          <a:p>
            <a:endParaRPr lang="en-US" dirty="0"/>
          </a:p>
          <a:p>
            <a:r>
              <a:rPr lang="en-US" dirty="0"/>
              <a:t>S14, S15</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Cơ chế đề xuất phải được tách khỏi thông số của tài liệu.</a:t>
            </a:r>
          </a:p>
          <a:p>
            <a:endParaRPr lang="en-US" dirty="0"/>
          </a:p>
          <a:p>
            <a:r>
              <a:rPr lang="en-US" dirty="0"/>
              <a:t>Nội dung đầy đủ</a:t>
            </a:r>
          </a:p>
          <a:p>
            <a:endParaRPr lang="en-US" dirty="0"/>
          </a:p>
          <a:p>
            <a:r>
              <a:rPr lang="en-US" dirty="0"/>
              <a:t>• Cơ chế: Gia nhiệt hoặc nóng chảy cục bộ → dopant hòa tan/khuếch tán → đông đặc/tái kết tinh → vùng điện mới.</a:t>
            </a:r>
          </a:p>
          <a:p>
            <a:r>
              <a:rPr lang="en-US" dirty="0"/>
              <a:t>• Bằng chứng: S14/S15 có tiền lệ CW line beam và microsecond; phải chuyển theo động học nóng chảy, không theo nhãn PWM.</a:t>
            </a:r>
          </a:p>
          <a:p>
            <a:r>
              <a:rPr lang="en-US" dirty="0"/>
              <a:t>• Nêu rõ điều kiện còn thiếu: nguồn, stack, detector, hóa chất, nhiệt độ hoặc môi trường.</a:t>
            </a:r>
          </a:p>
          <a:p>
            <a:endParaRPr lang="en-US" dirty="0"/>
          </a:p>
          <a:p>
            <a:r>
              <a:rPr lang="en-US" dirty="0"/>
              <a:t>Hình và cách trình bày</a:t>
            </a:r>
          </a:p>
          <a:p>
            <a:endParaRPr lang="en-US" dirty="0"/>
          </a:p>
          <a:p>
            <a:r>
              <a:rPr lang="en-US" dirty="0"/>
              <a:t>Sơ đồ cơ chế + thẻ citation; dấu hỏi tại phần chưa xác nhận.</a:t>
            </a:r>
          </a:p>
          <a:p>
            <a:endParaRPr lang="en-US" dirty="0"/>
          </a:p>
          <a:p>
            <a:r>
              <a:rPr lang="en-US" dirty="0"/>
              <a:t>Ranh giới bằng chứng</a:t>
            </a:r>
          </a:p>
          <a:p>
            <a:endParaRPr lang="en-US" dirty="0"/>
          </a:p>
          <a:p>
            <a:r>
              <a:rPr lang="en-US" dirty="0"/>
              <a:t>Không trình bày nguồn như bằng chứng setup hiện tại đã làm được.</a:t>
            </a:r>
          </a:p>
          <a:p>
            <a:endParaRPr lang="en-US" dirty="0"/>
          </a:p>
          <a:p>
            <a:r>
              <a:rPr lang="en-US" dirty="0"/>
              <a:t>Citation giữ lại</a:t>
            </a:r>
          </a:p>
          <a:p>
            <a:endParaRPr lang="en-US" dirty="0"/>
          </a:p>
          <a:p>
            <a:r>
              <a:rPr lang="en-US" dirty="0"/>
              <a:t>S14, S15</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Hình phải giúp người nghe nhìn thấy mẫu, vị trí chiếu và đường đo.</a:t>
            </a:r>
          </a:p>
          <a:p>
            <a:endParaRPr lang="en-US" dirty="0"/>
          </a:p>
          <a:p>
            <a:r>
              <a:rPr lang="en-US" dirty="0"/>
              <a:t>Nội dung đầy đủ</a:t>
            </a:r>
          </a:p>
          <a:p>
            <a:endParaRPr lang="en-US" dirty="0"/>
          </a:p>
          <a:p>
            <a:r>
              <a:rPr lang="en-US" dirty="0"/>
              <a:t>• Mẫu đầu tiên: Wafer/coupon Si có nguồn dopant và mặt nạ/điện cực phù hợp; cần định nghĩa junction trước khi thử.</a:t>
            </a:r>
          </a:p>
          <a:p>
            <a:r>
              <a:rPr lang="en-US" dirty="0"/>
              <a:t>• Bố trí: laser/optics, stage/gá, camera/cảm biến và đối chứng.</a:t>
            </a:r>
          </a:p>
          <a:p>
            <a:r>
              <a:rPr lang="en-US" dirty="0"/>
              <a:t>• Chưa có ảnh thật thì dùng sơ đồ concept; không tạo ảnh giả SEM/PL/thermal map.</a:t>
            </a:r>
          </a:p>
          <a:p>
            <a:endParaRPr lang="en-US" dirty="0"/>
          </a:p>
          <a:p>
            <a:r>
              <a:rPr lang="en-US" dirty="0"/>
              <a:t>Hình và cách trình bày</a:t>
            </a:r>
          </a:p>
          <a:p>
            <a:endParaRPr lang="en-US" dirty="0"/>
          </a:p>
          <a:p>
            <a:r>
              <a:rPr lang="en-US" dirty="0"/>
              <a:t>Mặt cắt trước/sau: nền, vùng dopant, junction và điện cực đo.</a:t>
            </a:r>
          </a:p>
          <a:p>
            <a:endParaRPr lang="en-US" dirty="0"/>
          </a:p>
          <a:p>
            <a:r>
              <a:rPr lang="en-US" dirty="0"/>
              <a:t>Ranh giới bằng chứng</a:t>
            </a:r>
          </a:p>
          <a:p>
            <a:endParaRPr lang="en-US" dirty="0"/>
          </a:p>
          <a:p>
            <a:r>
              <a:rPr lang="en-US" dirty="0"/>
              <a:t>Mẫu và hình chỉ là đề xuất thiết kế nếu chưa chế tạo/đo.</a:t>
            </a:r>
          </a:p>
          <a:p>
            <a:endParaRPr lang="en-US" dirty="0"/>
          </a:p>
          <a:p>
            <a:r>
              <a:rPr lang="en-US" dirty="0"/>
              <a:t>Citation giữ lại</a:t>
            </a:r>
          </a:p>
          <a:p>
            <a:endParaRPr lang="en-US" dirty="0"/>
          </a:p>
          <a:p>
            <a:r>
              <a:rPr lang="en-US" dirty="0"/>
              <a:t>S14, S15</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Rs, I–V diode, profile dopant nếu có SIMS, leakage, breakdown và đồng đều.</a:t>
            </a:r>
          </a:p>
          <a:p>
            <a:r>
              <a:rPr lang="en-US" dirty="0"/>
              <a:t>• Cổng quyết định: Có dấu hiệu junction độc lập và kiểm soát được lateral/vertical spread; không chỉ đo Rs.</a:t>
            </a:r>
          </a:p>
          <a:p>
            <a:r>
              <a:rPr lang="en-US" dirty="0"/>
              <a:t>• Giới hạn: Cần xác nhận thêm điều kiện vật liệu, nguồn và phép đo trước khi triển khai.</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S14, S15</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Tạo liên kết kim loại hoặc đường seal package ở kích thước nhỏ để bảo vệ linh kiện khỏi môi trường. Nghiên cứu liên kết kim loại/seal package và độ bền với môi trường.</a:t>
            </a:r>
          </a:p>
          <a:p>
            <a:endParaRPr lang="en-US" dirty="0"/>
          </a:p>
          <a:p>
            <a:r>
              <a:rPr lang="en-US" dirty="0"/>
              <a:t>Nội dung đầy đủ</a:t>
            </a:r>
          </a:p>
          <a:p>
            <a:endParaRPr lang="en-US" dirty="0"/>
          </a:p>
          <a:p>
            <a:r>
              <a:rPr lang="en-US" dirty="0"/>
              <a:t>• Định nghĩa: Tạo liên kết kim loại hoặc đường seal package ở kích thước nhỏ để bảo vệ linh kiện khỏi môi trường.</a:t>
            </a:r>
          </a:p>
          <a:p>
            <a:r>
              <a:rPr lang="en-US" dirty="0"/>
              <a:t>• Vì sao cần: Nghiên cứu liên kết kim loại/seal package và độ bền với môi trường.</a:t>
            </a:r>
          </a:p>
          <a:p>
            <a:r>
              <a:rPr lang="en-US" dirty="0"/>
              <a:t>• Đầu ra phải là chức năng hoặc đại lượng đo được, không chỉ là hiệu ứng nhìn thấy.</a:t>
            </a:r>
          </a:p>
          <a:p>
            <a:endParaRPr lang="en-US" dirty="0"/>
          </a:p>
          <a:p>
            <a:r>
              <a:rPr lang="en-US" dirty="0"/>
              <a:t>Hình và cách trình bày</a:t>
            </a:r>
          </a:p>
          <a:p>
            <a:endParaRPr lang="en-US" dirty="0"/>
          </a:p>
          <a:p>
            <a:r>
              <a:rPr lang="en-US" dirty="0"/>
              <a:t>Sơ đồ vật thể/chức năng; thuật ngữ tiếng Việt và English cùng xuất hiện.</a:t>
            </a:r>
          </a:p>
          <a:p>
            <a:endParaRPr lang="en-US" dirty="0"/>
          </a:p>
          <a:p>
            <a:r>
              <a:rPr lang="en-US" dirty="0"/>
              <a:t>Ranh giới bằng chứng</a:t>
            </a:r>
          </a:p>
          <a:p>
            <a:endParaRPr lang="en-US" dirty="0"/>
          </a:p>
          <a:p>
            <a:r>
              <a:rPr lang="en-US" dirty="0"/>
              <a:t>Giải thích vật thể trước khi nói khả năng phù hợp nguồn.</a:t>
            </a:r>
          </a:p>
          <a:p>
            <a:endParaRPr lang="en-US" dirty="0"/>
          </a:p>
          <a:p>
            <a:r>
              <a:rPr lang="en-US" dirty="0"/>
              <a:t>Citation giữ lại</a:t>
            </a:r>
          </a:p>
          <a:p>
            <a:endParaRPr lang="en-US" dirty="0"/>
          </a:p>
          <a:p>
            <a:r>
              <a:rPr lang="en-US" dirty="0"/>
              <a:t>S01, S19</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Cơ chế đề xuất phải được tách khỏi thông số của tài liệu.</a:t>
            </a:r>
          </a:p>
          <a:p>
            <a:endParaRPr lang="en-US" dirty="0"/>
          </a:p>
          <a:p>
            <a:r>
              <a:rPr lang="en-US" dirty="0"/>
              <a:t>Nội dung đầy đủ</a:t>
            </a:r>
          </a:p>
          <a:p>
            <a:endParaRPr lang="en-US" dirty="0"/>
          </a:p>
          <a:p>
            <a:r>
              <a:rPr lang="en-US" dirty="0"/>
              <a:t>• Cơ chế: Gia nhiệt cục bộ làm kim loại/solder/frit liên kết; chất lượng phụ thuộc nhiệt, bề mặt, CTE và hình học.</a:t>
            </a:r>
          </a:p>
          <a:p>
            <a:r>
              <a:rPr lang="en-US" dirty="0"/>
              <a:t>• Bằng chứng: S01 hỗ trợ nhiệt cục bộ; S19 hỗ trợ package/sealing. Hàn kính bằng laser siêu ngắn là công nghệ khác, không chuyển nguyên xi.</a:t>
            </a:r>
          </a:p>
          <a:p>
            <a:r>
              <a:rPr lang="en-US" dirty="0"/>
              <a:t>• Nêu rõ điều kiện còn thiếu: nguồn, stack, detector, hóa chất, nhiệt độ hoặc môi trường.</a:t>
            </a:r>
          </a:p>
          <a:p>
            <a:endParaRPr lang="en-US" dirty="0"/>
          </a:p>
          <a:p>
            <a:r>
              <a:rPr lang="en-US" dirty="0"/>
              <a:t>Hình và cách trình bày</a:t>
            </a:r>
          </a:p>
          <a:p>
            <a:endParaRPr lang="en-US" dirty="0"/>
          </a:p>
          <a:p>
            <a:r>
              <a:rPr lang="en-US" dirty="0"/>
              <a:t>Sơ đồ cơ chế + thẻ citation; dấu hỏi tại phần chưa xác nhận.</a:t>
            </a:r>
          </a:p>
          <a:p>
            <a:endParaRPr lang="en-US" dirty="0"/>
          </a:p>
          <a:p>
            <a:r>
              <a:rPr lang="en-US" dirty="0"/>
              <a:t>Ranh giới bằng chứng</a:t>
            </a:r>
          </a:p>
          <a:p>
            <a:endParaRPr lang="en-US" dirty="0"/>
          </a:p>
          <a:p>
            <a:r>
              <a:rPr lang="en-US" dirty="0"/>
              <a:t>Không trình bày nguồn như bằng chứng setup hiện tại đã làm được.</a:t>
            </a:r>
          </a:p>
          <a:p>
            <a:endParaRPr lang="en-US" dirty="0"/>
          </a:p>
          <a:p>
            <a:r>
              <a:rPr lang="en-US" dirty="0"/>
              <a:t>Citation giữ lại</a:t>
            </a:r>
          </a:p>
          <a:p>
            <a:endParaRPr lang="en-US" dirty="0"/>
          </a:p>
          <a:p>
            <a:r>
              <a:rPr lang="en-US" dirty="0"/>
              <a:t>S01, S19</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Hình phải giúp người nghe nhìn thấy mẫu, vị trí chiếu và đường đo.</a:t>
            </a:r>
          </a:p>
          <a:p>
            <a:endParaRPr lang="en-US" dirty="0"/>
          </a:p>
          <a:p>
            <a:r>
              <a:rPr lang="en-US" dirty="0"/>
              <a:t>Nội dung đầy đủ</a:t>
            </a:r>
          </a:p>
          <a:p>
            <a:endParaRPr lang="en-US" dirty="0"/>
          </a:p>
          <a:p>
            <a:r>
              <a:rPr lang="en-US" dirty="0"/>
              <a:t>• Mẫu đầu tiên: Hai dải kim loại hoặc hai tấm package có đường seal, cavity và vật liệu đã chọn.</a:t>
            </a:r>
          </a:p>
          <a:p>
            <a:r>
              <a:rPr lang="en-US" dirty="0"/>
              <a:t>• Bố trí: laser/optics, stage/gá, camera/cảm biến và đối chứng.</a:t>
            </a:r>
          </a:p>
          <a:p>
            <a:r>
              <a:rPr lang="en-US" dirty="0"/>
              <a:t>• Chưa có ảnh thật thì dùng sơ đồ concept; không tạo ảnh giả SEM/PL/thermal map.</a:t>
            </a:r>
          </a:p>
          <a:p>
            <a:endParaRPr lang="en-US" dirty="0"/>
          </a:p>
          <a:p>
            <a:r>
              <a:rPr lang="en-US" dirty="0"/>
              <a:t>Hình và cách trình bày</a:t>
            </a:r>
          </a:p>
          <a:p>
            <a:endParaRPr lang="en-US" dirty="0"/>
          </a:p>
          <a:p>
            <a:r>
              <a:rPr lang="en-US" dirty="0"/>
              <a:t>Mặt cắt đường weld/seal; vùng nóng, cavity và đường kiểm tra rò.</a:t>
            </a:r>
          </a:p>
          <a:p>
            <a:endParaRPr lang="en-US" dirty="0"/>
          </a:p>
          <a:p>
            <a:r>
              <a:rPr lang="en-US" dirty="0"/>
              <a:t>Ranh giới bằng chứng</a:t>
            </a:r>
          </a:p>
          <a:p>
            <a:endParaRPr lang="en-US" dirty="0"/>
          </a:p>
          <a:p>
            <a:r>
              <a:rPr lang="en-US" dirty="0"/>
              <a:t>Mẫu và hình chỉ là đề xuất thiết kế nếu chưa chế tạo/đo.</a:t>
            </a:r>
          </a:p>
          <a:p>
            <a:endParaRPr lang="en-US" dirty="0"/>
          </a:p>
          <a:p>
            <a:r>
              <a:rPr lang="en-US" dirty="0"/>
              <a:t>Citation giữ lại</a:t>
            </a:r>
          </a:p>
          <a:p>
            <a:endParaRPr lang="en-US" dirty="0"/>
          </a:p>
          <a:p>
            <a:r>
              <a:rPr lang="en-US" dirty="0"/>
              <a:t>S01, S19</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Độ bền, crack/void, rò khí nếu tuyên bố kín, chu kỳ nhiệt và biến dạng.</a:t>
            </a:r>
          </a:p>
          <a:p>
            <a:r>
              <a:rPr lang="en-US" dirty="0"/>
              <a:t>• Cổng quyết định: Đạt cơ/tính kín theo phép thử phù hợp; chỉ mở rộng sau khi A3/E5 đã cho cửa sổ nhiệt.</a:t>
            </a:r>
          </a:p>
          <a:p>
            <a:r>
              <a:rPr lang="en-US" dirty="0"/>
              <a:t>• Giới hạn: Cần xác nhận thêm điều kiện vật liệu, nguồn và phép đo trước khi triển khai.</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S01, S19</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Tách tạm thời device/wafer khỏi carrier sau một số bước chế tạo bằng cách làm suy yếu release layer hoặc giao diện hấp thụ. Hỗ trợ wafer mỏng bằng cách tách device khỏi carrier sau các bước chế tạo.</a:t>
            </a:r>
          </a:p>
          <a:p>
            <a:endParaRPr lang="en-US" dirty="0"/>
          </a:p>
          <a:p>
            <a:r>
              <a:rPr lang="en-US" dirty="0"/>
              <a:t>Nội dung đầy đủ</a:t>
            </a:r>
          </a:p>
          <a:p>
            <a:endParaRPr lang="en-US" dirty="0"/>
          </a:p>
          <a:p>
            <a:r>
              <a:rPr lang="en-US" dirty="0"/>
              <a:t>• Định nghĩa: Tách tạm thời device/wafer khỏi carrier sau một số bước chế tạo bằng cách làm suy yếu release layer hoặc giao diện hấp thụ.</a:t>
            </a:r>
          </a:p>
          <a:p>
            <a:r>
              <a:rPr lang="en-US" dirty="0"/>
              <a:t>• Vì sao cần: Hỗ trợ wafer mỏng bằng cách tách device khỏi carrier sau các bước chế tạo.</a:t>
            </a:r>
          </a:p>
          <a:p>
            <a:r>
              <a:rPr lang="en-US" dirty="0"/>
              <a:t>• Đầu ra phải là chức năng hoặc đại lượng đo được, không chỉ là hiệu ứng nhìn thấy.</a:t>
            </a:r>
          </a:p>
          <a:p>
            <a:endParaRPr lang="en-US" dirty="0"/>
          </a:p>
          <a:p>
            <a:r>
              <a:rPr lang="en-US" dirty="0"/>
              <a:t>Hình và cách trình bày</a:t>
            </a:r>
          </a:p>
          <a:p>
            <a:endParaRPr lang="en-US" dirty="0"/>
          </a:p>
          <a:p>
            <a:r>
              <a:rPr lang="en-US" dirty="0"/>
              <a:t>Sơ đồ vật thể/chức năng; thuật ngữ tiếng Việt và English cùng xuất hiện.</a:t>
            </a:r>
          </a:p>
          <a:p>
            <a:endParaRPr lang="en-US" dirty="0"/>
          </a:p>
          <a:p>
            <a:r>
              <a:rPr lang="en-US" dirty="0"/>
              <a:t>Ranh giới bằng chứng</a:t>
            </a:r>
          </a:p>
          <a:p>
            <a:endParaRPr lang="en-US" dirty="0"/>
          </a:p>
          <a:p>
            <a:r>
              <a:rPr lang="en-US" dirty="0"/>
              <a:t>Giải thích vật thể trước khi nói khả năng phù hợp nguồn.</a:t>
            </a:r>
          </a:p>
          <a:p>
            <a:endParaRPr lang="en-US" dirty="0"/>
          </a:p>
          <a:p>
            <a:r>
              <a:rPr lang="en-US" dirty="0"/>
              <a:t>Citation giữ lại</a:t>
            </a:r>
          </a:p>
          <a:p>
            <a:endParaRPr lang="en-US" dirty="0"/>
          </a:p>
          <a:p>
            <a:r>
              <a:rPr lang="en-US" dirty="0"/>
              <a:t>S20</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Cơ chế đề xuất phải được tách khỏi thông số của tài liệu.</a:t>
            </a:r>
          </a:p>
          <a:p>
            <a:endParaRPr lang="en-US" dirty="0"/>
          </a:p>
          <a:p>
            <a:r>
              <a:rPr lang="en-US" dirty="0"/>
              <a:t>Nội dung đầy đủ</a:t>
            </a:r>
          </a:p>
          <a:p>
            <a:endParaRPr lang="en-US" dirty="0"/>
          </a:p>
          <a:p>
            <a:r>
              <a:rPr lang="en-US" dirty="0"/>
              <a:t>• Cơ chế: Laser hấp thụ ở release layer → nhiệt/phân hủy/liên kết giảm → tách carrier có kiểm soát.</a:t>
            </a:r>
          </a:p>
          <a:p>
            <a:r>
              <a:rPr lang="en-US" dirty="0"/>
              <a:t>• Bằng chứng: S20 hỗ trợ carrier–release–device và lựa chọn UV/IR theo lớp; không phải bài toán tăng watt đơn thuần.</a:t>
            </a:r>
          </a:p>
          <a:p>
            <a:r>
              <a:rPr lang="en-US" dirty="0"/>
              <a:t>• Nêu rõ điều kiện còn thiếu: nguồn, stack, detector, hóa chất, nhiệt độ hoặc môi trường.</a:t>
            </a:r>
          </a:p>
          <a:p>
            <a:endParaRPr lang="en-US" dirty="0"/>
          </a:p>
          <a:p>
            <a:r>
              <a:rPr lang="en-US" dirty="0"/>
              <a:t>Hình và cách trình bày</a:t>
            </a:r>
          </a:p>
          <a:p>
            <a:endParaRPr lang="en-US" dirty="0"/>
          </a:p>
          <a:p>
            <a:r>
              <a:rPr lang="en-US" dirty="0"/>
              <a:t>Sơ đồ cơ chế + thẻ citation; dấu hỏi tại phần chưa xác nhận.</a:t>
            </a:r>
          </a:p>
          <a:p>
            <a:endParaRPr lang="en-US" dirty="0"/>
          </a:p>
          <a:p>
            <a:r>
              <a:rPr lang="en-US" dirty="0"/>
              <a:t>Ranh giới bằng chứng</a:t>
            </a:r>
          </a:p>
          <a:p>
            <a:endParaRPr lang="en-US" dirty="0"/>
          </a:p>
          <a:p>
            <a:r>
              <a:rPr lang="en-US" dirty="0"/>
              <a:t>Không trình bày nguồn như bằng chứng setup hiện tại đã làm được.</a:t>
            </a:r>
          </a:p>
          <a:p>
            <a:endParaRPr lang="en-US" dirty="0"/>
          </a:p>
          <a:p>
            <a:r>
              <a:rPr lang="en-US" dirty="0"/>
              <a:t>Citation giữ lại</a:t>
            </a:r>
          </a:p>
          <a:p>
            <a:endParaRPr lang="en-US" dirty="0"/>
          </a:p>
          <a:p>
            <a:r>
              <a:rPr lang="en-US" dirty="0"/>
              <a:t>S20</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Hình phải giúp người nghe nhìn thấy mẫu, vị trí chiếu và đường đo.</a:t>
            </a:r>
          </a:p>
          <a:p>
            <a:endParaRPr lang="en-US" dirty="0"/>
          </a:p>
          <a:p>
            <a:r>
              <a:rPr lang="en-US" dirty="0"/>
              <a:t>Nội dung đầy đủ</a:t>
            </a:r>
          </a:p>
          <a:p>
            <a:endParaRPr lang="en-US" dirty="0"/>
          </a:p>
          <a:p>
            <a:r>
              <a:rPr lang="en-US" dirty="0"/>
              <a:t>• Mẫu đầu tiên: Stack carrier–release–device đơn giản, có vùng tách và phương án kiểm tra hư hại.</a:t>
            </a:r>
          </a:p>
          <a:p>
            <a:r>
              <a:rPr lang="en-US" dirty="0"/>
              <a:t>• Bố trí: laser/optics, stage/gá, camera/cảm biến và đối chứng.</a:t>
            </a:r>
          </a:p>
          <a:p>
            <a:r>
              <a:rPr lang="en-US" dirty="0"/>
              <a:t>• Chưa có ảnh thật thì dùng sơ đồ concept; không tạo ảnh giả SEM/PL/thermal map.</a:t>
            </a:r>
          </a:p>
          <a:p>
            <a:endParaRPr lang="en-US" dirty="0"/>
          </a:p>
          <a:p>
            <a:r>
              <a:rPr lang="en-US" dirty="0"/>
              <a:t>Hình và cách trình bày</a:t>
            </a:r>
          </a:p>
          <a:p>
            <a:endParaRPr lang="en-US" dirty="0"/>
          </a:p>
          <a:p>
            <a:r>
              <a:rPr lang="en-US" dirty="0"/>
              <a:t>Mặt cắt stack trước/đang/sau debond; chỉ rõ lớp hấp thụ và hướng tách.</a:t>
            </a:r>
          </a:p>
          <a:p>
            <a:endParaRPr lang="en-US" dirty="0"/>
          </a:p>
          <a:p>
            <a:r>
              <a:rPr lang="en-US" dirty="0"/>
              <a:t>Ranh giới bằng chứng</a:t>
            </a:r>
          </a:p>
          <a:p>
            <a:endParaRPr lang="en-US" dirty="0"/>
          </a:p>
          <a:p>
            <a:r>
              <a:rPr lang="en-US" dirty="0"/>
              <a:t>Mẫu và hình chỉ là đề xuất thiết kế nếu chưa chế tạo/đo.</a:t>
            </a:r>
          </a:p>
          <a:p>
            <a:endParaRPr lang="en-US" dirty="0"/>
          </a:p>
          <a:p>
            <a:r>
              <a:rPr lang="en-US" dirty="0"/>
              <a:t>Citation giữ lại</a:t>
            </a:r>
          </a:p>
          <a:p>
            <a:endParaRPr lang="en-US" dirty="0"/>
          </a:p>
          <a:p>
            <a:r>
              <a:rPr lang="en-US" dirty="0"/>
              <a:t>S20</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Lực tách, residue, crack/warpage, ảnh hưởng device và tỷ lệ tách sạch.</a:t>
            </a:r>
          </a:p>
          <a:p>
            <a:r>
              <a:rPr lang="en-US" dirty="0"/>
              <a:t>• Cổng quyết định: Chỉ chọn khi có stack cụ thể và lợi ích rõ hơn phương pháp cơ/hoá đang có.</a:t>
            </a:r>
          </a:p>
          <a:p>
            <a:r>
              <a:rPr lang="en-US" dirty="0"/>
              <a:t>• Giới hạn: Cần xác nhận thêm điều kiện vật liệu, nguồn và phép đo trước khi triển khai.</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S20</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Dùng laser tạo nhiệt hoặc kích thích cục bộ để hỗ trợ lắng đọng hóa học (LACVD) hoặc etch. Tăng tốc hoặc chọn lọc phản ứng lắng đọng/etch tại vùng nhỏ thay vì nung toàn buồng.</a:t>
            </a:r>
          </a:p>
          <a:p>
            <a:endParaRPr lang="en-US" dirty="0"/>
          </a:p>
          <a:p>
            <a:r>
              <a:rPr lang="en-US" dirty="0"/>
              <a:t>Nội dung đầy đủ</a:t>
            </a:r>
          </a:p>
          <a:p>
            <a:endParaRPr lang="en-US" dirty="0"/>
          </a:p>
          <a:p>
            <a:r>
              <a:rPr lang="en-US" dirty="0"/>
              <a:t>• Định nghĩa: Dùng laser tạo nhiệt hoặc kích thích cục bộ để hỗ trợ lắng đọng hóa học (LACVD) hoặc etch.</a:t>
            </a:r>
          </a:p>
          <a:p>
            <a:r>
              <a:rPr lang="en-US" dirty="0"/>
              <a:t>• Vì sao cần: Tăng tốc hoặc chọn lọc phản ứng lắng đọng/etch tại vùng nhỏ thay vì nung toàn buồng.</a:t>
            </a:r>
          </a:p>
          <a:p>
            <a:r>
              <a:rPr lang="en-US" dirty="0"/>
              <a:t>• Đầu ra phải là chức năng hoặc đại lượng đo được, không chỉ là hiệu ứng nhìn thấy.</a:t>
            </a:r>
          </a:p>
          <a:p>
            <a:endParaRPr lang="en-US" dirty="0"/>
          </a:p>
          <a:p>
            <a:r>
              <a:rPr lang="en-US" dirty="0"/>
              <a:t>Hình và cách trình bày</a:t>
            </a:r>
          </a:p>
          <a:p>
            <a:endParaRPr lang="en-US" dirty="0"/>
          </a:p>
          <a:p>
            <a:r>
              <a:rPr lang="en-US" dirty="0"/>
              <a:t>Sơ đồ vật thể/chức năng; thuật ngữ tiếng Việt và English cùng xuất hiện.</a:t>
            </a:r>
          </a:p>
          <a:p>
            <a:endParaRPr lang="en-US" dirty="0"/>
          </a:p>
          <a:p>
            <a:r>
              <a:rPr lang="en-US" dirty="0"/>
              <a:t>Ranh giới bằng chứng</a:t>
            </a:r>
          </a:p>
          <a:p>
            <a:endParaRPr lang="en-US" dirty="0"/>
          </a:p>
          <a:p>
            <a:r>
              <a:rPr lang="en-US" dirty="0"/>
              <a:t>Giải thích vật thể trước khi nói khả năng phù hợp nguồn.</a:t>
            </a:r>
          </a:p>
          <a:p>
            <a:endParaRPr lang="en-US" dirty="0"/>
          </a:p>
          <a:p>
            <a:r>
              <a:rPr lang="en-US" dirty="0"/>
              <a:t>Citation giữ lại</a:t>
            </a:r>
          </a:p>
          <a:p>
            <a:endParaRPr lang="en-US" dirty="0"/>
          </a:p>
          <a:p>
            <a:r>
              <a:rPr lang="en-US" dirty="0"/>
              <a:t>S21</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Cơ chế đề xuất phải được tách khỏi thông số của tài liệu.</a:t>
            </a:r>
          </a:p>
          <a:p>
            <a:endParaRPr lang="en-US" dirty="0"/>
          </a:p>
          <a:p>
            <a:r>
              <a:rPr lang="en-US" dirty="0"/>
              <a:t>Nội dung đầy đủ</a:t>
            </a:r>
          </a:p>
          <a:p>
            <a:endParaRPr lang="en-US" dirty="0"/>
          </a:p>
          <a:p>
            <a:r>
              <a:rPr lang="en-US" dirty="0"/>
              <a:t>• Cơ chế: Laser làm đổi nhiệt độ/tốc độ phản ứng/nồng độ cục bộ → vật liệu lắng đọng hoặc bị loại bỏ có chọn lọc.</a:t>
            </a:r>
          </a:p>
          <a:p>
            <a:r>
              <a:rPr lang="en-US" dirty="0"/>
              <a:t>• Bằng chứng: S21 hỗ trợ các biến thể laser-assisted chemistry; không suy ra quy trình từ một nguồn nhiệt chung.</a:t>
            </a:r>
          </a:p>
          <a:p>
            <a:r>
              <a:rPr lang="en-US" dirty="0"/>
              <a:t>• Nêu rõ điều kiện còn thiếu: nguồn, stack, detector, hóa chất, nhiệt độ hoặc môi trường.</a:t>
            </a:r>
          </a:p>
          <a:p>
            <a:endParaRPr lang="en-US" dirty="0"/>
          </a:p>
          <a:p>
            <a:r>
              <a:rPr lang="en-US" dirty="0"/>
              <a:t>Hình và cách trình bày</a:t>
            </a:r>
          </a:p>
          <a:p>
            <a:endParaRPr lang="en-US" dirty="0"/>
          </a:p>
          <a:p>
            <a:r>
              <a:rPr lang="en-US" dirty="0"/>
              <a:t>Sơ đồ cơ chế + thẻ citation; dấu hỏi tại phần chưa xác nhận.</a:t>
            </a:r>
          </a:p>
          <a:p>
            <a:endParaRPr lang="en-US" dirty="0"/>
          </a:p>
          <a:p>
            <a:r>
              <a:rPr lang="en-US" dirty="0"/>
              <a:t>Ranh giới bằng chứng</a:t>
            </a:r>
          </a:p>
          <a:p>
            <a:endParaRPr lang="en-US" dirty="0"/>
          </a:p>
          <a:p>
            <a:r>
              <a:rPr lang="en-US" dirty="0"/>
              <a:t>Không trình bày nguồn như bằng chứng setup hiện tại đã làm được.</a:t>
            </a:r>
          </a:p>
          <a:p>
            <a:endParaRPr lang="en-US" dirty="0"/>
          </a:p>
          <a:p>
            <a:r>
              <a:rPr lang="en-US" dirty="0"/>
              <a:t>Citation giữ lại</a:t>
            </a:r>
          </a:p>
          <a:p>
            <a:endParaRPr lang="en-US" dirty="0"/>
          </a:p>
          <a:p>
            <a:r>
              <a:rPr lang="en-US" dirty="0"/>
              <a:t>S21</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Hình phải giúp người nghe nhìn thấy mẫu, vị trí chiếu và đường đo.</a:t>
            </a:r>
          </a:p>
          <a:p>
            <a:endParaRPr lang="en-US" dirty="0"/>
          </a:p>
          <a:p>
            <a:r>
              <a:rPr lang="en-US" dirty="0"/>
              <a:t>Nội dung đầy đủ</a:t>
            </a:r>
          </a:p>
          <a:p>
            <a:endParaRPr lang="en-US" dirty="0"/>
          </a:p>
          <a:p>
            <a:r>
              <a:rPr lang="en-US" dirty="0"/>
              <a:t>• Mẫu đầu tiên: Coupon vật liệu, precursor/etch chemistry được kiểm soát và vùng phản ứng có containment.</a:t>
            </a:r>
          </a:p>
          <a:p>
            <a:r>
              <a:rPr lang="en-US" dirty="0"/>
              <a:t>• Bố trí: laser/optics, stage/gá, camera/cảm biến và đối chứng.</a:t>
            </a:r>
          </a:p>
          <a:p>
            <a:r>
              <a:rPr lang="en-US" dirty="0"/>
              <a:t>• Chưa có ảnh thật thì dùng sơ đồ concept; không tạo ảnh giả SEM/PL/thermal map.</a:t>
            </a:r>
          </a:p>
          <a:p>
            <a:endParaRPr lang="en-US" dirty="0"/>
          </a:p>
          <a:p>
            <a:r>
              <a:rPr lang="en-US" dirty="0"/>
              <a:t>Hình và cách trình bày</a:t>
            </a:r>
          </a:p>
          <a:p>
            <a:endParaRPr lang="en-US" dirty="0"/>
          </a:p>
          <a:p>
            <a:r>
              <a:rPr lang="en-US" dirty="0"/>
              <a:t>Dòng khí/chất phản ứng, vùng laser, lớp đang lắng đọng/etch và sản phẩm phụ.</a:t>
            </a:r>
          </a:p>
          <a:p>
            <a:endParaRPr lang="en-US" dirty="0"/>
          </a:p>
          <a:p>
            <a:r>
              <a:rPr lang="en-US" dirty="0"/>
              <a:t>Ranh giới bằng chứng</a:t>
            </a:r>
          </a:p>
          <a:p>
            <a:endParaRPr lang="en-US" dirty="0"/>
          </a:p>
          <a:p>
            <a:r>
              <a:rPr lang="en-US" dirty="0"/>
              <a:t>Mẫu và hình chỉ là đề xuất thiết kế nếu chưa chế tạo/đo.</a:t>
            </a:r>
          </a:p>
          <a:p>
            <a:endParaRPr lang="en-US" dirty="0"/>
          </a:p>
          <a:p>
            <a:r>
              <a:rPr lang="en-US" dirty="0"/>
              <a:t>Citation giữ lại</a:t>
            </a:r>
          </a:p>
          <a:p>
            <a:endParaRPr lang="en-US" dirty="0"/>
          </a:p>
          <a:p>
            <a:r>
              <a:rPr lang="en-US" dirty="0"/>
              <a:t>S21</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Tốc độ, selectivity, profile, roughness, residue và an toàn hóa chất.</a:t>
            </a:r>
          </a:p>
          <a:p>
            <a:r>
              <a:rPr lang="en-US" dirty="0"/>
              <a:t>• Cổng quyết định: Chỉ chạy khi có quy trình hóa học, containment và phép đo sản phẩm; không chỉ chứng minh có đổi màu.</a:t>
            </a:r>
          </a:p>
          <a:p>
            <a:r>
              <a:rPr lang="en-US" dirty="0"/>
              <a:t>• Giới hạn: Cần xác nhận thêm điều kiện vật liệu, nguồn và phép đo trước khi triển khai.</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S21</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Điều chỉnh trạng thái oxy hóa, khuyết tật hoặc tính điện/quang của oxide bằng xử lý quang–nhiệt. Điều chỉnh tính điện/quang cục bộ của oxide và khảo sát vai trò khuyết tật.</a:t>
            </a:r>
          </a:p>
          <a:p>
            <a:endParaRPr lang="en-US" dirty="0"/>
          </a:p>
          <a:p>
            <a:r>
              <a:rPr lang="en-US" dirty="0"/>
              <a:t>Nội dung đầy đủ</a:t>
            </a:r>
          </a:p>
          <a:p>
            <a:endParaRPr lang="en-US" dirty="0"/>
          </a:p>
          <a:p>
            <a:r>
              <a:rPr lang="en-US" dirty="0"/>
              <a:t>• Định nghĩa: Điều chỉnh trạng thái oxy hóa, khuyết tật hoặc tính điện/quang của oxide bằng xử lý quang–nhiệt.</a:t>
            </a:r>
          </a:p>
          <a:p>
            <a:r>
              <a:rPr lang="en-US" dirty="0"/>
              <a:t>• Vì sao cần: Điều chỉnh tính điện/quang cục bộ của oxide và khảo sát vai trò khuyết tật.</a:t>
            </a:r>
          </a:p>
          <a:p>
            <a:r>
              <a:rPr lang="en-US" dirty="0"/>
              <a:t>• Đầu ra phải là chức năng hoặc đại lượng đo được, không chỉ là hiệu ứng nhìn thấy.</a:t>
            </a:r>
          </a:p>
          <a:p>
            <a:endParaRPr lang="en-US" dirty="0"/>
          </a:p>
          <a:p>
            <a:r>
              <a:rPr lang="en-US" dirty="0"/>
              <a:t>Hình và cách trình bày</a:t>
            </a:r>
          </a:p>
          <a:p>
            <a:endParaRPr lang="en-US" dirty="0"/>
          </a:p>
          <a:p>
            <a:r>
              <a:rPr lang="en-US" dirty="0"/>
              <a:t>Sơ đồ vật thể/chức năng; thuật ngữ tiếng Việt và English cùng xuất hiện.</a:t>
            </a:r>
          </a:p>
          <a:p>
            <a:endParaRPr lang="en-US" dirty="0"/>
          </a:p>
          <a:p>
            <a:r>
              <a:rPr lang="en-US" dirty="0"/>
              <a:t>Ranh giới bằng chứng</a:t>
            </a:r>
          </a:p>
          <a:p>
            <a:endParaRPr lang="en-US" dirty="0"/>
          </a:p>
          <a:p>
            <a:r>
              <a:rPr lang="en-US" dirty="0"/>
              <a:t>Giải thích vật thể trước khi nói khả năng phù hợp nguồn.</a:t>
            </a:r>
          </a:p>
          <a:p>
            <a:endParaRPr lang="en-US" dirty="0"/>
          </a:p>
          <a:p>
            <a:r>
              <a:rPr lang="en-US" dirty="0"/>
              <a:t>Citation giữ lại</a:t>
            </a:r>
          </a:p>
          <a:p>
            <a:endParaRPr lang="en-US" dirty="0"/>
          </a:p>
          <a:p>
            <a:r>
              <a:rPr lang="en-US" dirty="0"/>
              <a:t>S22, S33</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Cơ chế đề xuất phải được tách khỏi thông số của tài liệu.</a:t>
            </a:r>
          </a:p>
          <a:p>
            <a:endParaRPr lang="en-US" dirty="0"/>
          </a:p>
          <a:p>
            <a:r>
              <a:rPr lang="en-US" dirty="0"/>
              <a:t>Nội dung đầy đủ</a:t>
            </a:r>
          </a:p>
          <a:p>
            <a:endParaRPr lang="en-US" dirty="0"/>
          </a:p>
          <a:p>
            <a:r>
              <a:rPr lang="en-US" dirty="0"/>
              <a:t>• Cơ chế: Hấp thụ/nhiệt → thay đổi vacancy, trạng thái hóa trị hoặc cấu trúc → đáp ứng điện/quang thay đổi.</a:t>
            </a:r>
          </a:p>
          <a:p>
            <a:r>
              <a:rPr lang="en-US" dirty="0"/>
              <a:t>• Bằng chứng: S22/S33 hỗ trợ các hướng oxide/màng và phép đo; NIR không tự tương đương UV nếu phổ hấp thụ khác.</a:t>
            </a:r>
          </a:p>
          <a:p>
            <a:r>
              <a:rPr lang="en-US" dirty="0"/>
              <a:t>• Nêu rõ điều kiện còn thiếu: nguồn, stack, detector, hóa chất, nhiệt độ hoặc môi trường.</a:t>
            </a:r>
          </a:p>
          <a:p>
            <a:endParaRPr lang="en-US" dirty="0"/>
          </a:p>
          <a:p>
            <a:r>
              <a:rPr lang="en-US" dirty="0"/>
              <a:t>Hình và cách trình bày</a:t>
            </a:r>
          </a:p>
          <a:p>
            <a:endParaRPr lang="en-US" dirty="0"/>
          </a:p>
          <a:p>
            <a:r>
              <a:rPr lang="en-US" dirty="0"/>
              <a:t>Sơ đồ cơ chế + thẻ citation; dấu hỏi tại phần chưa xác nhận.</a:t>
            </a:r>
          </a:p>
          <a:p>
            <a:endParaRPr lang="en-US" dirty="0"/>
          </a:p>
          <a:p>
            <a:r>
              <a:rPr lang="en-US" dirty="0"/>
              <a:t>Ranh giới bằng chứng</a:t>
            </a:r>
          </a:p>
          <a:p>
            <a:endParaRPr lang="en-US" dirty="0"/>
          </a:p>
          <a:p>
            <a:r>
              <a:rPr lang="en-US" dirty="0"/>
              <a:t>Không trình bày nguồn như bằng chứng setup hiện tại đã làm được.</a:t>
            </a:r>
          </a:p>
          <a:p>
            <a:endParaRPr lang="en-US" dirty="0"/>
          </a:p>
          <a:p>
            <a:r>
              <a:rPr lang="en-US" dirty="0"/>
              <a:t>Citation giữ lại</a:t>
            </a:r>
          </a:p>
          <a:p>
            <a:endParaRPr lang="en-US" dirty="0"/>
          </a:p>
          <a:p>
            <a:r>
              <a:rPr lang="en-US" dirty="0"/>
              <a:t>S22, S33</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Hình phải giúp người nghe nhìn thấy mẫu, vị trí chiếu và đường đo.</a:t>
            </a:r>
          </a:p>
          <a:p>
            <a:endParaRPr lang="en-US" dirty="0"/>
          </a:p>
          <a:p>
            <a:r>
              <a:rPr lang="en-US" dirty="0"/>
              <a:t>Nội dung đầy đủ</a:t>
            </a:r>
          </a:p>
          <a:p>
            <a:endParaRPr lang="en-US" dirty="0"/>
          </a:p>
          <a:p>
            <a:r>
              <a:rPr lang="en-US" dirty="0"/>
              <a:t>• Mẫu đầu tiên: Màng oxide trên nền, vùng laser và điện cực; phải có mẫu chưa xử lý/ủ nhiệt.</a:t>
            </a:r>
          </a:p>
          <a:p>
            <a:r>
              <a:rPr lang="en-US" dirty="0"/>
              <a:t>• Bố trí: laser/optics, stage/gá, camera/cảm biến và đối chứng.</a:t>
            </a:r>
          </a:p>
          <a:p>
            <a:r>
              <a:rPr lang="en-US" dirty="0"/>
              <a:t>• Chưa có ảnh thật thì dùng sơ đồ concept; không tạo ảnh giả SEM/PL/thermal map.</a:t>
            </a:r>
          </a:p>
          <a:p>
            <a:endParaRPr lang="en-US" dirty="0"/>
          </a:p>
          <a:p>
            <a:r>
              <a:rPr lang="en-US" dirty="0"/>
              <a:t>Hình và cách trình bày</a:t>
            </a:r>
          </a:p>
          <a:p>
            <a:endParaRPr lang="en-US" dirty="0"/>
          </a:p>
          <a:p>
            <a:r>
              <a:rPr lang="en-US" dirty="0"/>
              <a:t>Mặt cắt oxide, khuyết tật trước/sau và đường đo điện/quang.</a:t>
            </a:r>
          </a:p>
          <a:p>
            <a:endParaRPr lang="en-US" dirty="0"/>
          </a:p>
          <a:p>
            <a:r>
              <a:rPr lang="en-US" dirty="0"/>
              <a:t>Ranh giới bằng chứng</a:t>
            </a:r>
          </a:p>
          <a:p>
            <a:endParaRPr lang="en-US" dirty="0"/>
          </a:p>
          <a:p>
            <a:r>
              <a:rPr lang="en-US" dirty="0"/>
              <a:t>Mẫu và hình chỉ là đề xuất thiết kế nếu chưa chế tạo/đo.</a:t>
            </a:r>
          </a:p>
          <a:p>
            <a:endParaRPr lang="en-US" dirty="0"/>
          </a:p>
          <a:p>
            <a:r>
              <a:rPr lang="en-US" dirty="0"/>
              <a:t>Citation giữ lại</a:t>
            </a:r>
          </a:p>
          <a:p>
            <a:endParaRPr lang="en-US" dirty="0"/>
          </a:p>
          <a:p>
            <a:r>
              <a:rPr lang="en-US" dirty="0"/>
              <a:t>S22, S33</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Chỉ tiếp tục khi tín hiệu/chức năng tách được khỏi artefact và lặp lại.</a:t>
            </a:r>
          </a:p>
          <a:p>
            <a:endParaRPr lang="en-US" dirty="0"/>
          </a:p>
          <a:p>
            <a:r>
              <a:rPr lang="en-US" dirty="0"/>
              <a:t>Nội dung đầy đủ</a:t>
            </a:r>
          </a:p>
          <a:p>
            <a:endParaRPr lang="en-US" dirty="0"/>
          </a:p>
          <a:p>
            <a:r>
              <a:rPr lang="en-US" dirty="0"/>
              <a:t>• Đại lượng cần đo: R/Rs, TCR, hysteresis, drift, Raman/XPS/FTIR nếu có; tách hiệu ứng ẩm/tiếp xúc.</a:t>
            </a:r>
          </a:p>
          <a:p>
            <a:r>
              <a:rPr lang="en-US" dirty="0"/>
              <a:t>• Cổng quyết định: Chỉ chọn khi có năng lực vật liệu và phép đo hóa học/pha độc lập; giữ nhãn khám phá.</a:t>
            </a:r>
          </a:p>
          <a:p>
            <a:r>
              <a:rPr lang="en-US" dirty="0"/>
              <a:t>• Giới hạn: Cần xác nhận thêm điều kiện vật liệu, nguồn và phép đo trước khi triển khai.</a:t>
            </a:r>
          </a:p>
          <a:p>
            <a:endParaRPr lang="en-US" dirty="0"/>
          </a:p>
          <a:p>
            <a:r>
              <a:rPr lang="en-US" dirty="0"/>
              <a:t>Hình và cách trình bày</a:t>
            </a:r>
          </a:p>
          <a:p>
            <a:endParaRPr lang="en-US" dirty="0"/>
          </a:p>
          <a:p>
            <a:r>
              <a:rPr lang="en-US" dirty="0"/>
              <a:t>Cây quyết định tiếp tục/sửa thiết kế/dừng; đối chứng đặt cạnh đầu ra chính.</a:t>
            </a:r>
          </a:p>
          <a:p>
            <a:endParaRPr lang="en-US" dirty="0"/>
          </a:p>
          <a:p>
            <a:r>
              <a:rPr lang="en-US" dirty="0"/>
              <a:t>Ranh giới bằng chứng</a:t>
            </a:r>
          </a:p>
          <a:p>
            <a:endParaRPr lang="en-US" dirty="0"/>
          </a:p>
          <a:p>
            <a:r>
              <a:rPr lang="en-US" dirty="0"/>
              <a:t>Không tự đặt ngưỡng số nếu chưa có yêu cầu mẫu/thiết bị.</a:t>
            </a:r>
          </a:p>
          <a:p>
            <a:endParaRPr lang="en-US" dirty="0"/>
          </a:p>
          <a:p>
            <a:r>
              <a:rPr lang="en-US" dirty="0"/>
              <a:t>Citation giữ lại</a:t>
            </a:r>
          </a:p>
          <a:p>
            <a:endParaRPr lang="en-US" dirty="0"/>
          </a:p>
          <a:p>
            <a:r>
              <a:rPr lang="en-US" dirty="0"/>
              <a:t>S22, S33</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Dùng bức xạ truyền qua silicon để quan sát void, giao diện hoặc defect mà không phá mẫu. Quan sát void/giao diện kín xuyên Si mà không phá mẫu, nếu phổ và detector phù hợp.</a:t>
            </a:r>
          </a:p>
          <a:p>
            <a:endParaRPr lang="en-US" dirty="0"/>
          </a:p>
          <a:p>
            <a:r>
              <a:rPr lang="en-US" dirty="0"/>
              <a:t>Nội dung đầy đủ</a:t>
            </a:r>
          </a:p>
          <a:p>
            <a:endParaRPr lang="en-US" dirty="0"/>
          </a:p>
          <a:p>
            <a:r>
              <a:rPr lang="en-US" dirty="0"/>
              <a:t>• Cơ chế: Truyền qua/phản xạ phụ thuộc bước sóng, độ dày và stack; detector biến contrast thành ảnh.</a:t>
            </a:r>
          </a:p>
          <a:p>
            <a:r>
              <a:rPr lang="en-US" dirty="0"/>
              <a:t>• Bằng chứng: S26/S27 hỗ trợ dữ liệu quang Si và các kịch bản microscopy; độ phù hợp không thể suy từ việc nguồn là NIR.</a:t>
            </a:r>
          </a:p>
          <a:p>
            <a:r>
              <a:rPr lang="en-US" dirty="0"/>
              <a:t>• Mức phù hợp hiện tại: phụ thuộc phổ; đây là xếp hạng tương đối.</a:t>
            </a:r>
          </a:p>
          <a:p>
            <a:endParaRPr lang="en-US" dirty="0"/>
          </a:p>
          <a:p>
            <a:r>
              <a:rPr lang="en-US" dirty="0"/>
              <a:t>Hình và cách trình bày</a:t>
            </a:r>
          </a:p>
          <a:p>
            <a:endParaRPr lang="en-US" dirty="0"/>
          </a:p>
          <a:p>
            <a:r>
              <a:rPr lang="en-US" dirty="0"/>
              <a:t>Sơ đồ concept đơn giản và thẻ điều kiện còn thiếu.</a:t>
            </a:r>
          </a:p>
          <a:p>
            <a:endParaRPr lang="en-US" dirty="0"/>
          </a:p>
          <a:p>
            <a:r>
              <a:rPr lang="en-US" dirty="0"/>
              <a:t>Ranh giới bằng chứng</a:t>
            </a:r>
          </a:p>
          <a:p>
            <a:endParaRPr lang="en-US" dirty="0"/>
          </a:p>
          <a:p>
            <a:r>
              <a:rPr lang="en-US" dirty="0"/>
              <a:t>Hướng ít phù hợp vẫn được mô tả để hội đồng thấy lý do xếp hạng.</a:t>
            </a:r>
          </a:p>
          <a:p>
            <a:endParaRPr lang="en-US" dirty="0"/>
          </a:p>
          <a:p>
            <a:r>
              <a:rPr lang="en-US" dirty="0"/>
              <a:t>Citation giữ lại</a:t>
            </a:r>
          </a:p>
          <a:p>
            <a:endParaRPr lang="en-US" dirty="0"/>
          </a:p>
          <a:p>
            <a:r>
              <a:rPr lang="en-US" dirty="0"/>
              <a:t>S26, S27</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có mẫu và phép đo thì chưa có cách kiểm chứng cơ chế.</a:t>
            </a:r>
          </a:p>
          <a:p>
            <a:endParaRPr lang="en-US" dirty="0"/>
          </a:p>
          <a:p>
            <a:r>
              <a:rPr lang="en-US" dirty="0"/>
              <a:t>Nội dung đầy đủ</a:t>
            </a:r>
          </a:p>
          <a:p>
            <a:endParaRPr lang="en-US" dirty="0"/>
          </a:p>
          <a:p>
            <a:r>
              <a:rPr lang="en-US" dirty="0"/>
              <a:t>• Mẫu: Stack Si có void/bonding defect chuẩn và vùng reference trong suốt tương đối.</a:t>
            </a:r>
          </a:p>
          <a:p>
            <a:r>
              <a:rPr lang="en-US" dirty="0"/>
              <a:t>• Đo: Contrast, SNR, độ sâu nhìn, độ lặp lại và ground truth từ mặt cắt.</a:t>
            </a:r>
          </a:p>
          <a:p>
            <a:r>
              <a:rPr lang="en-US" dirty="0"/>
              <a:t>• Ghi rõ nguồn/thiết bị cần bổ sung; không ghi là phần cứng hiện có.</a:t>
            </a:r>
          </a:p>
          <a:p>
            <a:endParaRPr lang="en-US" dirty="0"/>
          </a:p>
          <a:p>
            <a:r>
              <a:rPr lang="en-US" dirty="0"/>
              <a:t>Hình và cách trình bày</a:t>
            </a:r>
          </a:p>
          <a:p>
            <a:endParaRPr lang="en-US" dirty="0"/>
          </a:p>
          <a:p>
            <a:r>
              <a:rPr lang="en-US" dirty="0"/>
              <a:t>Đường truyền qua Si, void và detector; sơ đồ phổ–độ dày.</a:t>
            </a:r>
          </a:p>
          <a:p>
            <a:endParaRPr lang="en-US" dirty="0"/>
          </a:p>
          <a:p>
            <a:r>
              <a:rPr lang="en-US" dirty="0"/>
              <a:t>Ranh giới bằng chứng</a:t>
            </a:r>
          </a:p>
          <a:p>
            <a:endParaRPr lang="en-US" dirty="0"/>
          </a:p>
          <a:p>
            <a:r>
              <a:rPr lang="en-US" dirty="0"/>
              <a:t>Sơ đồ concept, không phải ảnh dữ liệu; giữ ground truth/đối chứng trong kế hoạch.</a:t>
            </a:r>
          </a:p>
          <a:p>
            <a:endParaRPr lang="en-US" dirty="0"/>
          </a:p>
          <a:p>
            <a:r>
              <a:rPr lang="en-US" dirty="0"/>
              <a:t>Citation giữ lại</a:t>
            </a:r>
          </a:p>
          <a:p>
            <a:endParaRPr lang="en-US" dirty="0"/>
          </a:p>
          <a:p>
            <a:r>
              <a:rPr lang="en-US" dirty="0"/>
              <a:t>S26, S27</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hướng chỉ được nâng hạng khi điều kiện còn thiếu được kiểm chứng.</a:t>
            </a:r>
          </a:p>
          <a:p>
            <a:endParaRPr lang="en-US" dirty="0"/>
          </a:p>
          <a:p>
            <a:r>
              <a:rPr lang="en-US" dirty="0"/>
              <a:t>Nội dung đầy đủ</a:t>
            </a:r>
          </a:p>
          <a:p>
            <a:endParaRPr lang="en-US" dirty="0"/>
          </a:p>
          <a:p>
            <a:r>
              <a:rPr lang="el-GR" dirty="0"/>
              <a:t>• Cổng: Chỉ chốt sau khi kiểm tra toàn stack: λ–độ dày–detector.</a:t>
            </a:r>
          </a:p>
          <a:p>
            <a:r>
              <a:rPr lang="en-US" dirty="0"/>
              <a:t>• Giới hạn: Cần xác nhận thêm điều kiện vật liệu, nguồn và phép đo trước khi triển khai.</a:t>
            </a:r>
          </a:p>
          <a:p>
            <a:r>
              <a:rPr lang="en-US" dirty="0"/>
              <a:t>• Nếu chưa phù hợp, giữ ở nhánh khám phá/đối tác thay vì hứa triển khai ngay.</a:t>
            </a:r>
          </a:p>
          <a:p>
            <a:endParaRPr lang="en-US" dirty="0"/>
          </a:p>
          <a:p>
            <a:r>
              <a:rPr lang="en-US" dirty="0"/>
              <a:t>Hình và cách trình bày</a:t>
            </a:r>
          </a:p>
          <a:p>
            <a:endParaRPr lang="en-US" dirty="0"/>
          </a:p>
          <a:p>
            <a:r>
              <a:rPr lang="en-US" dirty="0"/>
              <a:t>Bảng điều kiện nâng hạng / điều kiện dừng / phép đo cần bổ sung.</a:t>
            </a:r>
          </a:p>
          <a:p>
            <a:endParaRPr lang="en-US" dirty="0"/>
          </a:p>
          <a:p>
            <a:r>
              <a:rPr lang="en-US" dirty="0"/>
              <a:t>Ranh giới bằng chứng</a:t>
            </a:r>
          </a:p>
          <a:p>
            <a:endParaRPr lang="en-US" dirty="0"/>
          </a:p>
          <a:p>
            <a:r>
              <a:rPr lang="en-US" dirty="0"/>
              <a:t>Không gọi hướng này là không thể; chỉ nói chưa phù hợp với setup/nguồn hiện tại.</a:t>
            </a:r>
          </a:p>
          <a:p>
            <a:endParaRPr lang="en-US" dirty="0"/>
          </a:p>
          <a:p>
            <a:r>
              <a:rPr lang="en-US" dirty="0"/>
              <a:t>Citation giữ lại</a:t>
            </a:r>
          </a:p>
          <a:p>
            <a:endParaRPr lang="en-US" dirty="0"/>
          </a:p>
          <a:p>
            <a:r>
              <a:rPr lang="en-US" dirty="0"/>
              <a:t>S26, S27</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Dùng mark/contrast qua stack để căn chỉnh hai mặt hoặc chồng lớp (overlay) trong chế tạo. Căn chỉnh hai mặt, cavity hoặc các lớp chồng nhau khi xử lý hai mặt thực sự cần.</a:t>
            </a:r>
          </a:p>
          <a:p>
            <a:endParaRPr lang="en-US" dirty="0"/>
          </a:p>
          <a:p>
            <a:r>
              <a:rPr lang="en-US" dirty="0"/>
              <a:t>Nội dung đầy đủ</a:t>
            </a:r>
          </a:p>
          <a:p>
            <a:endParaRPr lang="en-US" dirty="0"/>
          </a:p>
          <a:p>
            <a:r>
              <a:rPr lang="en-US" dirty="0"/>
              <a:t>• Cơ chế: Tín hiệu mark truyền/phản xạ qua stack → camera/sensor xác định vị trí → stage dịch chuyển theo hiệu chuẩn.</a:t>
            </a:r>
          </a:p>
          <a:p>
            <a:r>
              <a:rPr lang="en-US" dirty="0"/>
              <a:t>• Bằng chứng: S26–S28 hỗ trợ truyền qua, hình học và đo vị trí; stage 10 µm là năng lực định vị nền, không phải cam kết overlay nhỏ hơn.</a:t>
            </a:r>
          </a:p>
          <a:p>
            <a:r>
              <a:rPr lang="en-US" dirty="0"/>
              <a:t>• Mức phù hợp hiện tại: phụ thuộc phổ; đây là xếp hạng tương đối.</a:t>
            </a:r>
          </a:p>
          <a:p>
            <a:endParaRPr lang="en-US" dirty="0"/>
          </a:p>
          <a:p>
            <a:r>
              <a:rPr lang="en-US" dirty="0"/>
              <a:t>Hình và cách trình bày</a:t>
            </a:r>
          </a:p>
          <a:p>
            <a:endParaRPr lang="en-US" dirty="0"/>
          </a:p>
          <a:p>
            <a:r>
              <a:rPr lang="en-US" dirty="0"/>
              <a:t>Sơ đồ concept đơn giản và thẻ điều kiện còn thiếu.</a:t>
            </a:r>
          </a:p>
          <a:p>
            <a:endParaRPr lang="en-US" dirty="0"/>
          </a:p>
          <a:p>
            <a:r>
              <a:rPr lang="en-US" dirty="0"/>
              <a:t>Ranh giới bằng chứng</a:t>
            </a:r>
          </a:p>
          <a:p>
            <a:endParaRPr lang="en-US" dirty="0"/>
          </a:p>
          <a:p>
            <a:r>
              <a:rPr lang="en-US" dirty="0"/>
              <a:t>Hướng ít phù hợp vẫn được mô tả để hội đồng thấy lý do xếp hạng.</a:t>
            </a:r>
          </a:p>
          <a:p>
            <a:endParaRPr lang="en-US" dirty="0"/>
          </a:p>
          <a:p>
            <a:r>
              <a:rPr lang="en-US" dirty="0"/>
              <a:t>Citation giữ lại</a:t>
            </a:r>
          </a:p>
          <a:p>
            <a:endParaRPr lang="en-US" dirty="0"/>
          </a:p>
          <a:p>
            <a:r>
              <a:rPr lang="en-US" dirty="0"/>
              <a:t>S26, S27, S28</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có mẫu và phép đo thì chưa có cách kiểm chứng cơ chế.</a:t>
            </a:r>
          </a:p>
          <a:p>
            <a:endParaRPr lang="en-US" dirty="0"/>
          </a:p>
          <a:p>
            <a:r>
              <a:rPr lang="en-US" dirty="0"/>
              <a:t>Nội dung đầy đủ</a:t>
            </a:r>
          </a:p>
          <a:p>
            <a:endParaRPr lang="en-US" dirty="0"/>
          </a:p>
          <a:p>
            <a:r>
              <a:rPr lang="en-US" dirty="0"/>
              <a:t>• Mẫu: Mẫu hai mặt có mark, độ nghiêng và stack đại diện; cần chuẩn overlay độc lập.</a:t>
            </a:r>
          </a:p>
          <a:p>
            <a:r>
              <a:rPr lang="en-US" dirty="0"/>
              <a:t>• Đo: Độ lệch overlay, repeatability, contrast, ảnh hưởng nghiêng và drift.</a:t>
            </a:r>
          </a:p>
          <a:p>
            <a:r>
              <a:rPr lang="en-US" dirty="0"/>
              <a:t>• Ghi rõ nguồn/thiết bị cần bổ sung; không ghi là phần cứng hiện có.</a:t>
            </a:r>
          </a:p>
          <a:p>
            <a:endParaRPr lang="en-US" dirty="0"/>
          </a:p>
          <a:p>
            <a:r>
              <a:rPr lang="en-US" dirty="0"/>
              <a:t>Hình và cách trình bày</a:t>
            </a:r>
          </a:p>
          <a:p>
            <a:endParaRPr lang="en-US" dirty="0"/>
          </a:p>
          <a:p>
            <a:r>
              <a:rPr lang="en-US" dirty="0"/>
              <a:t>Mặt trước/mặt sau, mark, tia qua wafer và vector dịch chuyển.</a:t>
            </a:r>
          </a:p>
          <a:p>
            <a:endParaRPr lang="en-US" dirty="0"/>
          </a:p>
          <a:p>
            <a:r>
              <a:rPr lang="en-US" dirty="0"/>
              <a:t>Ranh giới bằng chứng</a:t>
            </a:r>
          </a:p>
          <a:p>
            <a:endParaRPr lang="en-US" dirty="0"/>
          </a:p>
          <a:p>
            <a:r>
              <a:rPr lang="en-US" dirty="0"/>
              <a:t>Sơ đồ concept, không phải ảnh dữ liệu; giữ ground truth/đối chứng trong kế hoạch.</a:t>
            </a:r>
          </a:p>
          <a:p>
            <a:endParaRPr lang="en-US" dirty="0"/>
          </a:p>
          <a:p>
            <a:r>
              <a:rPr lang="en-US" dirty="0"/>
              <a:t>Citation giữ lại</a:t>
            </a:r>
          </a:p>
          <a:p>
            <a:endParaRPr lang="en-US" dirty="0"/>
          </a:p>
          <a:p>
            <a:r>
              <a:rPr lang="en-US" dirty="0"/>
              <a:t>S26, S27, S28</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hướng chỉ được nâng hạng khi điều kiện còn thiếu được kiểm chứng.</a:t>
            </a:r>
          </a:p>
          <a:p>
            <a:endParaRPr lang="en-US" dirty="0"/>
          </a:p>
          <a:p>
            <a:r>
              <a:rPr lang="en-US" dirty="0"/>
              <a:t>Nội dung đầy đủ</a:t>
            </a:r>
          </a:p>
          <a:p>
            <a:endParaRPr lang="en-US" dirty="0"/>
          </a:p>
          <a:p>
            <a:r>
              <a:rPr lang="en-US" dirty="0"/>
              <a:t>• Cổng: Chỉ giữ nếu xử lý hai mặt thật sự cần và có mark/stack cho phép đo.</a:t>
            </a:r>
          </a:p>
          <a:p>
            <a:r>
              <a:rPr lang="en-US" dirty="0"/>
              <a:t>• Giới hạn: Cần xác nhận thêm điều kiện vật liệu, nguồn và phép đo trước khi triển khai.</a:t>
            </a:r>
          </a:p>
          <a:p>
            <a:r>
              <a:rPr lang="en-US" dirty="0"/>
              <a:t>• Nếu chưa phù hợp, giữ ở nhánh khám phá/đối tác thay vì hứa triển khai ngay.</a:t>
            </a:r>
          </a:p>
          <a:p>
            <a:endParaRPr lang="en-US" dirty="0"/>
          </a:p>
          <a:p>
            <a:r>
              <a:rPr lang="en-US" dirty="0"/>
              <a:t>Hình và cách trình bày</a:t>
            </a:r>
          </a:p>
          <a:p>
            <a:endParaRPr lang="en-US" dirty="0"/>
          </a:p>
          <a:p>
            <a:r>
              <a:rPr lang="en-US" dirty="0"/>
              <a:t>Bảng điều kiện nâng hạng / điều kiện dừng / phép đo cần bổ sung.</a:t>
            </a:r>
          </a:p>
          <a:p>
            <a:endParaRPr lang="en-US" dirty="0"/>
          </a:p>
          <a:p>
            <a:r>
              <a:rPr lang="en-US" dirty="0"/>
              <a:t>Ranh giới bằng chứng</a:t>
            </a:r>
          </a:p>
          <a:p>
            <a:endParaRPr lang="en-US" dirty="0"/>
          </a:p>
          <a:p>
            <a:r>
              <a:rPr lang="en-US" dirty="0"/>
              <a:t>Không gọi hướng này là không thể; chỉ nói chưa phù hợp với setup/nguồn hiện tại.</a:t>
            </a:r>
          </a:p>
          <a:p>
            <a:endParaRPr lang="en-US" dirty="0"/>
          </a:p>
          <a:p>
            <a:r>
              <a:rPr lang="en-US" dirty="0"/>
              <a:t>Citation giữ lại</a:t>
            </a:r>
          </a:p>
          <a:p>
            <a:endParaRPr lang="en-US" dirty="0"/>
          </a:p>
          <a:p>
            <a:r>
              <a:rPr lang="en-US" dirty="0"/>
              <a:t>S26, S27, S28</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Loại vật liệu, mở lớp, khoan, cắt hoặc chỉnh thông số bằng tác động laser. Tạo rãnh, mở lớp, khoan hoặc trimming không tiếp xúc khi nhu cầu là gia công thô.</a:t>
            </a:r>
          </a:p>
          <a:p>
            <a:endParaRPr lang="en-US" dirty="0"/>
          </a:p>
          <a:p>
            <a:r>
              <a:rPr lang="en-US" dirty="0"/>
              <a:t>Nội dung đầy đủ</a:t>
            </a:r>
          </a:p>
          <a:p>
            <a:endParaRPr lang="en-US" dirty="0"/>
          </a:p>
          <a:p>
            <a:r>
              <a:rPr lang="en-US" dirty="0"/>
              <a:t>• Cơ chế: Năng lượng vượt ngưỡng gây nóng chảy/bốc hơi/phá huỷ; chất lượng phụ thuộc pulse thật, heat affected zone và debris.</a:t>
            </a:r>
          </a:p>
          <a:p>
            <a:r>
              <a:rPr lang="en-US" dirty="0"/>
              <a:t>• Bằng chứng: S23/S32 hỗ trợ phân biệt gia công nhiệt và chất lượng beam; không hứa thay UV/femtosecond cho feature tinh.</a:t>
            </a:r>
          </a:p>
          <a:p>
            <a:r>
              <a:rPr lang="en-US" dirty="0"/>
              <a:t>• Mức phù hợp hiện tại: ít phù hợp cho gia công tinh; đây là xếp hạng tương đối.</a:t>
            </a:r>
          </a:p>
          <a:p>
            <a:endParaRPr lang="en-US" dirty="0"/>
          </a:p>
          <a:p>
            <a:r>
              <a:rPr lang="en-US" dirty="0"/>
              <a:t>Hình và cách trình bày</a:t>
            </a:r>
          </a:p>
          <a:p>
            <a:endParaRPr lang="en-US" dirty="0"/>
          </a:p>
          <a:p>
            <a:r>
              <a:rPr lang="en-US" dirty="0"/>
              <a:t>Sơ đồ concept đơn giản và thẻ điều kiện còn thiếu.</a:t>
            </a:r>
          </a:p>
          <a:p>
            <a:endParaRPr lang="en-US" dirty="0"/>
          </a:p>
          <a:p>
            <a:r>
              <a:rPr lang="en-US" dirty="0"/>
              <a:t>Ranh giới bằng chứng</a:t>
            </a:r>
          </a:p>
          <a:p>
            <a:endParaRPr lang="en-US" dirty="0"/>
          </a:p>
          <a:p>
            <a:r>
              <a:rPr lang="en-US" dirty="0"/>
              <a:t>Hướng ít phù hợp vẫn được mô tả để hội đồng thấy lý do xếp hạng.</a:t>
            </a:r>
          </a:p>
          <a:p>
            <a:endParaRPr lang="en-US" dirty="0"/>
          </a:p>
          <a:p>
            <a:r>
              <a:rPr lang="en-US" dirty="0"/>
              <a:t>Citation giữ lại</a:t>
            </a:r>
          </a:p>
          <a:p>
            <a:endParaRPr lang="en-US" dirty="0"/>
          </a:p>
          <a:p>
            <a:r>
              <a:rPr lang="en-US" dirty="0"/>
              <a:t>S23,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có mẫu và phép đo thì chưa có cách kiểm chứng cơ chế.</a:t>
            </a:r>
          </a:p>
          <a:p>
            <a:endParaRPr lang="en-US" dirty="0"/>
          </a:p>
          <a:p>
            <a:r>
              <a:rPr lang="en-US" dirty="0"/>
              <a:t>Nội dung đầy đủ</a:t>
            </a:r>
          </a:p>
          <a:p>
            <a:endParaRPr lang="en-US" dirty="0"/>
          </a:p>
          <a:p>
            <a:r>
              <a:rPr lang="en-US" dirty="0"/>
              <a:t>• Mẫu: Coupon cùng vật liệu với đường cắt/rãnh và vùng không xử lý; có containment debris.</a:t>
            </a:r>
          </a:p>
          <a:p>
            <a:r>
              <a:rPr lang="en-US" dirty="0"/>
              <a:t>• Đo: Chiều rộng/rãnh, taper, roughness, HAZ, crack và debris.</a:t>
            </a:r>
          </a:p>
          <a:p>
            <a:r>
              <a:rPr lang="en-US" dirty="0"/>
              <a:t>• Ghi rõ nguồn/thiết bị cần bổ sung; không ghi là phần cứng hiện có.</a:t>
            </a:r>
          </a:p>
          <a:p>
            <a:endParaRPr lang="en-US" dirty="0"/>
          </a:p>
          <a:p>
            <a:r>
              <a:rPr lang="en-US" dirty="0"/>
              <a:t>Hình và cách trình bày</a:t>
            </a:r>
          </a:p>
          <a:p>
            <a:endParaRPr lang="en-US" dirty="0"/>
          </a:p>
          <a:p>
            <a:r>
              <a:rPr lang="en-US" dirty="0"/>
              <a:t>Mặt cắt rãnh, vùng ảnh hưởng nhiệt và debris; trước/sau.</a:t>
            </a:r>
          </a:p>
          <a:p>
            <a:endParaRPr lang="en-US" dirty="0"/>
          </a:p>
          <a:p>
            <a:r>
              <a:rPr lang="en-US" dirty="0"/>
              <a:t>Ranh giới bằng chứng</a:t>
            </a:r>
          </a:p>
          <a:p>
            <a:endParaRPr lang="en-US" dirty="0"/>
          </a:p>
          <a:p>
            <a:r>
              <a:rPr lang="en-US" dirty="0"/>
              <a:t>Sơ đồ concept, không phải ảnh dữ liệu; giữ ground truth/đối chứng trong kế hoạch.</a:t>
            </a:r>
          </a:p>
          <a:p>
            <a:endParaRPr lang="en-US" dirty="0"/>
          </a:p>
          <a:p>
            <a:r>
              <a:rPr lang="en-US" dirty="0"/>
              <a:t>Citation giữ lại</a:t>
            </a:r>
          </a:p>
          <a:p>
            <a:endParaRPr lang="en-US" dirty="0"/>
          </a:p>
          <a:p>
            <a:r>
              <a:rPr lang="en-US" dirty="0"/>
              <a:t>S23,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hướng chỉ được nâng hạng khi điều kiện còn thiếu được kiểm chứng.</a:t>
            </a:r>
          </a:p>
          <a:p>
            <a:endParaRPr lang="en-US" dirty="0"/>
          </a:p>
          <a:p>
            <a:r>
              <a:rPr lang="en-US" dirty="0"/>
              <a:t>Nội dung đầy đủ</a:t>
            </a:r>
          </a:p>
          <a:p>
            <a:endParaRPr lang="en-US" dirty="0"/>
          </a:p>
          <a:p>
            <a:r>
              <a:rPr lang="en-US" dirty="0"/>
              <a:t>• Cổng: Chỉ chọn khi nhu cầu là gia công thô hoặc trimming thật; không gọi là dicing sạch nếu chưa đo.</a:t>
            </a:r>
          </a:p>
          <a:p>
            <a:r>
              <a:rPr lang="en-US" dirty="0"/>
              <a:t>• Giới hạn: Cần xác nhận thêm điều kiện vật liệu, nguồn và phép đo trước khi triển khai.</a:t>
            </a:r>
          </a:p>
          <a:p>
            <a:r>
              <a:rPr lang="en-US" dirty="0"/>
              <a:t>• Nếu chưa phù hợp, giữ ở nhánh khám phá/đối tác thay vì hứa triển khai ngay.</a:t>
            </a:r>
          </a:p>
          <a:p>
            <a:endParaRPr lang="en-US" dirty="0"/>
          </a:p>
          <a:p>
            <a:r>
              <a:rPr lang="en-US" dirty="0"/>
              <a:t>Hình và cách trình bày</a:t>
            </a:r>
          </a:p>
          <a:p>
            <a:endParaRPr lang="en-US" dirty="0"/>
          </a:p>
          <a:p>
            <a:r>
              <a:rPr lang="en-US" dirty="0"/>
              <a:t>Bảng điều kiện nâng hạng / điều kiện dừng / phép đo cần bổ sung.</a:t>
            </a:r>
          </a:p>
          <a:p>
            <a:endParaRPr lang="en-US" dirty="0"/>
          </a:p>
          <a:p>
            <a:r>
              <a:rPr lang="en-US" dirty="0"/>
              <a:t>Ranh giới bằng chứng</a:t>
            </a:r>
          </a:p>
          <a:p>
            <a:endParaRPr lang="en-US" dirty="0"/>
          </a:p>
          <a:p>
            <a:r>
              <a:rPr lang="en-US" dirty="0"/>
              <a:t>Không gọi hướng này là không thể; chỉ nói chưa phù hợp với setup/nguồn hiện tại.</a:t>
            </a:r>
          </a:p>
          <a:p>
            <a:endParaRPr lang="en-US" dirty="0"/>
          </a:p>
          <a:p>
            <a:r>
              <a:rPr lang="en-US" dirty="0"/>
              <a:t>Citation giữ lại</a:t>
            </a:r>
          </a:p>
          <a:p>
            <a:endParaRPr lang="en-US" dirty="0"/>
          </a:p>
          <a:p>
            <a:r>
              <a:rPr lang="en-US" dirty="0"/>
              <a:t>S23,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Tách dầm/cấu trúc MEMS khỏi lớp hy sinh hoặc hỗ trợ chuyển cấu trúc bằng xử lý laser. Giải phóng dầm/cấu trúc MEMS khi đã thiết kế lớp hy sinh phù hợp.</a:t>
            </a:r>
          </a:p>
          <a:p>
            <a:endParaRPr lang="en-US" dirty="0"/>
          </a:p>
          <a:p>
            <a:r>
              <a:rPr lang="en-US" dirty="0"/>
              <a:t>Nội dung đầy đủ</a:t>
            </a:r>
          </a:p>
          <a:p>
            <a:endParaRPr lang="en-US" dirty="0"/>
          </a:p>
          <a:p>
            <a:r>
              <a:rPr lang="en-US" dirty="0"/>
              <a:t>• Cơ chế: Laser hấp thụ ở polymer/ lớp release → phân hủy/giảm bám → cấu trúc được giải phóng.</a:t>
            </a:r>
          </a:p>
          <a:p>
            <a:r>
              <a:rPr lang="en-US" dirty="0"/>
              <a:t>• Bằng chứng: S24 có tiền lệ polymer và UV excimer; NIR chỉ phù hợp nếu stack hấp thụ được thiết kế.</a:t>
            </a:r>
          </a:p>
          <a:p>
            <a:r>
              <a:rPr lang="en-US" dirty="0"/>
              <a:t>• Mức phù hợp hiện tại: ít phù hợp nếu chưa thiết kế lớp hy sinh; đây là xếp hạng tương đối.</a:t>
            </a:r>
          </a:p>
          <a:p>
            <a:endParaRPr lang="en-US" dirty="0"/>
          </a:p>
          <a:p>
            <a:r>
              <a:rPr lang="en-US" dirty="0"/>
              <a:t>Hình và cách trình bày</a:t>
            </a:r>
          </a:p>
          <a:p>
            <a:endParaRPr lang="en-US" dirty="0"/>
          </a:p>
          <a:p>
            <a:r>
              <a:rPr lang="en-US" dirty="0"/>
              <a:t>Sơ đồ concept đơn giản và thẻ điều kiện còn thiếu.</a:t>
            </a:r>
          </a:p>
          <a:p>
            <a:endParaRPr lang="en-US" dirty="0"/>
          </a:p>
          <a:p>
            <a:r>
              <a:rPr lang="en-US" dirty="0"/>
              <a:t>Ranh giới bằng chứng</a:t>
            </a:r>
          </a:p>
          <a:p>
            <a:endParaRPr lang="en-US" dirty="0"/>
          </a:p>
          <a:p>
            <a:r>
              <a:rPr lang="en-US" dirty="0"/>
              <a:t>Hướng ít phù hợp vẫn được mô tả để hội đồng thấy lý do xếp hạng.</a:t>
            </a:r>
          </a:p>
          <a:p>
            <a:endParaRPr lang="en-US" dirty="0"/>
          </a:p>
          <a:p>
            <a:r>
              <a:rPr lang="en-US" dirty="0"/>
              <a:t>Citation giữ lại</a:t>
            </a:r>
          </a:p>
          <a:p>
            <a:endParaRPr lang="en-US" dirty="0"/>
          </a:p>
          <a:p>
            <a:r>
              <a:rPr lang="en-US" dirty="0"/>
              <a:t>S24</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có mẫu và phép đo thì chưa có cách kiểm chứng cơ chế.</a:t>
            </a:r>
          </a:p>
          <a:p>
            <a:endParaRPr lang="en-US" dirty="0"/>
          </a:p>
          <a:p>
            <a:r>
              <a:rPr lang="en-US" dirty="0"/>
              <a:t>Nội dung đầy đủ</a:t>
            </a:r>
          </a:p>
          <a:p>
            <a:endParaRPr lang="en-US" dirty="0"/>
          </a:p>
          <a:p>
            <a:r>
              <a:rPr lang="en-US" dirty="0"/>
              <a:t>• Mẫu: Cantilever có lớp hy sinh rõ, cửa sổ laser và vùng không xử lý.</a:t>
            </a:r>
          </a:p>
          <a:p>
            <a:r>
              <a:rPr lang="en-US" dirty="0"/>
              <a:t>• Đo: Tỷ lệ release, residue, cong/gãy, stress và chức năng dầm.</a:t>
            </a:r>
          </a:p>
          <a:p>
            <a:r>
              <a:rPr lang="en-US" dirty="0"/>
              <a:t>• Ghi rõ nguồn/thiết bị cần bổ sung; không ghi là phần cứng hiện có.</a:t>
            </a:r>
          </a:p>
          <a:p>
            <a:endParaRPr lang="en-US" dirty="0"/>
          </a:p>
          <a:p>
            <a:r>
              <a:rPr lang="en-US" dirty="0"/>
              <a:t>Hình và cách trình bày</a:t>
            </a:r>
          </a:p>
          <a:p>
            <a:endParaRPr lang="en-US" dirty="0"/>
          </a:p>
          <a:p>
            <a:r>
              <a:rPr lang="en-US" dirty="0"/>
              <a:t>Mặt cắt substrate–sacrificial layer–beam trước/sau release.</a:t>
            </a:r>
          </a:p>
          <a:p>
            <a:endParaRPr lang="en-US" dirty="0"/>
          </a:p>
          <a:p>
            <a:r>
              <a:rPr lang="en-US" dirty="0"/>
              <a:t>Ranh giới bằng chứng</a:t>
            </a:r>
          </a:p>
          <a:p>
            <a:endParaRPr lang="en-US" dirty="0"/>
          </a:p>
          <a:p>
            <a:r>
              <a:rPr lang="en-US" dirty="0"/>
              <a:t>Sơ đồ concept, không phải ảnh dữ liệu; giữ ground truth/đối chứng trong kế hoạch.</a:t>
            </a:r>
          </a:p>
          <a:p>
            <a:endParaRPr lang="en-US" dirty="0"/>
          </a:p>
          <a:p>
            <a:r>
              <a:rPr lang="en-US" dirty="0"/>
              <a:t>Citation giữ lại</a:t>
            </a:r>
          </a:p>
          <a:p>
            <a:endParaRPr lang="en-US" dirty="0"/>
          </a:p>
          <a:p>
            <a:r>
              <a:rPr lang="en-US" dirty="0"/>
              <a:t>S24</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hướng chỉ được nâng hạng khi điều kiện còn thiếu được kiểm chứng.</a:t>
            </a:r>
          </a:p>
          <a:p>
            <a:endParaRPr lang="en-US" dirty="0"/>
          </a:p>
          <a:p>
            <a:r>
              <a:rPr lang="en-US" dirty="0"/>
              <a:t>Nội dung đầy đủ</a:t>
            </a:r>
          </a:p>
          <a:p>
            <a:endParaRPr lang="en-US" dirty="0"/>
          </a:p>
          <a:p>
            <a:r>
              <a:rPr lang="en-US" dirty="0"/>
              <a:t>• Cổng: Chỉ chọn khi có stack release cụ thể và lợi ích hơn etch/wet release.</a:t>
            </a:r>
          </a:p>
          <a:p>
            <a:r>
              <a:rPr lang="en-US" dirty="0"/>
              <a:t>• Giới hạn: Cần xác nhận thêm điều kiện vật liệu, nguồn và phép đo trước khi triển khai.</a:t>
            </a:r>
          </a:p>
          <a:p>
            <a:r>
              <a:rPr lang="en-US" dirty="0"/>
              <a:t>• Nếu chưa phù hợp, giữ ở nhánh khám phá/đối tác thay vì hứa triển khai ngay.</a:t>
            </a:r>
          </a:p>
          <a:p>
            <a:endParaRPr lang="en-US" dirty="0"/>
          </a:p>
          <a:p>
            <a:r>
              <a:rPr lang="en-US" dirty="0"/>
              <a:t>Hình và cách trình bày</a:t>
            </a:r>
          </a:p>
          <a:p>
            <a:endParaRPr lang="en-US" dirty="0"/>
          </a:p>
          <a:p>
            <a:r>
              <a:rPr lang="en-US" dirty="0"/>
              <a:t>Bảng điều kiện nâng hạng / điều kiện dừng / phép đo cần bổ sung.</a:t>
            </a:r>
          </a:p>
          <a:p>
            <a:endParaRPr lang="en-US" dirty="0"/>
          </a:p>
          <a:p>
            <a:r>
              <a:rPr lang="en-US" dirty="0"/>
              <a:t>Ranh giới bằng chứng</a:t>
            </a:r>
          </a:p>
          <a:p>
            <a:endParaRPr lang="en-US" dirty="0"/>
          </a:p>
          <a:p>
            <a:r>
              <a:rPr lang="en-US" dirty="0"/>
              <a:t>Không gọi hướng này là không thể; chỉ nói chưa phù hợp với setup/nguồn hiện tại.</a:t>
            </a:r>
          </a:p>
          <a:p>
            <a:endParaRPr lang="en-US" dirty="0"/>
          </a:p>
          <a:p>
            <a:r>
              <a:rPr lang="en-US" dirty="0"/>
              <a:t>Citation giữ lại</a:t>
            </a:r>
          </a:p>
          <a:p>
            <a:endParaRPr lang="en-US" dirty="0"/>
          </a:p>
          <a:p>
            <a:r>
              <a:rPr lang="en-US" dirty="0"/>
              <a:t>S24</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Chuyển vật liệu từ donor sang receiver bằng xung/điều kiện laser phù hợp để tạo pattern, bump hoặc interconnect. Chuyển vật liệu donor sang receiver để tạo pattern/bump/interconnect mà không cần mask cho mỗi pattern.</a:t>
            </a:r>
          </a:p>
          <a:p>
            <a:endParaRPr lang="en-US" dirty="0"/>
          </a:p>
          <a:p>
            <a:r>
              <a:rPr lang="en-US" dirty="0"/>
              <a:t>Nội dung đầy đủ</a:t>
            </a:r>
          </a:p>
          <a:p>
            <a:endParaRPr lang="en-US" dirty="0"/>
          </a:p>
          <a:p>
            <a:r>
              <a:rPr lang="en-US" dirty="0"/>
              <a:t>• Cơ chế: Donor hấp thụ → vật liệu phóng/chuyển → landing trên receiver; gap, pulse và rheology quyết định hình thái.</a:t>
            </a:r>
          </a:p>
          <a:p>
            <a:r>
              <a:rPr lang="en-US" dirty="0"/>
              <a:t>• Bằng chứng: S25/S32 hỗ trợ LIFT và giới hạn beam; LIFT kim loại chính xác thường cần kiểm soát xung thật và hình học.</a:t>
            </a:r>
          </a:p>
          <a:p>
            <a:r>
              <a:rPr lang="en-US" dirty="0"/>
              <a:t>• Mức phù hợp hiện tại: ít phù hợp với giới hạn thời gian–không gian; đây là xếp hạng tương đối.</a:t>
            </a:r>
          </a:p>
          <a:p>
            <a:endParaRPr lang="en-US" dirty="0"/>
          </a:p>
          <a:p>
            <a:r>
              <a:rPr lang="en-US" dirty="0"/>
              <a:t>Hình và cách trình bày</a:t>
            </a:r>
          </a:p>
          <a:p>
            <a:endParaRPr lang="en-US" dirty="0"/>
          </a:p>
          <a:p>
            <a:r>
              <a:rPr lang="en-US" dirty="0"/>
              <a:t>Sơ đồ concept đơn giản và thẻ điều kiện còn thiếu.</a:t>
            </a:r>
          </a:p>
          <a:p>
            <a:endParaRPr lang="en-US" dirty="0"/>
          </a:p>
          <a:p>
            <a:r>
              <a:rPr lang="en-US" dirty="0"/>
              <a:t>Ranh giới bằng chứng</a:t>
            </a:r>
          </a:p>
          <a:p>
            <a:endParaRPr lang="en-US" dirty="0"/>
          </a:p>
          <a:p>
            <a:r>
              <a:rPr lang="en-US" dirty="0"/>
              <a:t>Hướng ít phù hợp vẫn được mô tả để hội đồng thấy lý do xếp hạng.</a:t>
            </a:r>
          </a:p>
          <a:p>
            <a:endParaRPr lang="en-US" dirty="0"/>
          </a:p>
          <a:p>
            <a:r>
              <a:rPr lang="en-US" dirty="0"/>
              <a:t>Citation giữ lại</a:t>
            </a:r>
          </a:p>
          <a:p>
            <a:endParaRPr lang="en-US" dirty="0"/>
          </a:p>
          <a:p>
            <a:r>
              <a:rPr lang="en-US" dirty="0"/>
              <a:t>S25,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có mẫu và phép đo thì chưa có cách kiểm chứng cơ chế.</a:t>
            </a:r>
          </a:p>
          <a:p>
            <a:endParaRPr lang="en-US" dirty="0"/>
          </a:p>
          <a:p>
            <a:r>
              <a:rPr lang="en-US" dirty="0"/>
              <a:t>Nội dung đầy đủ</a:t>
            </a:r>
          </a:p>
          <a:p>
            <a:endParaRPr lang="en-US" dirty="0"/>
          </a:p>
          <a:p>
            <a:r>
              <a:rPr lang="en-US" dirty="0"/>
              <a:t>• Mẫu: Donor–gap–receiver với vật liệu đơn giản; bắt đầu bằng pattern lớn, không tuyên bố feature nhỏ.</a:t>
            </a:r>
          </a:p>
          <a:p>
            <a:r>
              <a:rPr lang="en-US" dirty="0"/>
              <a:t>• Đo: Tỷ lệ transfer, vị trí, splash/debris, bám dính, điện trở và repeatability.</a:t>
            </a:r>
          </a:p>
          <a:p>
            <a:r>
              <a:rPr lang="en-US" dirty="0"/>
              <a:t>• Ghi rõ nguồn/thiết bị cần bổ sung; không ghi là phần cứng hiện có.</a:t>
            </a:r>
          </a:p>
          <a:p>
            <a:endParaRPr lang="en-US" dirty="0"/>
          </a:p>
          <a:p>
            <a:r>
              <a:rPr lang="en-US" dirty="0"/>
              <a:t>Hình và cách trình bày</a:t>
            </a:r>
          </a:p>
          <a:p>
            <a:endParaRPr lang="en-US" dirty="0"/>
          </a:p>
          <a:p>
            <a:r>
              <a:rPr lang="en-US" dirty="0"/>
              <a:t>Mặt cắt donor/receiver, vật liệu bay/chuyển và pattern sau in.</a:t>
            </a:r>
          </a:p>
          <a:p>
            <a:endParaRPr lang="en-US" dirty="0"/>
          </a:p>
          <a:p>
            <a:r>
              <a:rPr lang="en-US" dirty="0"/>
              <a:t>Ranh giới bằng chứng</a:t>
            </a:r>
          </a:p>
          <a:p>
            <a:endParaRPr lang="en-US" dirty="0"/>
          </a:p>
          <a:p>
            <a:r>
              <a:rPr lang="en-US" dirty="0"/>
              <a:t>Sơ đồ concept, không phải ảnh dữ liệu; giữ ground truth/đối chứng trong kế hoạch.</a:t>
            </a:r>
          </a:p>
          <a:p>
            <a:endParaRPr lang="en-US" dirty="0"/>
          </a:p>
          <a:p>
            <a:r>
              <a:rPr lang="en-US" dirty="0"/>
              <a:t>Citation giữ lại</a:t>
            </a:r>
          </a:p>
          <a:p>
            <a:endParaRPr lang="en-US" dirty="0"/>
          </a:p>
          <a:p>
            <a:r>
              <a:rPr lang="en-US" dirty="0"/>
              <a:t>S25,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hướng chỉ được nâng hạng khi điều kiện còn thiếu được kiểm chứng.</a:t>
            </a:r>
          </a:p>
          <a:p>
            <a:endParaRPr lang="en-US" dirty="0"/>
          </a:p>
          <a:p>
            <a:r>
              <a:rPr lang="en-US" dirty="0"/>
              <a:t>Nội dung đầy đủ</a:t>
            </a:r>
          </a:p>
          <a:p>
            <a:endParaRPr lang="en-US" dirty="0"/>
          </a:p>
          <a:p>
            <a:r>
              <a:rPr lang="en-US" dirty="0"/>
              <a:t>• Cổng: Giữ như nhánh chuyên biệt; chỉ mở rộng sau khi chứng minh nguồn tương thích cửa sổ thời gian.</a:t>
            </a:r>
          </a:p>
          <a:p>
            <a:r>
              <a:rPr lang="en-US" dirty="0"/>
              <a:t>• Giới hạn: Cần xác nhận thêm điều kiện vật liệu, nguồn và phép đo trước khi triển khai.</a:t>
            </a:r>
          </a:p>
          <a:p>
            <a:r>
              <a:rPr lang="en-US" dirty="0"/>
              <a:t>• Nếu chưa phù hợp, giữ ở nhánh khám phá/đối tác thay vì hứa triển khai ngay.</a:t>
            </a:r>
          </a:p>
          <a:p>
            <a:endParaRPr lang="en-US" dirty="0"/>
          </a:p>
          <a:p>
            <a:r>
              <a:rPr lang="en-US" dirty="0"/>
              <a:t>Hình và cách trình bày</a:t>
            </a:r>
          </a:p>
          <a:p>
            <a:endParaRPr lang="en-US" dirty="0"/>
          </a:p>
          <a:p>
            <a:r>
              <a:rPr lang="en-US" dirty="0"/>
              <a:t>Bảng điều kiện nâng hạng / điều kiện dừng / phép đo cần bổ sung.</a:t>
            </a:r>
          </a:p>
          <a:p>
            <a:endParaRPr lang="en-US" dirty="0"/>
          </a:p>
          <a:p>
            <a:r>
              <a:rPr lang="en-US" dirty="0"/>
              <a:t>Ranh giới bằng chứng</a:t>
            </a:r>
          </a:p>
          <a:p>
            <a:endParaRPr lang="en-US" dirty="0"/>
          </a:p>
          <a:p>
            <a:r>
              <a:rPr lang="en-US" dirty="0"/>
              <a:t>Không gọi hướng này là không thể; chỉ nói chưa phù hợp với setup/nguồn hiện tại.</a:t>
            </a:r>
          </a:p>
          <a:p>
            <a:endParaRPr lang="en-US" dirty="0"/>
          </a:p>
          <a:p>
            <a:r>
              <a:rPr lang="en-US" dirty="0"/>
              <a:t>Citation giữ lại</a:t>
            </a:r>
          </a:p>
          <a:p>
            <a:endParaRPr lang="en-US" dirty="0"/>
          </a:p>
          <a:p>
            <a:r>
              <a:rPr lang="en-US" dirty="0"/>
              <a:t>S25,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Dùng pump điều biến tạo dao động nhiệt và probe đọc thay đổi phản xạ để suy tính chất nhiệt của màng/giao diện. Suy tính chất nhiệt của màng/giao diện bằng đáp ứng tần số thay vì chỉ chụp bản đồ nhiệt.</a:t>
            </a:r>
          </a:p>
          <a:p>
            <a:endParaRPr lang="en-US" dirty="0"/>
          </a:p>
          <a:p>
            <a:r>
              <a:rPr lang="en-US" dirty="0"/>
              <a:t>Nội dung đầy đủ</a:t>
            </a:r>
          </a:p>
          <a:p>
            <a:endParaRPr lang="en-US" dirty="0"/>
          </a:p>
          <a:p>
            <a:r>
              <a:rPr lang="en-US" dirty="0"/>
              <a:t>• Cơ chế: Pump → nhiệt dao động → phản xạ probe đổi → fit mô hình đáp ứng tần số và đánh giá bất định.</a:t>
            </a:r>
          </a:p>
          <a:p>
            <a:r>
              <a:rPr lang="en-US" dirty="0"/>
              <a:t>• Bằng chứng: S31 hỗ trợ phương pháp FDTR; S32 nhắc BPP/spot và ổn định beam. Không chỉ thêm camera nhiệt là thành FDTR.</a:t>
            </a:r>
          </a:p>
          <a:p>
            <a:r>
              <a:rPr lang="en-US" dirty="0"/>
              <a:t>• Mức phù hợp hiện tại: nhánh đo chuyên sâu; đây là xếp hạng tương đối.</a:t>
            </a:r>
          </a:p>
          <a:p>
            <a:endParaRPr lang="en-US" dirty="0"/>
          </a:p>
          <a:p>
            <a:r>
              <a:rPr lang="en-US" dirty="0"/>
              <a:t>Hình và cách trình bày</a:t>
            </a:r>
          </a:p>
          <a:p>
            <a:endParaRPr lang="en-US" dirty="0"/>
          </a:p>
          <a:p>
            <a:r>
              <a:rPr lang="en-US" dirty="0"/>
              <a:t>Sơ đồ concept đơn giản và thẻ điều kiện còn thiếu.</a:t>
            </a:r>
          </a:p>
          <a:p>
            <a:endParaRPr lang="en-US" dirty="0"/>
          </a:p>
          <a:p>
            <a:r>
              <a:rPr lang="en-US" dirty="0"/>
              <a:t>Ranh giới bằng chứng</a:t>
            </a:r>
          </a:p>
          <a:p>
            <a:endParaRPr lang="en-US" dirty="0"/>
          </a:p>
          <a:p>
            <a:r>
              <a:rPr lang="en-US" dirty="0"/>
              <a:t>Hướng ít phù hợp vẫn được mô tả để hội đồng thấy lý do xếp hạng.</a:t>
            </a:r>
          </a:p>
          <a:p>
            <a:endParaRPr lang="en-US" dirty="0"/>
          </a:p>
          <a:p>
            <a:r>
              <a:rPr lang="en-US" dirty="0"/>
              <a:t>Citation giữ lại</a:t>
            </a:r>
          </a:p>
          <a:p>
            <a:endParaRPr lang="en-US" dirty="0"/>
          </a:p>
          <a:p>
            <a:r>
              <a:rPr lang="en-US" dirty="0"/>
              <a:t>S31,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có mẫu và phép đo thì chưa có cách kiểm chứng cơ chế.</a:t>
            </a:r>
          </a:p>
          <a:p>
            <a:endParaRPr lang="en-US" dirty="0"/>
          </a:p>
          <a:p>
            <a:r>
              <a:rPr lang="en-US" dirty="0"/>
              <a:t>Nội dung đầy đủ</a:t>
            </a:r>
          </a:p>
          <a:p>
            <a:endParaRPr lang="en-US" dirty="0"/>
          </a:p>
          <a:p>
            <a:r>
              <a:rPr lang="en-US" dirty="0"/>
              <a:t>• Mẫu: Mẫu chuẩn nhiệt hoặc stack có transducer đã biết, sau đó mới đo màng mới.</a:t>
            </a:r>
          </a:p>
          <a:p>
            <a:r>
              <a:rPr lang="en-US" dirty="0"/>
              <a:t>• Đo: Biên độ/pha theo tần số, sensitivity, uncertainty và độ lặp lại fit.</a:t>
            </a:r>
          </a:p>
          <a:p>
            <a:r>
              <a:rPr lang="en-US" dirty="0"/>
              <a:t>• Ghi rõ nguồn/thiết bị cần bổ sung; không ghi là phần cứng hiện có.</a:t>
            </a:r>
          </a:p>
          <a:p>
            <a:endParaRPr lang="en-US" dirty="0"/>
          </a:p>
          <a:p>
            <a:r>
              <a:rPr lang="en-US" dirty="0"/>
              <a:t>Hình và cách trình bày</a:t>
            </a:r>
          </a:p>
          <a:p>
            <a:endParaRPr lang="en-US" dirty="0"/>
          </a:p>
          <a:p>
            <a:r>
              <a:rPr lang="en-US" dirty="0"/>
              <a:t>Hai đường pump/probe, vùng spot, phản xạ probe và đường fit khái niệm.</a:t>
            </a:r>
          </a:p>
          <a:p>
            <a:endParaRPr lang="en-US" dirty="0"/>
          </a:p>
          <a:p>
            <a:r>
              <a:rPr lang="en-US" dirty="0"/>
              <a:t>Ranh giới bằng chứng</a:t>
            </a:r>
          </a:p>
          <a:p>
            <a:endParaRPr lang="en-US" dirty="0"/>
          </a:p>
          <a:p>
            <a:r>
              <a:rPr lang="en-US" dirty="0"/>
              <a:t>Sơ đồ concept, không phải ảnh dữ liệu; giữ ground truth/đối chứng trong kế hoạch.</a:t>
            </a:r>
          </a:p>
          <a:p>
            <a:endParaRPr lang="en-US" dirty="0"/>
          </a:p>
          <a:p>
            <a:r>
              <a:rPr lang="en-US" dirty="0"/>
              <a:t>Citation giữ lại</a:t>
            </a:r>
          </a:p>
          <a:p>
            <a:endParaRPr lang="en-US" dirty="0"/>
          </a:p>
          <a:p>
            <a:r>
              <a:rPr lang="en-US" dirty="0"/>
              <a:t>S31,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hướng chỉ được nâng hạng khi điều kiện còn thiếu được kiểm chứng.</a:t>
            </a:r>
          </a:p>
          <a:p>
            <a:endParaRPr lang="en-US" dirty="0"/>
          </a:p>
          <a:p>
            <a:r>
              <a:rPr lang="en-US" dirty="0"/>
              <a:t>Nội dung đầy đủ</a:t>
            </a:r>
          </a:p>
          <a:p>
            <a:endParaRPr lang="en-US" dirty="0"/>
          </a:p>
          <a:p>
            <a:r>
              <a:rPr lang="en-US" dirty="0"/>
              <a:t>• Cổng: Đặt sau các hướng demo; cần nguồn đo/phổ/pha và nhóm có năng lực mô hình.</a:t>
            </a:r>
          </a:p>
          <a:p>
            <a:r>
              <a:rPr lang="en-US" dirty="0"/>
              <a:t>• Giới hạn: Cần xác nhận thêm điều kiện vật liệu, nguồn và phép đo trước khi triển khai.</a:t>
            </a:r>
          </a:p>
          <a:p>
            <a:r>
              <a:rPr lang="en-US" dirty="0"/>
              <a:t>• Nếu chưa phù hợp, giữ ở nhánh khám phá/đối tác thay vì hứa triển khai ngay.</a:t>
            </a:r>
          </a:p>
          <a:p>
            <a:endParaRPr lang="en-US" dirty="0"/>
          </a:p>
          <a:p>
            <a:r>
              <a:rPr lang="en-US" dirty="0"/>
              <a:t>Hình và cách trình bày</a:t>
            </a:r>
          </a:p>
          <a:p>
            <a:endParaRPr lang="en-US" dirty="0"/>
          </a:p>
          <a:p>
            <a:r>
              <a:rPr lang="en-US" dirty="0"/>
              <a:t>Bảng điều kiện nâng hạng / điều kiện dừng / phép đo cần bổ sung.</a:t>
            </a:r>
          </a:p>
          <a:p>
            <a:endParaRPr lang="en-US" dirty="0"/>
          </a:p>
          <a:p>
            <a:r>
              <a:rPr lang="en-US" dirty="0"/>
              <a:t>Ranh giới bằng chứng</a:t>
            </a:r>
          </a:p>
          <a:p>
            <a:endParaRPr lang="en-US" dirty="0"/>
          </a:p>
          <a:p>
            <a:r>
              <a:rPr lang="en-US" dirty="0"/>
              <a:t>Không gọi hướng này là không thể; chỉ nói chưa phù hợp với setup/nguồn hiện tại.</a:t>
            </a:r>
          </a:p>
          <a:p>
            <a:endParaRPr lang="en-US" dirty="0"/>
          </a:p>
          <a:p>
            <a:r>
              <a:rPr lang="en-US" dirty="0"/>
              <a:t>Citation giữ lại</a:t>
            </a:r>
          </a:p>
          <a:p>
            <a:endParaRPr lang="en-US" dirty="0"/>
          </a:p>
          <a:p>
            <a:r>
              <a:rPr lang="en-US" dirty="0"/>
              <a:t>S31,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Đo dịch tần của ánh sáng tán xạ để suy dao động mạng/phân tử, pha hoặc ứng suất. Phân biệt pha, cấu trúc hoặc ứng suất trong Si/carbon/màng sau xử lý.</a:t>
            </a:r>
          </a:p>
          <a:p>
            <a:endParaRPr lang="en-US" dirty="0"/>
          </a:p>
          <a:p>
            <a:r>
              <a:rPr lang="en-US" dirty="0"/>
              <a:t>Nội dung đầy đủ</a:t>
            </a:r>
          </a:p>
          <a:p>
            <a:endParaRPr lang="en-US" dirty="0"/>
          </a:p>
          <a:p>
            <a:r>
              <a:rPr lang="en-US" dirty="0"/>
              <a:t>• Cơ chế: Nguồn gần đơn sắc → tán xạ Rayleigh/Raman → lọc → detector phổ.</a:t>
            </a:r>
          </a:p>
          <a:p>
            <a:r>
              <a:rPr lang="en-US" dirty="0"/>
              <a:t>• Bằng chứng: S29 hỗ trợ yêu cầu bước sóng, linewidth, ổn định và chất lượng chùm; NIR/PWM không tự đủ cho Raman.</a:t>
            </a:r>
          </a:p>
          <a:p>
            <a:r>
              <a:rPr lang="en-US" dirty="0"/>
              <a:t>• Mức phù hợp hiện tại: ít phù hợp nếu không có nguồn hẹp phổ; đây là xếp hạng tương đối.</a:t>
            </a:r>
          </a:p>
          <a:p>
            <a:endParaRPr lang="en-US" dirty="0"/>
          </a:p>
          <a:p>
            <a:r>
              <a:rPr lang="en-US" dirty="0"/>
              <a:t>Hình và cách trình bày</a:t>
            </a:r>
          </a:p>
          <a:p>
            <a:endParaRPr lang="en-US" dirty="0"/>
          </a:p>
          <a:p>
            <a:r>
              <a:rPr lang="en-US" dirty="0"/>
              <a:t>Sơ đồ concept đơn giản và thẻ điều kiện còn thiếu.</a:t>
            </a:r>
          </a:p>
          <a:p>
            <a:endParaRPr lang="en-US" dirty="0"/>
          </a:p>
          <a:p>
            <a:r>
              <a:rPr lang="en-US" dirty="0"/>
              <a:t>Ranh giới bằng chứng</a:t>
            </a:r>
          </a:p>
          <a:p>
            <a:endParaRPr lang="en-US" dirty="0"/>
          </a:p>
          <a:p>
            <a:r>
              <a:rPr lang="en-US" dirty="0"/>
              <a:t>Hướng ít phù hợp vẫn được mô tả để hội đồng thấy lý do xếp hạng.</a:t>
            </a:r>
          </a:p>
          <a:p>
            <a:endParaRPr lang="en-US" dirty="0"/>
          </a:p>
          <a:p>
            <a:r>
              <a:rPr lang="en-US" dirty="0"/>
              <a:t>Citation giữ lại</a:t>
            </a:r>
          </a:p>
          <a:p>
            <a:endParaRPr lang="en-US" dirty="0"/>
          </a:p>
          <a:p>
            <a:r>
              <a:rPr lang="en-US" dirty="0"/>
              <a:t>S29</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có mẫu và phép đo thì chưa có cách kiểm chứng cơ chế.</a:t>
            </a:r>
          </a:p>
          <a:p>
            <a:endParaRPr lang="en-US" dirty="0"/>
          </a:p>
          <a:p>
            <a:r>
              <a:rPr lang="en-US" dirty="0"/>
              <a:t>Nội dung đầy đủ</a:t>
            </a:r>
          </a:p>
          <a:p>
            <a:endParaRPr lang="en-US" dirty="0"/>
          </a:p>
          <a:p>
            <a:r>
              <a:rPr lang="en-US" dirty="0"/>
              <a:t>• Mẫu: Si hoặc Raman standard; dùng hệ Raman sẵn/đối tác là phương án thực dụng.</a:t>
            </a:r>
          </a:p>
          <a:p>
            <a:r>
              <a:rPr lang="en-US" dirty="0"/>
              <a:t>• Đo: Vị trí đỉnh, linewidth, cường độ, nền huỳnh quang và nhiệt do chiếu.</a:t>
            </a:r>
          </a:p>
          <a:p>
            <a:r>
              <a:rPr lang="en-US" dirty="0"/>
              <a:t>• Ghi rõ nguồn/thiết bị cần bổ sung; không ghi là phần cứng hiện có.</a:t>
            </a:r>
          </a:p>
          <a:p>
            <a:endParaRPr lang="en-US" dirty="0"/>
          </a:p>
          <a:p>
            <a:r>
              <a:rPr lang="en-US" dirty="0"/>
              <a:t>Hình và cách trình bày</a:t>
            </a:r>
          </a:p>
          <a:p>
            <a:endParaRPr lang="en-US" dirty="0"/>
          </a:p>
          <a:p>
            <a:r>
              <a:rPr lang="en-US" dirty="0"/>
              <a:t>Nguồn–mẫu–lọc–spectrometer; phổ chuẩn và đỉnh cần nhận dạng chỉ là minh họa.</a:t>
            </a:r>
          </a:p>
          <a:p>
            <a:endParaRPr lang="en-US" dirty="0"/>
          </a:p>
          <a:p>
            <a:r>
              <a:rPr lang="en-US" dirty="0"/>
              <a:t>Ranh giới bằng chứng</a:t>
            </a:r>
          </a:p>
          <a:p>
            <a:endParaRPr lang="en-US" dirty="0"/>
          </a:p>
          <a:p>
            <a:r>
              <a:rPr lang="en-US" dirty="0"/>
              <a:t>Sơ đồ concept, không phải ảnh dữ liệu; giữ ground truth/đối chứng trong kế hoạch.</a:t>
            </a:r>
          </a:p>
          <a:p>
            <a:endParaRPr lang="en-US" dirty="0"/>
          </a:p>
          <a:p>
            <a:r>
              <a:rPr lang="en-US" dirty="0"/>
              <a:t>Citation giữ lại</a:t>
            </a:r>
          </a:p>
          <a:p>
            <a:endParaRPr lang="en-US" dirty="0"/>
          </a:p>
          <a:p>
            <a:r>
              <a:rPr lang="en-US" dirty="0"/>
              <a:t>S29</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hướng chỉ được nâng hạng khi điều kiện còn thiếu được kiểm chứng.</a:t>
            </a:r>
          </a:p>
          <a:p>
            <a:endParaRPr lang="en-US" dirty="0"/>
          </a:p>
          <a:p>
            <a:r>
              <a:rPr lang="en-US" dirty="0"/>
              <a:t>Nội dung đầy đủ</a:t>
            </a:r>
          </a:p>
          <a:p>
            <a:endParaRPr lang="en-US" dirty="0"/>
          </a:p>
          <a:p>
            <a:r>
              <a:rPr lang="en-US" dirty="0"/>
              <a:t>• Cổng: Ưu tiên Raman như phép đo bổ sung cho mẫu, không chế tạo máy Raman từ nguồn này nếu chưa có nguồn/quang học phù hợp.</a:t>
            </a:r>
          </a:p>
          <a:p>
            <a:r>
              <a:rPr lang="en-US" dirty="0"/>
              <a:t>• Giới hạn: Cần xác nhận thêm điều kiện vật liệu, nguồn và phép đo trước khi triển khai.</a:t>
            </a:r>
          </a:p>
          <a:p>
            <a:r>
              <a:rPr lang="en-US" dirty="0"/>
              <a:t>• Nếu chưa phù hợp, giữ ở nhánh khám phá/đối tác thay vì hứa triển khai ngay.</a:t>
            </a:r>
          </a:p>
          <a:p>
            <a:endParaRPr lang="en-US" dirty="0"/>
          </a:p>
          <a:p>
            <a:r>
              <a:rPr lang="en-US" dirty="0"/>
              <a:t>Hình và cách trình bày</a:t>
            </a:r>
          </a:p>
          <a:p>
            <a:endParaRPr lang="en-US" dirty="0"/>
          </a:p>
          <a:p>
            <a:r>
              <a:rPr lang="en-US" dirty="0"/>
              <a:t>Bảng điều kiện nâng hạng / điều kiện dừng / phép đo cần bổ sung.</a:t>
            </a:r>
          </a:p>
          <a:p>
            <a:endParaRPr lang="en-US" dirty="0"/>
          </a:p>
          <a:p>
            <a:r>
              <a:rPr lang="en-US" dirty="0"/>
              <a:t>Ranh giới bằng chứng</a:t>
            </a:r>
          </a:p>
          <a:p>
            <a:endParaRPr lang="en-US" dirty="0"/>
          </a:p>
          <a:p>
            <a:r>
              <a:rPr lang="en-US" dirty="0"/>
              <a:t>Không gọi hướng này là không thể; chỉ nói chưa phù hợp với setup/nguồn hiện tại.</a:t>
            </a:r>
          </a:p>
          <a:p>
            <a:endParaRPr lang="en-US" dirty="0"/>
          </a:p>
          <a:p>
            <a:r>
              <a:rPr lang="en-US" dirty="0"/>
              <a:t>Citation giữ lại</a:t>
            </a:r>
          </a:p>
          <a:p>
            <a:endParaRPr lang="en-US" dirty="0"/>
          </a:p>
          <a:p>
            <a:r>
              <a:rPr lang="en-US" dirty="0"/>
              <a:t>S29</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Đo thay đổi quang lộ từ pha giao thoa giữa nhánh tham chiếu và nhánh đo để suy dịch chuyển rất nhỏ. Đo dịch chuyển rất nhỏ khi cần metrology chính xác và có nguồn giao thoa phù hợp.</a:t>
            </a:r>
          </a:p>
          <a:p>
            <a:endParaRPr lang="en-US" dirty="0"/>
          </a:p>
          <a:p>
            <a:r>
              <a:rPr lang="en-US" dirty="0"/>
              <a:t>Nội dung đầy đủ</a:t>
            </a:r>
          </a:p>
          <a:p>
            <a:endParaRPr lang="en-US" dirty="0"/>
          </a:p>
          <a:p>
            <a:r>
              <a:rPr lang="en-US" dirty="0"/>
              <a:t>• Cơ chế: Tách chùm → hai quang lộ → tái hợp → pha/intensity đổi theo dịch chuyển.</a:t>
            </a:r>
          </a:p>
          <a:p>
            <a:r>
              <a:rPr lang="en-US" dirty="0"/>
              <a:t>• Bằng chứng: S30 hỗ trợ coherence length; S32 hỗ trợ BPP/beam quality. Công suất xử lý lớn không đem lợi thế metrology tương ứng.</a:t>
            </a:r>
          </a:p>
          <a:p>
            <a:r>
              <a:rPr lang="en-US" dirty="0"/>
              <a:t>• Mức phù hợp hiện tại: ít phù hợp nhất với ưu tiên hiện tại; đây là xếp hạng tương đối.</a:t>
            </a:r>
          </a:p>
          <a:p>
            <a:endParaRPr lang="en-US" dirty="0"/>
          </a:p>
          <a:p>
            <a:r>
              <a:rPr lang="en-US" dirty="0"/>
              <a:t>Hình và cách trình bày</a:t>
            </a:r>
          </a:p>
          <a:p>
            <a:endParaRPr lang="en-US" dirty="0"/>
          </a:p>
          <a:p>
            <a:r>
              <a:rPr lang="en-US" dirty="0"/>
              <a:t>Sơ đồ concept đơn giản và thẻ điều kiện còn thiếu.</a:t>
            </a:r>
          </a:p>
          <a:p>
            <a:endParaRPr lang="en-US" dirty="0"/>
          </a:p>
          <a:p>
            <a:r>
              <a:rPr lang="en-US" dirty="0"/>
              <a:t>Ranh giới bằng chứng</a:t>
            </a:r>
          </a:p>
          <a:p>
            <a:endParaRPr lang="en-US" dirty="0"/>
          </a:p>
          <a:p>
            <a:r>
              <a:rPr lang="en-US" dirty="0"/>
              <a:t>Hướng ít phù hợp vẫn được mô tả để hội đồng thấy lý do xếp hạng.</a:t>
            </a:r>
          </a:p>
          <a:p>
            <a:endParaRPr lang="en-US" dirty="0"/>
          </a:p>
          <a:p>
            <a:r>
              <a:rPr lang="en-US" dirty="0"/>
              <a:t>Citation giữ lại</a:t>
            </a:r>
          </a:p>
          <a:p>
            <a:endParaRPr lang="en-US" dirty="0"/>
          </a:p>
          <a:p>
            <a:r>
              <a:rPr lang="en-US" dirty="0"/>
              <a:t>S30,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có mẫu và phép đo thì chưa có cách kiểm chứng cơ chế.</a:t>
            </a:r>
          </a:p>
          <a:p>
            <a:endParaRPr lang="en-US" dirty="0"/>
          </a:p>
          <a:p>
            <a:r>
              <a:rPr lang="en-US" dirty="0"/>
              <a:t>Nội dung đầy đủ</a:t>
            </a:r>
          </a:p>
          <a:p>
            <a:endParaRPr lang="en-US" dirty="0"/>
          </a:p>
          <a:p>
            <a:r>
              <a:rPr lang="en-US" dirty="0"/>
              <a:t>• Mẫu: Michelson trên bàn ổn định với nguồn đo chuyên dụng và gương/dịch chuyển tham chiếu.</a:t>
            </a:r>
          </a:p>
          <a:p>
            <a:r>
              <a:rPr lang="en-US" dirty="0"/>
              <a:t>• Đo: Visibility, drift, rung, phase unwrapping và độ lặp lại dịch chuyển.</a:t>
            </a:r>
          </a:p>
          <a:p>
            <a:r>
              <a:rPr lang="en-US" dirty="0"/>
              <a:t>• Ghi rõ nguồn/thiết bị cần bổ sung; không ghi là phần cứng hiện có.</a:t>
            </a:r>
          </a:p>
          <a:p>
            <a:endParaRPr lang="en-US" dirty="0"/>
          </a:p>
          <a:p>
            <a:r>
              <a:rPr lang="en-US" dirty="0"/>
              <a:t>Hình và cách trình bày</a:t>
            </a:r>
          </a:p>
          <a:p>
            <a:endParaRPr lang="en-US" dirty="0"/>
          </a:p>
          <a:p>
            <a:r>
              <a:rPr lang="en-US" dirty="0"/>
              <a:t>Hai nhánh giao thoa, gương tham chiếu, gương đo và detector; không dùng laser xử lý làm mặc định nguồn đo.</a:t>
            </a:r>
          </a:p>
          <a:p>
            <a:endParaRPr lang="en-US" dirty="0"/>
          </a:p>
          <a:p>
            <a:r>
              <a:rPr lang="en-US" dirty="0"/>
              <a:t>Ranh giới bằng chứng</a:t>
            </a:r>
          </a:p>
          <a:p>
            <a:endParaRPr lang="en-US" dirty="0"/>
          </a:p>
          <a:p>
            <a:r>
              <a:rPr lang="en-US" dirty="0"/>
              <a:t>Sơ đồ concept, không phải ảnh dữ liệu; giữ ground truth/đối chứng trong kế hoạch.</a:t>
            </a:r>
          </a:p>
          <a:p>
            <a:endParaRPr lang="en-US" dirty="0"/>
          </a:p>
          <a:p>
            <a:r>
              <a:rPr lang="en-US" dirty="0"/>
              <a:t>Citation giữ lại</a:t>
            </a:r>
          </a:p>
          <a:p>
            <a:endParaRPr lang="en-US" dirty="0"/>
          </a:p>
          <a:p>
            <a:r>
              <a:rPr lang="en-US" dirty="0"/>
              <a:t>S30,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hướng chỉ được nâng hạng khi điều kiện còn thiếu được kiểm chứng.</a:t>
            </a:r>
          </a:p>
          <a:p>
            <a:endParaRPr lang="en-US" dirty="0"/>
          </a:p>
          <a:p>
            <a:r>
              <a:rPr lang="en-US" dirty="0"/>
              <a:t>Nội dung đầy đủ</a:t>
            </a:r>
          </a:p>
          <a:p>
            <a:endParaRPr lang="en-US" dirty="0"/>
          </a:p>
          <a:p>
            <a:r>
              <a:rPr lang="en-US" dirty="0"/>
              <a:t>• Cổng: Dùng nguồn metrology riêng nếu thật sự cần; không lấy nguồn xử lý làm điểm xuất phát cho giao thoa chính xác.</a:t>
            </a:r>
          </a:p>
          <a:p>
            <a:r>
              <a:rPr lang="en-US" dirty="0"/>
              <a:t>• Giới hạn: Cần xác nhận thêm điều kiện vật liệu, nguồn và phép đo trước khi triển khai.</a:t>
            </a:r>
          </a:p>
          <a:p>
            <a:r>
              <a:rPr lang="en-US" dirty="0"/>
              <a:t>• Nếu chưa phù hợp, giữ ở nhánh khám phá/đối tác thay vì hứa triển khai ngay.</a:t>
            </a:r>
          </a:p>
          <a:p>
            <a:endParaRPr lang="en-US" dirty="0"/>
          </a:p>
          <a:p>
            <a:r>
              <a:rPr lang="en-US" dirty="0"/>
              <a:t>Hình và cách trình bày</a:t>
            </a:r>
          </a:p>
          <a:p>
            <a:endParaRPr lang="en-US" dirty="0"/>
          </a:p>
          <a:p>
            <a:r>
              <a:rPr lang="en-US" dirty="0"/>
              <a:t>Bảng điều kiện nâng hạng / điều kiện dừng / phép đo cần bổ sung.</a:t>
            </a:r>
          </a:p>
          <a:p>
            <a:endParaRPr lang="en-US" dirty="0"/>
          </a:p>
          <a:p>
            <a:r>
              <a:rPr lang="en-US" dirty="0"/>
              <a:t>Ranh giới bằng chứng</a:t>
            </a:r>
          </a:p>
          <a:p>
            <a:endParaRPr lang="en-US" dirty="0"/>
          </a:p>
          <a:p>
            <a:r>
              <a:rPr lang="en-US" dirty="0"/>
              <a:t>Không gọi hướng này là không thể; chỉ nói chưa phù hợp với setup/nguồn hiện tại.</a:t>
            </a:r>
          </a:p>
          <a:p>
            <a:endParaRPr lang="en-US" dirty="0"/>
          </a:p>
          <a:p>
            <a:r>
              <a:rPr lang="en-US" dirty="0"/>
              <a:t>Citation giữ lại</a:t>
            </a:r>
          </a:p>
          <a:p>
            <a:endParaRPr lang="en-US" dirty="0"/>
          </a:p>
          <a:p>
            <a:r>
              <a:rPr lang="en-US" dirty="0"/>
              <a:t>S30, S32</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Chọn một hướng chính, E0 làm nền và một phép đo hỗ trợ.</a:t>
            </a:r>
          </a:p>
          <a:p>
            <a:endParaRPr lang="en-US" dirty="0"/>
          </a:p>
          <a:p>
            <a:r>
              <a:rPr lang="en-US" dirty="0"/>
              <a:t>Nội dung đầy đủ</a:t>
            </a:r>
          </a:p>
          <a:p>
            <a:endParaRPr lang="en-US" dirty="0"/>
          </a:p>
          <a:p>
            <a:r>
              <a:rPr lang="en-US" dirty="0"/>
              <a:t>• Gói chế tạo linh kiện: E0 + A8; đầu ra là đường dẫn/điện cực/heater, mở rộng E1 khi có phép đo vật liệu.</a:t>
            </a:r>
          </a:p>
          <a:p>
            <a:r>
              <a:rPr lang="en-US" dirty="0"/>
              <a:t>• Gói lắp ráp/đóng gói: E0 + A3; mở rộng E5/D1 khi vật liệu liên kết và yêu cầu kín khí rõ.</a:t>
            </a:r>
          </a:p>
          <a:p>
            <a:r>
              <a:rPr lang="en-US" dirty="0"/>
              <a:t>• Gói MEMS/đo nhiệt: E0 + E3 hoặc C2; mở rộng E2 khi có cấu trúc và readout phù hợp.</a:t>
            </a:r>
          </a:p>
          <a:p>
            <a:r>
              <a:rPr lang="en-US" dirty="0"/>
              <a:t>• Nhánh Si chuyên sâu: A1/A2/A7/C3; chỉ chọn khi có wafer, nhiệt và phép đo chuyên dụng.</a:t>
            </a:r>
          </a:p>
          <a:p>
            <a:endParaRPr lang="en-US" dirty="0"/>
          </a:p>
          <a:p>
            <a:r>
              <a:rPr lang="en-US" dirty="0"/>
              <a:t>Hình và cách trình bày</a:t>
            </a:r>
          </a:p>
          <a:p>
            <a:endParaRPr lang="en-US" dirty="0"/>
          </a:p>
          <a:p>
            <a:r>
              <a:rPr lang="en-US" dirty="0"/>
              <a:t>Ma trận gói nghiên cứu: nền tảng E0, hướng chính, phép đo hỗ trợ, thiết bị cần bổ sung.</a:t>
            </a:r>
          </a:p>
          <a:p>
            <a:endParaRPr lang="en-US" dirty="0"/>
          </a:p>
          <a:p>
            <a:r>
              <a:rPr lang="en-US" dirty="0"/>
              <a:t>Ranh giới bằng chứng</a:t>
            </a:r>
          </a:p>
          <a:p>
            <a:endParaRPr lang="en-US" dirty="0"/>
          </a:p>
          <a:p>
            <a:r>
              <a:rPr lang="en-US" dirty="0"/>
              <a:t>Đây là đề xuất phân tích, không phải quyết định thay người dùng.</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Một cửa sổ xử lý đáng tin cần đối chứng, lặp lại và sai số.</a:t>
            </a:r>
          </a:p>
          <a:p>
            <a:endParaRPr lang="en-US" dirty="0"/>
          </a:p>
          <a:p>
            <a:r>
              <a:rPr lang="en-US" dirty="0"/>
              <a:t>Nội dung đầy đủ</a:t>
            </a:r>
          </a:p>
          <a:p>
            <a:endParaRPr lang="en-US" dirty="0"/>
          </a:p>
          <a:p>
            <a:r>
              <a:rPr lang="en-US" dirty="0"/>
              <a:t>• Nhóm mẫu: chưa xử lý; laser; nhiệt tham chiếu khi phù hợp; mẫu chuẩn có ground truth.</a:t>
            </a:r>
          </a:p>
          <a:p>
            <a:r>
              <a:rPr lang="en-US" dirty="0"/>
              <a:t>• Biến đầu vào: excitation đã đặc trưng, thời gian/quỹ đạo, vật liệu/stack và điều kiện gá/môi trường.</a:t>
            </a:r>
          </a:p>
          <a:p>
            <a:r>
              <a:rPr lang="en-US" dirty="0"/>
              <a:t>• Đầu ra: một chỉ số chức năng, một chỉ số hư hại và một phép đo cơ chế độc lập.</a:t>
            </a:r>
          </a:p>
          <a:p>
            <a:r>
              <a:rPr lang="en-US" dirty="0"/>
              <a:t>• Đo lặp, theo dõi drift, lưu trạng thái lỗi và báo cả mẫu hỏng; không chỉ chọn hình đẹp nhất.</a:t>
            </a:r>
          </a:p>
          <a:p>
            <a:endParaRPr lang="en-US" dirty="0"/>
          </a:p>
          <a:p>
            <a:r>
              <a:rPr lang="en-US" dirty="0"/>
              <a:t>Hình và cách trình bày</a:t>
            </a:r>
          </a:p>
          <a:p>
            <a:endParaRPr lang="en-US" dirty="0"/>
          </a:p>
          <a:p>
            <a:r>
              <a:rPr lang="en-US" dirty="0"/>
              <a:t>Flowchart DOE: mẫu → input → output → đối chứng → cổng tiếp tục/dừng.</a:t>
            </a:r>
          </a:p>
          <a:p>
            <a:endParaRPr lang="en-US" dirty="0"/>
          </a:p>
          <a:p>
            <a:r>
              <a:rPr lang="en-US" dirty="0"/>
              <a:t>Ranh giới bằng chứng</a:t>
            </a:r>
          </a:p>
          <a:p>
            <a:endParaRPr lang="en-US" dirty="0"/>
          </a:p>
          <a:p>
            <a:r>
              <a:rPr lang="en-US" dirty="0"/>
              <a:t>Chưa chốt ngưỡng số khi chưa có yêu cầu mẫu và thiết bị.</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Tên đề tài nên nêu chức năng và mẫu, không lấy watt làm tuyên bố công nghệ.</a:t>
            </a:r>
          </a:p>
          <a:p>
            <a:endParaRPr lang="en-US" dirty="0"/>
          </a:p>
          <a:p>
            <a:r>
              <a:rPr lang="en-US" dirty="0"/>
              <a:t>Nội dung đầy đủ</a:t>
            </a:r>
          </a:p>
          <a:p>
            <a:endParaRPr lang="en-US" dirty="0"/>
          </a:p>
          <a:p>
            <a:r>
              <a:rPr lang="en-US" dirty="0"/>
              <a:t>• Tên khung: “Nền tảng xử lý quang–nhiệt cục bộ bằng laser điều khiển PWM và kiểm chứng trên [mẫu cụ thể]”.</a:t>
            </a:r>
          </a:p>
          <a:p>
            <a:r>
              <a:rPr lang="en-US" dirty="0"/>
              <a:t>• Cổng 1: nhận dạng/đặc trưng nguồn, bảo vệ, interlock độc lập, vùng kín và beam dump phù hợp.</a:t>
            </a:r>
          </a:p>
          <a:p>
            <a:r>
              <a:rPr lang="en-US" dirty="0"/>
              <a:t>• Cổng 2: một coupon có cửa sổ xử lý và phép đo độc lập; có đối chứng.</a:t>
            </a:r>
          </a:p>
          <a:p>
            <a:r>
              <a:rPr lang="en-US" dirty="0"/>
              <a:t>• Cổng 3: mẫu chức năng lặp lại; đánh giá hư hại, sai số và khả năng mở rộng.</a:t>
            </a:r>
          </a:p>
          <a:p>
            <a:r>
              <a:rPr lang="en-US" dirty="0"/>
              <a:t>• Quyết định cuối dựa trên bằng chứng, không dựa trên tên ứng dụng hoặc công suất danh nghĩa.</a:t>
            </a:r>
          </a:p>
          <a:p>
            <a:endParaRPr lang="en-US" dirty="0"/>
          </a:p>
          <a:p>
            <a:r>
              <a:rPr lang="en-US" dirty="0"/>
              <a:t>Hình và cách trình bày</a:t>
            </a:r>
          </a:p>
          <a:p>
            <a:endParaRPr lang="en-US" dirty="0"/>
          </a:p>
          <a:p>
            <a:r>
              <a:rPr lang="en-US" dirty="0"/>
              <a:t>Ba cổng dạng gate với điều kiện pass/fail chưa gắn số nếu người dùng chưa chốt yêu cầu.</a:t>
            </a:r>
          </a:p>
          <a:p>
            <a:endParaRPr lang="en-US" dirty="0"/>
          </a:p>
          <a:p>
            <a:r>
              <a:rPr lang="en-US" dirty="0"/>
              <a:t>Ranh giới bằng chứng</a:t>
            </a:r>
          </a:p>
          <a:p>
            <a:endParaRPr lang="en-US" dirty="0"/>
          </a:p>
          <a:p>
            <a:r>
              <a:rPr lang="en-US" dirty="0"/>
              <a:t>Đây là khung quyết định; không phải recipe vận hành hay chứng nhận an toàn.</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Thông điệp chính</a:t>
            </a:r>
          </a:p>
          <a:p>
            <a:endParaRPr lang="en-US" dirty="0"/>
          </a:p>
          <a:p>
            <a:r>
              <a:rPr lang="en-US" dirty="0"/>
              <a:t>Không mặc định bất kỳ trị số quang nào; tập trung các câu hỏi phải khóa trước khi chạy mẫu.</a:t>
            </a:r>
          </a:p>
          <a:p>
            <a:endParaRPr lang="en-US" dirty="0"/>
          </a:p>
          <a:p>
            <a:r>
              <a:rPr lang="en-US" dirty="0"/>
              <a:t>Nội dung đầy đủ</a:t>
            </a:r>
          </a:p>
          <a:p>
            <a:endParaRPr lang="en-US" dirty="0"/>
          </a:p>
          <a:p>
            <a:r>
              <a:rPr lang="el-GR" dirty="0"/>
              <a:t>• Nhận dạng/phổ: model module/driver, kiến trúc laser, λ trung tâm, bandwidth và ổn định phổ.</a:t>
            </a:r>
          </a:p>
          <a:p>
            <a:r>
              <a:rPr lang="en-US" dirty="0"/>
              <a:t>• Công suất: P_on, P_avg, P_sample, công suất tại mẫu và ý nghĩa con số danh nghĩa trên module.</a:t>
            </a:r>
          </a:p>
          <a:p>
            <a:r>
              <a:rPr lang="en-US" dirty="0"/>
              <a:t>• PWM/thời gian: tần số, duty, waveform quang, rise/fall time và giới hạn driver.</a:t>
            </a:r>
          </a:p>
          <a:p>
            <a:r>
              <a:rPr lang="en-US" dirty="0"/>
              <a:t>• Không gian: spot, độ đồng đều, BPP, vị trí trên mẫu và quan hệ với stage 10 µm.</a:t>
            </a:r>
          </a:p>
          <a:p>
            <a:r>
              <a:rPr lang="en-US" dirty="0"/>
              <a:t>• Đo/an toàn: power meter, camera nhiệt/pyrometer, DAQ, interlock, beam dump và PPE.</a:t>
            </a:r>
          </a:p>
          <a:p>
            <a:r>
              <a:rPr lang="en-US" dirty="0"/>
              <a:t>• Mẫu: vật liệu, kích thước, stack, hấp thụ, nền và điều kiện gá.</a:t>
            </a:r>
          </a:p>
          <a:p>
            <a:endParaRPr lang="en-US" dirty="0"/>
          </a:p>
          <a:p>
            <a:r>
              <a:rPr lang="en-US" dirty="0"/>
              <a:t>Hình và cách trình bày</a:t>
            </a:r>
          </a:p>
          <a:p>
            <a:endParaRPr lang="en-US" dirty="0"/>
          </a:p>
          <a:p>
            <a:r>
              <a:rPr lang="en-US" dirty="0"/>
              <a:t>Bảng thông số / đã xác nhận? / cần đo bằng gì? / ảnh hưởng đến hướng nào?</a:t>
            </a:r>
          </a:p>
          <a:p>
            <a:endParaRPr lang="en-US" dirty="0"/>
          </a:p>
          <a:p>
            <a:r>
              <a:rPr lang="en-US" dirty="0"/>
              <a:t>Ranh giới bằng chứng</a:t>
            </a:r>
          </a:p>
          <a:p>
            <a:endParaRPr lang="en-US" dirty="0"/>
          </a:p>
          <a:p>
            <a:r>
              <a:rPr lang="en-US" dirty="0"/>
              <a:t>Slide cuối là danh sách mở; không biến mục chưa xác nhận thành con số.</a:t>
            </a:r>
          </a:p>
          <a:p>
            <a:endParaRPr lang="en-US" dirty="0"/>
          </a:p>
          <a:p>
            <a:r>
              <a:rPr lang="en-US" dirty="0"/>
              <a:t>Citation giữ lại</a:t>
            </a:r>
          </a:p>
          <a:p>
            <a:endParaRPr lang="en-US" dirty="0"/>
          </a:p>
          <a:p>
            <a:r>
              <a:rPr lang="en-US" dirty="0"/>
              <a:t>S01–S38 theo từng mục liên quan</a:t>
            </a:r>
          </a:p>
          <a:p>
            <a:endParaRPr lang="en-US" dirty="0"/>
          </a:p>
          <a:p>
            <a:r>
              <a:rPr lang="en-US" dirty="0"/>
              <a:t>Ghi chú công thức</a:t>
            </a:r>
          </a:p>
          <a:p>
            <a:endParaRPr lang="en-US" dirty="0"/>
          </a:p>
          <a:p>
            <a:r>
              <a:rPr lang="en-US" dirty="0"/>
              <a:t>Nếu slide có công thức, dùng mã [F01]–[F16] và lấy dòng hiển thị + ASCII fallback từ formula_register_vi.md. Không tự gõ lại công thức trong bullet.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7B5A-5CF2-91AD-4EBC-AE26551E30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7D2C5B-A0E2-A79D-EB24-DC3CB0B5C5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916C199-084C-90D0-80A6-2E0365587249}"/>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5" name="Footer Placeholder 4">
            <a:extLst>
              <a:ext uri="{FF2B5EF4-FFF2-40B4-BE49-F238E27FC236}">
                <a16:creationId xmlns:a16="http://schemas.microsoft.com/office/drawing/2014/main" id="{92F3EC07-B1D6-63B1-0DD6-8501F6F021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1B6855-E71C-342D-71FF-EA4559A4EE9F}"/>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3149689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73F38-E1AA-14CD-236A-DF45FF10D5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00061D-A1C5-4999-0C49-9EF7709B58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710DF-9F6D-002A-4A14-252573CD15D4}"/>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5" name="Footer Placeholder 4">
            <a:extLst>
              <a:ext uri="{FF2B5EF4-FFF2-40B4-BE49-F238E27FC236}">
                <a16:creationId xmlns:a16="http://schemas.microsoft.com/office/drawing/2014/main" id="{FE653B0A-64DA-1599-CDA8-906E681BE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DE1C71-1085-FED6-C605-61638779CB3F}"/>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2388744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726C-238C-C647-CC8D-FEE982FDCD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24C162-FCCA-B2C3-E13C-F8F8704D29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F8B2F6-B4D1-FDBD-B4FF-89FCA06919BC}"/>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5" name="Footer Placeholder 4">
            <a:extLst>
              <a:ext uri="{FF2B5EF4-FFF2-40B4-BE49-F238E27FC236}">
                <a16:creationId xmlns:a16="http://schemas.microsoft.com/office/drawing/2014/main" id="{29DE4307-D164-F28C-8826-33D0FB135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42397E-902A-500D-17DE-8FE69AC5C4BF}"/>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387788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4DB35-A5EA-7D15-85C0-8488B09CA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68F916-81FA-8198-9B2D-4B9949D5CE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EC777A-4998-1DB4-763F-FB9938589C5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E42EFF-193D-894E-4852-99C68119E0FD}"/>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6" name="Footer Placeholder 5">
            <a:extLst>
              <a:ext uri="{FF2B5EF4-FFF2-40B4-BE49-F238E27FC236}">
                <a16:creationId xmlns:a16="http://schemas.microsoft.com/office/drawing/2014/main" id="{21B14A34-8000-8DF8-4972-8ABE279DC3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713217-14CD-89B3-3281-B9E86EE3E068}"/>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3687432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58509-64E3-542B-CF7D-FAFDDB3475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3C8A2C-9C3F-DE4E-D252-2AD060A857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D49A20-0166-AD43-FA2C-AD35D69F94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911A7B-F766-0238-9CAB-A47D1D0575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89BC3B-B113-8EF2-B1B8-7D64792216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B59940-3C6B-5E52-F8E6-80421B8B363F}"/>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8" name="Footer Placeholder 7">
            <a:extLst>
              <a:ext uri="{FF2B5EF4-FFF2-40B4-BE49-F238E27FC236}">
                <a16:creationId xmlns:a16="http://schemas.microsoft.com/office/drawing/2014/main" id="{ED36430B-EC5C-317C-05F0-CC6D972BEC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E9E563-2B1C-C388-E744-6E09514500CD}"/>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3123107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CCDD1-B763-D7A8-773E-A2E01A3B27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5EAAA5-B8FD-639D-59AD-49F208BFF34F}"/>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4" name="Footer Placeholder 3">
            <a:extLst>
              <a:ext uri="{FF2B5EF4-FFF2-40B4-BE49-F238E27FC236}">
                <a16:creationId xmlns:a16="http://schemas.microsoft.com/office/drawing/2014/main" id="{30DAEE52-7F65-006C-77BF-9ECE5D7B97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0800E5-2A67-C1C8-D6E3-9B75001D9395}"/>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985419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22E5C8-AC41-D78F-D94C-89DC2BC54520}"/>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3" name="Footer Placeholder 2">
            <a:extLst>
              <a:ext uri="{FF2B5EF4-FFF2-40B4-BE49-F238E27FC236}">
                <a16:creationId xmlns:a16="http://schemas.microsoft.com/office/drawing/2014/main" id="{4FC0B370-CA40-95FA-5C37-54C8CA4108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AC90D2-9850-553B-1213-92F7D999FD52}"/>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3490305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9167D-1908-CE7E-3330-12BA3A41F2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B7A5B1-CA05-B174-F29A-F598258FBB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B992526-E1A5-FAB8-5D7B-53C50F74E9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262BB1-D200-B891-D373-550E967A8E0B}"/>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6" name="Footer Placeholder 5">
            <a:extLst>
              <a:ext uri="{FF2B5EF4-FFF2-40B4-BE49-F238E27FC236}">
                <a16:creationId xmlns:a16="http://schemas.microsoft.com/office/drawing/2014/main" id="{292DE42C-2DE8-9B1F-4FC0-8A5417E735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437ADD-1829-0626-3B60-3E795F25783B}"/>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1469296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673A1-4293-121A-E6F4-51E0942F81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A1152F-1D8B-812C-1E7E-3699915860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B83E22-2E5E-DEF2-4845-4BC9F031B9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D83862-FBC9-3F8B-D794-A4459107C39E}"/>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6" name="Footer Placeholder 5">
            <a:extLst>
              <a:ext uri="{FF2B5EF4-FFF2-40B4-BE49-F238E27FC236}">
                <a16:creationId xmlns:a16="http://schemas.microsoft.com/office/drawing/2014/main" id="{42257BF7-290B-81C9-0D58-DF8AC3CB1D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120A4C-BF0C-9FB8-2DDE-E5DB1D4F03EB}"/>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1421027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57DC6-CAA6-AA84-CDCD-DC38A64F51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0386F8-EFA4-0178-0218-D3A3D02EED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FEBEFB-DA21-48A0-5A30-C0F999CD1809}"/>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5" name="Footer Placeholder 4">
            <a:extLst>
              <a:ext uri="{FF2B5EF4-FFF2-40B4-BE49-F238E27FC236}">
                <a16:creationId xmlns:a16="http://schemas.microsoft.com/office/drawing/2014/main" id="{4A8F40A1-9034-CE9B-2CB9-FC328A7CE9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28250E-88DD-068C-53C5-ACBF1E28D2AB}"/>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4058406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A83D0B-FE53-0AEE-A77E-C07B81DA29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650E7F-5A5C-8450-0688-7244BAD62D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8BC54-CE05-D1EE-9AE6-F54CFA13BC1C}"/>
              </a:ext>
            </a:extLst>
          </p:cNvPr>
          <p:cNvSpPr>
            <a:spLocks noGrp="1"/>
          </p:cNvSpPr>
          <p:nvPr>
            <p:ph type="dt" sz="half" idx="10"/>
          </p:nvPr>
        </p:nvSpPr>
        <p:spPr/>
        <p:txBody>
          <a:bodyPr/>
          <a:lstStyle/>
          <a:p>
            <a:fld id="{D40390A9-2110-4A01-9392-581FE512471A}" type="datetimeFigureOut">
              <a:rPr lang="en-US" smtClean="0"/>
              <a:t>09-Sep-26</a:t>
            </a:fld>
            <a:endParaRPr lang="en-US"/>
          </a:p>
        </p:txBody>
      </p:sp>
      <p:sp>
        <p:nvSpPr>
          <p:cNvPr id="5" name="Footer Placeholder 4">
            <a:extLst>
              <a:ext uri="{FF2B5EF4-FFF2-40B4-BE49-F238E27FC236}">
                <a16:creationId xmlns:a16="http://schemas.microsoft.com/office/drawing/2014/main" id="{4491A976-E090-9A7B-0B63-1740BFCAC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32CC7E-7115-760E-5948-F0E17A1448C0}"/>
              </a:ext>
            </a:extLst>
          </p:cNvPr>
          <p:cNvSpPr>
            <a:spLocks noGrp="1"/>
          </p:cNvSpPr>
          <p:nvPr>
            <p:ph type="sldNum" sz="quarter" idx="12"/>
          </p:nvPr>
        </p:nvSpPr>
        <p:spPr/>
        <p:txBody>
          <a:bodyPr/>
          <a:lstStyle/>
          <a:p>
            <a:fld id="{2FB820D6-DC33-4CF9-8C57-C1A82DE376F2}" type="slidenum">
              <a:rPr lang="en-US" smtClean="0"/>
              <a:t>‹#›</a:t>
            </a:fld>
            <a:endParaRPr lang="en-US"/>
          </a:p>
        </p:txBody>
      </p:sp>
    </p:spTree>
    <p:extLst>
      <p:ext uri="{BB962C8B-B14F-4D97-AF65-F5344CB8AC3E}">
        <p14:creationId xmlns:p14="http://schemas.microsoft.com/office/powerpoint/2010/main" val="1493215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aser_pwm_50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09-Sep-26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506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BB2D20-FB2B-98F0-7B07-B3C01DF793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9D5E38-1701-FD71-ED86-AF260515D3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7CEC6A-B7C3-6B28-2867-E221E3FD60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390A9-2110-4A01-9392-581FE512471A}" type="datetimeFigureOut">
              <a:rPr lang="en-US" smtClean="0"/>
              <a:t>09-Sep-26</a:t>
            </a:fld>
            <a:endParaRPr lang="en-US"/>
          </a:p>
        </p:txBody>
      </p:sp>
      <p:sp>
        <p:nvSpPr>
          <p:cNvPr id="5" name="Footer Placeholder 4">
            <a:extLst>
              <a:ext uri="{FF2B5EF4-FFF2-40B4-BE49-F238E27FC236}">
                <a16:creationId xmlns:a16="http://schemas.microsoft.com/office/drawing/2014/main" id="{0C48D66A-479C-C70B-4989-B2D59ACFDA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E109C25-DE7A-653C-08A0-0A39381A7C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B820D6-DC33-4CF9-8C57-C1A82DE376F2}" type="slidenum">
              <a:rPr lang="en-US" smtClean="0"/>
              <a:t>‹#›</a:t>
            </a:fld>
            <a:endParaRPr lang="en-US"/>
          </a:p>
        </p:txBody>
      </p:sp>
    </p:spTree>
    <p:extLst>
      <p:ext uri="{BB962C8B-B14F-4D97-AF65-F5344CB8AC3E}">
        <p14:creationId xmlns:p14="http://schemas.microsoft.com/office/powerpoint/2010/main" val="12173156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09-Sep-26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062686163"/>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073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D3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D3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134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Góc/độ cong dư, nhám, nứt, độ cứng và</a:t>
              </a:r>
            </a:p>
          </p:txBody>
        </p:sp>
        <p:sp>
          <p:nvSpPr>
            <p:cNvPr id="16" name="TextBox 16"/>
            <p:cNvSpPr txBox="1"/>
            <p:nvPr/>
          </p:nvSpPr>
          <p:spPr>
            <a:xfrm>
              <a:off x="1098423" y="2986564"/>
              <a:ext cx="188255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độ ổn định qua chu kỳ.</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44530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Hình dạng dư lặp lại và bền; tách rõ</a:t>
              </a:r>
            </a:p>
          </p:txBody>
        </p:sp>
        <p:sp>
          <p:nvSpPr>
            <p:cNvPr id="19" name="TextBox 19"/>
            <p:cNvSpPr txBox="1"/>
            <p:nvPr/>
          </p:nvSpPr>
          <p:spPr>
            <a:xfrm>
              <a:off x="1098423" y="3539014"/>
              <a:ext cx="38210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biến dạng nóng tức thời khỏi biến dạng còn lại.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4619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Đây là hướng tạo thay đổi vật liệu vĩnh viễn,</a:t>
              </a:r>
            </a:p>
          </p:txBody>
        </p:sp>
        <p:sp>
          <p:nvSpPr>
            <p:cNvPr id="22" name="TextBox 22"/>
            <p:cNvSpPr txBox="1"/>
            <p:nvPr/>
          </p:nvSpPr>
          <p:spPr>
            <a:xfrm>
              <a:off x="1098423" y="4091464"/>
              <a:ext cx="270738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khác E2 là ưu tiên thuận nghịch.</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P073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074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A1 · RESEARCH DIRECTION</a:t>
              </a:r>
            </a:p>
          </p:txBody>
        </p:sp>
        <p:sp>
          <p:nvSpPr>
            <p:cNvPr id="7" name="TextBox 7"/>
            <p:cNvSpPr txBox="1"/>
            <p:nvPr/>
          </p:nvSpPr>
          <p:spPr>
            <a:xfrm>
              <a:off x="671322" y="930592"/>
              <a:ext cx="824473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A1 — Ủ laser và hoạt hóa sau cấy ion: đó</a:t>
              </a:r>
            </a:p>
          </p:txBody>
        </p:sp>
        <p:sp>
          <p:nvSpPr>
            <p:cNvPr id="8" name="TextBox 8"/>
            <p:cNvSpPr txBox="1"/>
            <p:nvPr/>
          </p:nvSpPr>
          <p:spPr>
            <a:xfrm>
              <a:off x="671322" y="1340168"/>
              <a:ext cx="407266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là gì và vì sao cần?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254423"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Dùng nhiệt cục bộ sau cấy ion để phục hồi tổn thương mạng và thay đổi trạng thái hoạt hóa</a:t>
              </a:r>
            </a:p>
          </p:txBody>
        </p:sp>
        <p:sp>
          <p:nvSpPr>
            <p:cNvPr id="12" name="TextBox 12"/>
            <p:cNvSpPr txBox="1"/>
            <p:nvPr/>
          </p:nvSpPr>
          <p:spPr>
            <a:xfrm>
              <a:off x="907542" y="2187892"/>
              <a:ext cx="840720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điện của dopant. Khảo sát hoạt hóa và đánh đổi khuếch tán–khuyết tật với ngân sách nhiệt…</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78104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nghĩa: Dùng nhiệt cục bộ sau cấy ion để phục hồi tổn</a:t>
              </a:r>
            </a:p>
          </p:txBody>
        </p:sp>
        <p:sp>
          <p:nvSpPr>
            <p:cNvPr id="18" name="TextBox 18"/>
            <p:cNvSpPr txBox="1"/>
            <p:nvPr/>
          </p:nvSpPr>
          <p:spPr>
            <a:xfrm>
              <a:off x="1098423" y="3224689"/>
              <a:ext cx="451033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thương mạng và thay đổi trạng thái hoạt hóa điện của…</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10063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Vì sao cần: Khảo sát hoạt hóa và đánh đổi khuếch</a:t>
              </a:r>
            </a:p>
          </p:txBody>
        </p:sp>
        <p:sp>
          <p:nvSpPr>
            <p:cNvPr id="21" name="TextBox 21"/>
            <p:cNvSpPr txBox="1"/>
            <p:nvPr/>
          </p:nvSpPr>
          <p:spPr>
            <a:xfrm>
              <a:off x="1098423" y="3777139"/>
              <a:ext cx="360569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tán–khuyết tật với ngân sách nhiệt cục bộ.</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905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phải là chức năng hoặc đại lượng đo được, không</a:t>
              </a:r>
            </a:p>
          </p:txBody>
        </p:sp>
        <p:sp>
          <p:nvSpPr>
            <p:cNvPr id="24" name="TextBox 24"/>
            <p:cNvSpPr txBox="1"/>
            <p:nvPr/>
          </p:nvSpPr>
          <p:spPr>
            <a:xfrm>
              <a:off x="1098423" y="4329589"/>
              <a:ext cx="217549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là hiệu ứng nhìn thấy.</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P074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075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A1 · RESEARCH DIRECTION</a:t>
              </a:r>
            </a:p>
          </p:txBody>
        </p:sp>
        <p:sp>
          <p:nvSpPr>
            <p:cNvPr id="7" name="TextBox 7"/>
            <p:cNvSpPr txBox="1"/>
            <p:nvPr/>
          </p:nvSpPr>
          <p:spPr>
            <a:xfrm>
              <a:off x="671322" y="930592"/>
              <a:ext cx="751899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A1 — Cơ chế, bằng chứng và điều kiện</a:t>
              </a:r>
            </a:p>
          </p:txBody>
        </p:sp>
        <p:sp>
          <p:nvSpPr>
            <p:cNvPr id="8" name="TextBox 8"/>
            <p:cNvSpPr txBox="1"/>
            <p:nvPr/>
          </p:nvSpPr>
          <p:spPr>
            <a:xfrm>
              <a:off x="671322" y="1340168"/>
              <a:ext cx="239133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chuyển giao</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191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Cơ chế đề xuất phải được tách khỏi thông số của tài liệu.</a:t>
              </a:r>
            </a:p>
          </p:txBody>
        </p:sp>
      </p:grpSp>
      <p:grpSp>
        <p:nvGrpSpPr>
          <p:cNvPr id="24" name="Group 24"/>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21334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Hấp thụ → lịch sử nhiệt nhanh → tái sắp xếp</a:t>
              </a:r>
            </a:p>
          </p:txBody>
        </p:sp>
        <p:sp>
          <p:nvSpPr>
            <p:cNvPr id="17" name="TextBox 17"/>
            <p:cNvSpPr txBox="1"/>
            <p:nvPr/>
          </p:nvSpPr>
          <p:spPr>
            <a:xfrm>
              <a:off x="1098423" y="3024664"/>
              <a:ext cx="39675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mạng/khuyết tật/dopant → tính điện sau nguội.</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48740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S11 hỗ trợ tiền lệ diode CW 808 nm và ảnh</a:t>
              </a:r>
            </a:p>
          </p:txBody>
        </p:sp>
        <p:sp>
          <p:nvSpPr>
            <p:cNvPr id="20" name="TextBox 20"/>
            <p:cNvSpPr txBox="1"/>
            <p:nvPr/>
          </p:nvSpPr>
          <p:spPr>
            <a:xfrm>
              <a:off x="1098423" y="3577114"/>
              <a:ext cx="477985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hưởng pattern; S26 cung cấp dữ liệu quang học Si. Không…</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148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Nêu rõ điều kiện còn thiếu: nguồn, stack, detector, hóa</a:t>
              </a:r>
            </a:p>
          </p:txBody>
        </p:sp>
        <p:sp>
          <p:nvSpPr>
            <p:cNvPr id="23" name="TextBox 23"/>
            <p:cNvSpPr txBox="1"/>
            <p:nvPr/>
          </p:nvSpPr>
          <p:spPr>
            <a:xfrm>
              <a:off x="1098423" y="4129564"/>
              <a:ext cx="2683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nhiệt độ hoặc môi trường.</a:t>
              </a:r>
            </a:p>
          </p:txBody>
        </p:sp>
      </p:grpSp>
      <p:grpSp>
        <p:nvGrpSpPr>
          <p:cNvPr id="39" name="Group 39"/>
          <p:cNvGrpSpPr/>
          <p:nvPr/>
        </p:nvGrpSpPr>
        <p:grpSpPr>
          <a:xfrm>
            <a:off x="6953250" y="2657475"/>
            <a:ext cx="4552950" cy="3190875"/>
            <a:chOff x="6953250" y="2657475"/>
            <a:chExt cx="4552950" cy="3190875"/>
          </a:xfrm>
        </p:grpSpPr>
        <p:sp>
          <p:nvSpPr>
            <p:cNvPr id="25" name="Rectangle 25"/>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6" name="TextBox 26"/>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7" name="Rectangle 27"/>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28" name="Ellipse 28"/>
            <p:cNvSpPr/>
            <p:nvPr/>
          </p:nvSpPr>
          <p:spPr>
            <a:xfrm>
              <a:off x="7296150" y="3438525"/>
              <a:ext cx="152400" cy="152400"/>
            </a:xfrm>
            <a:prstGeom prst="ellipse">
              <a:avLst/>
            </a:prstGeom>
            <a:solidFill>
              <a:srgbClr val="D7B46A"/>
            </a:solidFill>
            <a:ln>
              <a:noFill/>
            </a:ln>
          </p:spPr>
        </p:sp>
        <p:sp>
          <p:nvSpPr>
            <p:cNvPr id="29" name="TextBox 29"/>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0" name="TextBox 30"/>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1" name="Rectangle 31"/>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2" name="Ellipse 32"/>
            <p:cNvSpPr/>
            <p:nvPr/>
          </p:nvSpPr>
          <p:spPr>
            <a:xfrm>
              <a:off x="7296150" y="4152900"/>
              <a:ext cx="152400" cy="152400"/>
            </a:xfrm>
            <a:prstGeom prst="ellipse">
              <a:avLst/>
            </a:prstGeom>
            <a:solidFill>
              <a:srgbClr val="D7B46A"/>
            </a:solidFill>
            <a:ln>
              <a:noFill/>
            </a:ln>
          </p:spPr>
        </p:sp>
        <p:sp>
          <p:nvSpPr>
            <p:cNvPr id="33" name="TextBox 33"/>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4" name="TextBox 34"/>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5" name="Rectangle 35"/>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6" name="Ellipse 36"/>
            <p:cNvSpPr/>
            <p:nvPr/>
          </p:nvSpPr>
          <p:spPr>
            <a:xfrm>
              <a:off x="7296150" y="4867275"/>
              <a:ext cx="152400" cy="152400"/>
            </a:xfrm>
            <a:prstGeom prst="ellipse">
              <a:avLst/>
            </a:prstGeom>
            <a:solidFill>
              <a:srgbClr val="D78678"/>
            </a:solidFill>
            <a:ln>
              <a:noFill/>
            </a:ln>
          </p:spPr>
        </p:sp>
        <p:sp>
          <p:nvSpPr>
            <p:cNvPr id="37" name="TextBox 37"/>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38" name="TextBox 38"/>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2" name="Group 42"/>
          <p:cNvGrpSpPr/>
          <p:nvPr/>
        </p:nvGrpSpPr>
        <p:grpSpPr>
          <a:xfrm>
            <a:off x="685800" y="6343650"/>
            <a:ext cx="10825353" cy="314039"/>
            <a:chOff x="685800" y="6343650"/>
            <a:chExt cx="10825353" cy="314039"/>
          </a:xfrm>
        </p:grpSpPr>
        <p:sp>
          <p:nvSpPr>
            <p:cNvPr id="40" name="Line 40"/>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1" name="TextBox 41"/>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P075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076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A1 · RESEARCH DIRECTION</a:t>
              </a:r>
            </a:p>
          </p:txBody>
        </p:sp>
        <p:sp>
          <p:nvSpPr>
            <p:cNvPr id="7" name="TextBox 7"/>
            <p:cNvSpPr txBox="1"/>
            <p:nvPr/>
          </p:nvSpPr>
          <p:spPr>
            <a:xfrm>
              <a:off x="671322" y="930592"/>
              <a:ext cx="626796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A1 — Mẫu thử và hình minh họa</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17461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Hình phải giúp người nghe nhìn thấy mẫu, vị trí chiếu và đường đo.</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62584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đầu tiên: Mặt cắt silicon có vùng cấy ion; line scan</a:t>
              </a:r>
            </a:p>
          </p:txBody>
        </p:sp>
        <p:sp>
          <p:nvSpPr>
            <p:cNvPr id="16" name="TextBox 16"/>
            <p:cNvSpPr txBox="1"/>
            <p:nvPr/>
          </p:nvSpPr>
          <p:spPr>
            <a:xfrm>
              <a:off x="1098423" y="2986564"/>
              <a:ext cx="441556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laser; wafer/điều kiện cấy phải được chốt trước khi…</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322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Bố trí: laser/optics, stage/gá, camera/cảm biến và đối</a:t>
              </a:r>
            </a:p>
          </p:txBody>
        </p:sp>
        <p:sp>
          <p:nvSpPr>
            <p:cNvPr id="19" name="TextBox 19"/>
            <p:cNvSpPr txBox="1"/>
            <p:nvPr/>
          </p:nvSpPr>
          <p:spPr>
            <a:xfrm>
              <a:off x="1098423" y="3539014"/>
              <a:ext cx="5815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Chưa có ảnh thật thì dùng sơ đồ concept; không tạo ảnh</a:t>
              </a:r>
            </a:p>
          </p:txBody>
        </p:sp>
        <p:sp>
          <p:nvSpPr>
            <p:cNvPr id="22" name="TextBox 22"/>
            <p:cNvSpPr txBox="1"/>
            <p:nvPr/>
          </p:nvSpPr>
          <p:spPr>
            <a:xfrm>
              <a:off x="1098423" y="4091464"/>
              <a:ext cx="21569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giả SEM/PL/thermal map.</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P076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077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A1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A1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49747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Rs, đồng đều, hình thái, dấu hiệu hư</a:t>
              </a:r>
            </a:p>
          </p:txBody>
        </p:sp>
        <p:sp>
          <p:nvSpPr>
            <p:cNvPr id="16" name="TextBox 16"/>
            <p:cNvSpPr txBox="1"/>
            <p:nvPr/>
          </p:nvSpPr>
          <p:spPr>
            <a:xfrm>
              <a:off x="1098423" y="2986564"/>
              <a:ext cx="462813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hỏng; Hall/SIMS nếu tuyên bố hoạt hóa/phân bố dopant.</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55701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Có cửa sổ nhiệt lặp lại, đo điện có sai</a:t>
              </a:r>
            </a:p>
          </p:txBody>
        </p:sp>
        <p:sp>
          <p:nvSpPr>
            <p:cNvPr id="19" name="TextBox 19"/>
            <p:cNvSpPr txBox="1"/>
            <p:nvPr/>
          </p:nvSpPr>
          <p:spPr>
            <a:xfrm>
              <a:off x="1098423" y="3539014"/>
              <a:ext cx="284751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số và không vượt giới hạn hư hỏng.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40207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Ellipsometry không thay Hall/SIMS; Rs giảm</a:t>
              </a:r>
            </a:p>
          </p:txBody>
        </p:sp>
        <p:sp>
          <p:nvSpPr>
            <p:cNvPr id="22" name="TextBox 22"/>
            <p:cNvSpPr txBox="1"/>
            <p:nvPr/>
          </p:nvSpPr>
          <p:spPr>
            <a:xfrm>
              <a:off x="1098423" y="4091464"/>
              <a:ext cx="258042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không chỉ có một nguyên nhân.</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P077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078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C3 · RESEARCH DIRECTION</a:t>
              </a:r>
            </a:p>
          </p:txBody>
        </p:sp>
        <p:sp>
          <p:nvSpPr>
            <p:cNvPr id="7" name="TextBox 7"/>
            <p:cNvSpPr txBox="1"/>
            <p:nvPr/>
          </p:nvSpPr>
          <p:spPr>
            <a:xfrm>
              <a:off x="671322" y="930592"/>
              <a:ext cx="798085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C3 — Chụp ảnh phát quang trên silicon:</a:t>
              </a:r>
            </a:p>
          </p:txBody>
        </p:sp>
        <p:sp>
          <p:nvSpPr>
            <p:cNvPr id="8" name="TextBox 8"/>
            <p:cNvSpPr txBox="1"/>
            <p:nvPr/>
          </p:nvSpPr>
          <p:spPr>
            <a:xfrm>
              <a:off x="671322" y="1340168"/>
              <a:ext cx="4668576"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đó là gì và vì sao cần?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397562"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Kích thích silicon và ghi ánh sáng phát quang để xem vùng không đồng đều, khuyết tật hoặc</a:t>
              </a:r>
            </a:p>
          </p:txBody>
        </p:sp>
        <p:sp>
          <p:nvSpPr>
            <p:cNvPr id="12" name="TextBox 12"/>
            <p:cNvSpPr txBox="1"/>
            <p:nvPr/>
          </p:nvSpPr>
          <p:spPr>
            <a:xfrm>
              <a:off x="907542" y="2187892"/>
              <a:ext cx="7984720"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trạng thái tái hợp. Quan sát vùng tái hợp/không đồng đều trong Si bằng tín hiệu phát…</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82369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nghĩa: Kích thích silicon và ghi ánh sáng phát quang</a:t>
              </a:r>
            </a:p>
          </p:txBody>
        </p:sp>
        <p:sp>
          <p:nvSpPr>
            <p:cNvPr id="18" name="TextBox 18"/>
            <p:cNvSpPr txBox="1"/>
            <p:nvPr/>
          </p:nvSpPr>
          <p:spPr>
            <a:xfrm>
              <a:off x="1098423" y="3224689"/>
              <a:ext cx="478604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để xem vùng không đồng đều, khuyết tật hoặc trạng thái…</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90824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Vì sao cần: Quan sát vùng tái hợp/không đồng đều trong Si</a:t>
              </a:r>
            </a:p>
          </p:txBody>
        </p:sp>
        <p:sp>
          <p:nvSpPr>
            <p:cNvPr id="21" name="TextBox 21"/>
            <p:cNvSpPr txBox="1"/>
            <p:nvPr/>
          </p:nvSpPr>
          <p:spPr>
            <a:xfrm>
              <a:off x="1098423" y="3777139"/>
              <a:ext cx="216687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tín hiệu phát quang.</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905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phải là chức năng hoặc đại lượng đo được, không</a:t>
              </a:r>
            </a:p>
          </p:txBody>
        </p:sp>
        <p:sp>
          <p:nvSpPr>
            <p:cNvPr id="24" name="TextBox 24"/>
            <p:cNvSpPr txBox="1"/>
            <p:nvPr/>
          </p:nvSpPr>
          <p:spPr>
            <a:xfrm>
              <a:off x="1098423" y="4329589"/>
              <a:ext cx="217549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là hiệu ứng nhìn thấy.</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P078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079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C3 · RESEARCH DIRECTION</a:t>
              </a:r>
            </a:p>
          </p:txBody>
        </p:sp>
        <p:sp>
          <p:nvSpPr>
            <p:cNvPr id="7" name="TextBox 7"/>
            <p:cNvSpPr txBox="1"/>
            <p:nvPr/>
          </p:nvSpPr>
          <p:spPr>
            <a:xfrm>
              <a:off x="671322" y="930592"/>
              <a:ext cx="751899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C3 — Cơ chế, bằng chứng và điều kiện</a:t>
              </a:r>
            </a:p>
          </p:txBody>
        </p:sp>
        <p:sp>
          <p:nvSpPr>
            <p:cNvPr id="8" name="TextBox 8"/>
            <p:cNvSpPr txBox="1"/>
            <p:nvPr/>
          </p:nvSpPr>
          <p:spPr>
            <a:xfrm>
              <a:off x="671322" y="1340168"/>
              <a:ext cx="239133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chuyển giao</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191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Cơ chế đề xuất phải được tách khỏi thông số của tài liệu.</a:t>
              </a:r>
            </a:p>
          </p:txBody>
        </p:sp>
      </p:grpSp>
      <p:grpSp>
        <p:nvGrpSpPr>
          <p:cNvPr id="24" name="Group 24"/>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54067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Kích thích tạo hạt tải → tái hợp phát photon →</a:t>
              </a:r>
            </a:p>
          </p:txBody>
        </p:sp>
        <p:sp>
          <p:nvSpPr>
            <p:cNvPr id="17" name="TextBox 17"/>
            <p:cNvSpPr txBox="1"/>
            <p:nvPr/>
          </p:nvSpPr>
          <p:spPr>
            <a:xfrm>
              <a:off x="1098423" y="3024664"/>
              <a:ext cx="484635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detector ghi phổ/cường độ; tín hiệu phụ thuộc bước sóng…</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13863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S16/S17 hỗ trợ PL/EL và giới hạn phổ</a:t>
              </a:r>
            </a:p>
          </p:txBody>
        </p:sp>
        <p:sp>
          <p:nvSpPr>
            <p:cNvPr id="20" name="TextBox 20"/>
            <p:cNvSpPr txBox="1"/>
            <p:nvPr/>
          </p:nvSpPr>
          <p:spPr>
            <a:xfrm>
              <a:off x="1098423" y="3577114"/>
              <a:ext cx="484770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detector; không mặc định camera hiện có đủ dải NIR hoặc…</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148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Nêu rõ điều kiện còn thiếu: nguồn, stack, detector, hóa</a:t>
              </a:r>
            </a:p>
          </p:txBody>
        </p:sp>
        <p:sp>
          <p:nvSpPr>
            <p:cNvPr id="23" name="TextBox 23"/>
            <p:cNvSpPr txBox="1"/>
            <p:nvPr/>
          </p:nvSpPr>
          <p:spPr>
            <a:xfrm>
              <a:off x="1098423" y="4129564"/>
              <a:ext cx="2683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nhiệt độ hoặc môi trường.</a:t>
              </a:r>
            </a:p>
          </p:txBody>
        </p:sp>
      </p:grpSp>
      <p:grpSp>
        <p:nvGrpSpPr>
          <p:cNvPr id="39" name="Group 39"/>
          <p:cNvGrpSpPr/>
          <p:nvPr/>
        </p:nvGrpSpPr>
        <p:grpSpPr>
          <a:xfrm>
            <a:off x="6953250" y="2657475"/>
            <a:ext cx="4552950" cy="3190875"/>
            <a:chOff x="6953250" y="2657475"/>
            <a:chExt cx="4552950" cy="3190875"/>
          </a:xfrm>
        </p:grpSpPr>
        <p:sp>
          <p:nvSpPr>
            <p:cNvPr id="25" name="Rectangle 25"/>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6" name="TextBox 26"/>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7" name="Rectangle 27"/>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28" name="Ellipse 28"/>
            <p:cNvSpPr/>
            <p:nvPr/>
          </p:nvSpPr>
          <p:spPr>
            <a:xfrm>
              <a:off x="7296150" y="3438525"/>
              <a:ext cx="152400" cy="152400"/>
            </a:xfrm>
            <a:prstGeom prst="ellipse">
              <a:avLst/>
            </a:prstGeom>
            <a:solidFill>
              <a:srgbClr val="D7B46A"/>
            </a:solidFill>
            <a:ln>
              <a:noFill/>
            </a:ln>
          </p:spPr>
        </p:sp>
        <p:sp>
          <p:nvSpPr>
            <p:cNvPr id="29" name="TextBox 29"/>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0" name="TextBox 30"/>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1" name="Rectangle 31"/>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2" name="Ellipse 32"/>
            <p:cNvSpPr/>
            <p:nvPr/>
          </p:nvSpPr>
          <p:spPr>
            <a:xfrm>
              <a:off x="7296150" y="4152900"/>
              <a:ext cx="152400" cy="152400"/>
            </a:xfrm>
            <a:prstGeom prst="ellipse">
              <a:avLst/>
            </a:prstGeom>
            <a:solidFill>
              <a:srgbClr val="D7B46A"/>
            </a:solidFill>
            <a:ln>
              <a:noFill/>
            </a:ln>
          </p:spPr>
        </p:sp>
        <p:sp>
          <p:nvSpPr>
            <p:cNvPr id="33" name="TextBox 33"/>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4" name="TextBox 34"/>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5" name="Rectangle 35"/>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6" name="Ellipse 36"/>
            <p:cNvSpPr/>
            <p:nvPr/>
          </p:nvSpPr>
          <p:spPr>
            <a:xfrm>
              <a:off x="7296150" y="4867275"/>
              <a:ext cx="152400" cy="152400"/>
            </a:xfrm>
            <a:prstGeom prst="ellipse">
              <a:avLst/>
            </a:prstGeom>
            <a:solidFill>
              <a:srgbClr val="D78678"/>
            </a:solidFill>
            <a:ln>
              <a:noFill/>
            </a:ln>
          </p:spPr>
        </p:sp>
        <p:sp>
          <p:nvSpPr>
            <p:cNvPr id="37" name="TextBox 37"/>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38" name="TextBox 38"/>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2" name="Group 42"/>
          <p:cNvGrpSpPr/>
          <p:nvPr/>
        </p:nvGrpSpPr>
        <p:grpSpPr>
          <a:xfrm>
            <a:off x="685800" y="6343650"/>
            <a:ext cx="10825353" cy="314039"/>
            <a:chOff x="685800" y="6343650"/>
            <a:chExt cx="10825353" cy="314039"/>
          </a:xfrm>
        </p:grpSpPr>
        <p:sp>
          <p:nvSpPr>
            <p:cNvPr id="40" name="Line 40"/>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1" name="TextBox 41"/>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P079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080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C3 · RESEARCH DIRECTION</a:t>
              </a:r>
            </a:p>
          </p:txBody>
        </p:sp>
        <p:sp>
          <p:nvSpPr>
            <p:cNvPr id="7" name="TextBox 7"/>
            <p:cNvSpPr txBox="1"/>
            <p:nvPr/>
          </p:nvSpPr>
          <p:spPr>
            <a:xfrm>
              <a:off x="671322" y="930592"/>
              <a:ext cx="626796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C3 — Mẫu thử và hình minh họa</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17461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Hình phải giúp người nghe nhìn thấy mẫu, vị trí chiếu và đường đo.</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69334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đầu tiên: Wafer Si tham chiếu và mẫu có vùng xử lý;</a:t>
              </a:r>
            </a:p>
          </p:txBody>
        </p:sp>
        <p:sp>
          <p:nvSpPr>
            <p:cNvPr id="16" name="TextBox 16"/>
            <p:cNvSpPr txBox="1"/>
            <p:nvPr/>
          </p:nvSpPr>
          <p:spPr>
            <a:xfrm>
              <a:off x="1098423" y="2986564"/>
              <a:ext cx="356261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cần điều kiện nền/tối và detector phù hợp.</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322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Bố trí: laser/optics, stage/gá, camera/cảm biến và đối</a:t>
              </a:r>
            </a:p>
          </p:txBody>
        </p:sp>
        <p:sp>
          <p:nvSpPr>
            <p:cNvPr id="19" name="TextBox 19"/>
            <p:cNvSpPr txBox="1"/>
            <p:nvPr/>
          </p:nvSpPr>
          <p:spPr>
            <a:xfrm>
              <a:off x="1098423" y="3539014"/>
              <a:ext cx="5815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Chưa có ảnh thật thì dùng sơ đồ concept; không tạo ảnh</a:t>
              </a:r>
            </a:p>
          </p:txBody>
        </p:sp>
        <p:sp>
          <p:nvSpPr>
            <p:cNvPr id="22" name="TextBox 22"/>
            <p:cNvSpPr txBox="1"/>
            <p:nvPr/>
          </p:nvSpPr>
          <p:spPr>
            <a:xfrm>
              <a:off x="1098423" y="4091464"/>
              <a:ext cx="21569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giả SEM/PL/thermal map.</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P080</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081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C3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C3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58214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Cường độ/phổ PL, SNR, độ lặp lại, phụ</a:t>
              </a:r>
            </a:p>
          </p:txBody>
        </p:sp>
        <p:sp>
          <p:nvSpPr>
            <p:cNvPr id="16" name="TextBox 16"/>
            <p:cNvSpPr txBox="1"/>
            <p:nvPr/>
          </p:nvSpPr>
          <p:spPr>
            <a:xfrm>
              <a:off x="1098423" y="2986564"/>
              <a:ext cx="250288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thuộc công suất và nhiệt nền.</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8462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Tách được tín hiệu PL khỏi ánh sáng tán</a:t>
              </a:r>
            </a:p>
          </p:txBody>
        </p:sp>
        <p:sp>
          <p:nvSpPr>
            <p:cNvPr id="19" name="TextBox 19"/>
            <p:cNvSpPr txBox="1"/>
            <p:nvPr/>
          </p:nvSpPr>
          <p:spPr>
            <a:xfrm>
              <a:off x="1098423" y="3539014"/>
              <a:ext cx="277858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xạ/nhiệt và có chuẩn tham chiếu.</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3276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NIR rộng có thể cần InGaAs; camera silicon</a:t>
              </a:r>
            </a:p>
          </p:txBody>
        </p:sp>
        <p:sp>
          <p:nvSpPr>
            <p:cNvPr id="22" name="TextBox 22"/>
            <p:cNvSpPr txBox="1"/>
            <p:nvPr/>
          </p:nvSpPr>
          <p:spPr>
            <a:xfrm>
              <a:off x="1098423" y="4091464"/>
              <a:ext cx="188255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không tự ghi toàn phổ.</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082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A2 · RESEARCH DIRECTION</a:t>
              </a:r>
            </a:p>
          </p:txBody>
        </p:sp>
        <p:sp>
          <p:nvSpPr>
            <p:cNvPr id="7" name="TextBox 7"/>
            <p:cNvSpPr txBox="1"/>
            <p:nvPr/>
          </p:nvSpPr>
          <p:spPr>
            <a:xfrm>
              <a:off x="671322" y="930592"/>
              <a:ext cx="8263319"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A2 — Tái kết tinh a-Si thành poly-Si: đó</a:t>
              </a:r>
            </a:p>
          </p:txBody>
        </p:sp>
        <p:sp>
          <p:nvSpPr>
            <p:cNvPr id="8" name="TextBox 8"/>
            <p:cNvSpPr txBox="1"/>
            <p:nvPr/>
          </p:nvSpPr>
          <p:spPr>
            <a:xfrm>
              <a:off x="671322" y="1340168"/>
              <a:ext cx="407266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là gì và vì sao cần?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761217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Dùng xử lý nhiệt cục bộ để biến silicon vô định hình (a-Si) thành silicon đa tinh thể</a:t>
              </a:r>
            </a:p>
          </p:txBody>
        </p:sp>
        <p:sp>
          <p:nvSpPr>
            <p:cNvPr id="12" name="TextBox 12"/>
            <p:cNvSpPr txBox="1"/>
            <p:nvPr/>
          </p:nvSpPr>
          <p:spPr>
            <a:xfrm>
              <a:off x="907542" y="2187892"/>
              <a:ext cx="7560547"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(poly-Si). Tạo poly-Si từ a-Si bằng xử lý nhiệt vùng và nghiên cứu cửa sổ kết tinh.</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41015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nghĩa: Dùng xử lý nhiệt cục bộ để biến silicon vô</a:t>
              </a:r>
            </a:p>
          </p:txBody>
        </p:sp>
        <p:sp>
          <p:nvSpPr>
            <p:cNvPr id="18" name="TextBox 18"/>
            <p:cNvSpPr txBox="1"/>
            <p:nvPr/>
          </p:nvSpPr>
          <p:spPr>
            <a:xfrm>
              <a:off x="1098423" y="3224689"/>
              <a:ext cx="440275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hình (a-Si) thành silicon đa tinh thể (poly-Si).</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61314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Vì sao cần: Tạo poly-Si từ a-Si bằng xử lý nhiệt vùng và</a:t>
              </a:r>
            </a:p>
          </p:txBody>
        </p:sp>
        <p:sp>
          <p:nvSpPr>
            <p:cNvPr id="21" name="TextBox 21"/>
            <p:cNvSpPr txBox="1"/>
            <p:nvPr/>
          </p:nvSpPr>
          <p:spPr>
            <a:xfrm>
              <a:off x="1098423" y="3777139"/>
              <a:ext cx="227026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nghiên cứu cửa sổ kết tinh.</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905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phải là chức năng hoặc đại lượng đo được, không</a:t>
              </a:r>
            </a:p>
          </p:txBody>
        </p:sp>
        <p:sp>
          <p:nvSpPr>
            <p:cNvPr id="24" name="TextBox 24"/>
            <p:cNvSpPr txBox="1"/>
            <p:nvPr/>
          </p:nvSpPr>
          <p:spPr>
            <a:xfrm>
              <a:off x="1098423" y="4329589"/>
              <a:ext cx="217549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là hiệu ứng nhìn thấy.</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083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A2 · RESEARCH DIRECTION</a:t>
              </a:r>
            </a:p>
          </p:txBody>
        </p:sp>
        <p:sp>
          <p:nvSpPr>
            <p:cNvPr id="7" name="TextBox 7"/>
            <p:cNvSpPr txBox="1"/>
            <p:nvPr/>
          </p:nvSpPr>
          <p:spPr>
            <a:xfrm>
              <a:off x="671322" y="930592"/>
              <a:ext cx="751899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A2 — Cơ chế, bằng chứng và điều kiện</a:t>
              </a:r>
            </a:p>
          </p:txBody>
        </p:sp>
        <p:sp>
          <p:nvSpPr>
            <p:cNvPr id="8" name="TextBox 8"/>
            <p:cNvSpPr txBox="1"/>
            <p:nvPr/>
          </p:nvSpPr>
          <p:spPr>
            <a:xfrm>
              <a:off x="671322" y="1340168"/>
              <a:ext cx="239133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chuyển giao</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191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Cơ chế đề xuất phải được tách khỏi thông số của tài liệu.</a:t>
              </a:r>
            </a:p>
          </p:txBody>
        </p:sp>
      </p:grpSp>
      <p:grpSp>
        <p:nvGrpSpPr>
          <p:cNvPr id="24" name="Group 24"/>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85969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Hấp thụ → nung/di chuyển mặt nóng chảy → kết tinh</a:t>
              </a:r>
            </a:p>
          </p:txBody>
        </p:sp>
        <p:sp>
          <p:nvSpPr>
            <p:cNvPr id="17" name="TextBox 17"/>
            <p:cNvSpPr txBox="1"/>
            <p:nvPr/>
          </p:nvSpPr>
          <p:spPr>
            <a:xfrm>
              <a:off x="1098423" y="3024664"/>
              <a:ext cx="40364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khi nguội; phụ thuộc màng, nền và lịch sử nhiệt.</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68469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S12–S14 hỗ trợ laser crystallization và ảnh</a:t>
              </a:r>
            </a:p>
          </p:txBody>
        </p:sp>
        <p:sp>
          <p:nvSpPr>
            <p:cNvPr id="20" name="TextBox 20"/>
            <p:cNvSpPr txBox="1"/>
            <p:nvPr/>
          </p:nvSpPr>
          <p:spPr>
            <a:xfrm>
              <a:off x="1098423" y="3577114"/>
              <a:ext cx="466542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hưởng bước sóng/điều kiện; không chuyển trực tiếp line…</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148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Nêu rõ điều kiện còn thiếu: nguồn, stack, detector, hóa</a:t>
              </a:r>
            </a:p>
          </p:txBody>
        </p:sp>
        <p:sp>
          <p:nvSpPr>
            <p:cNvPr id="23" name="TextBox 23"/>
            <p:cNvSpPr txBox="1"/>
            <p:nvPr/>
          </p:nvSpPr>
          <p:spPr>
            <a:xfrm>
              <a:off x="1098423" y="4129564"/>
              <a:ext cx="2683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nhiệt độ hoặc môi trường.</a:t>
              </a:r>
            </a:p>
          </p:txBody>
        </p:sp>
      </p:grpSp>
      <p:grpSp>
        <p:nvGrpSpPr>
          <p:cNvPr id="39" name="Group 39"/>
          <p:cNvGrpSpPr/>
          <p:nvPr/>
        </p:nvGrpSpPr>
        <p:grpSpPr>
          <a:xfrm>
            <a:off x="6953250" y="2657475"/>
            <a:ext cx="4552950" cy="3190875"/>
            <a:chOff x="6953250" y="2657475"/>
            <a:chExt cx="4552950" cy="3190875"/>
          </a:xfrm>
        </p:grpSpPr>
        <p:sp>
          <p:nvSpPr>
            <p:cNvPr id="25" name="Rectangle 25"/>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6" name="TextBox 26"/>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7" name="Rectangle 27"/>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28" name="Ellipse 28"/>
            <p:cNvSpPr/>
            <p:nvPr/>
          </p:nvSpPr>
          <p:spPr>
            <a:xfrm>
              <a:off x="7296150" y="3438525"/>
              <a:ext cx="152400" cy="152400"/>
            </a:xfrm>
            <a:prstGeom prst="ellipse">
              <a:avLst/>
            </a:prstGeom>
            <a:solidFill>
              <a:srgbClr val="D7B46A"/>
            </a:solidFill>
            <a:ln>
              <a:noFill/>
            </a:ln>
          </p:spPr>
        </p:sp>
        <p:sp>
          <p:nvSpPr>
            <p:cNvPr id="29" name="TextBox 29"/>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0" name="TextBox 30"/>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1" name="Rectangle 31"/>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2" name="Ellipse 32"/>
            <p:cNvSpPr/>
            <p:nvPr/>
          </p:nvSpPr>
          <p:spPr>
            <a:xfrm>
              <a:off x="7296150" y="4152900"/>
              <a:ext cx="152400" cy="152400"/>
            </a:xfrm>
            <a:prstGeom prst="ellipse">
              <a:avLst/>
            </a:prstGeom>
            <a:solidFill>
              <a:srgbClr val="D7B46A"/>
            </a:solidFill>
            <a:ln>
              <a:noFill/>
            </a:ln>
          </p:spPr>
        </p:sp>
        <p:sp>
          <p:nvSpPr>
            <p:cNvPr id="33" name="TextBox 33"/>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4" name="TextBox 34"/>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5" name="Rectangle 35"/>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6" name="Ellipse 36"/>
            <p:cNvSpPr/>
            <p:nvPr/>
          </p:nvSpPr>
          <p:spPr>
            <a:xfrm>
              <a:off x="7296150" y="4867275"/>
              <a:ext cx="152400" cy="152400"/>
            </a:xfrm>
            <a:prstGeom prst="ellipse">
              <a:avLst/>
            </a:prstGeom>
            <a:solidFill>
              <a:srgbClr val="D78678"/>
            </a:solidFill>
            <a:ln>
              <a:noFill/>
            </a:ln>
          </p:spPr>
        </p:sp>
        <p:sp>
          <p:nvSpPr>
            <p:cNvPr id="37" name="TextBox 37"/>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38" name="TextBox 38"/>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2" name="Group 42"/>
          <p:cNvGrpSpPr/>
          <p:nvPr/>
        </p:nvGrpSpPr>
        <p:grpSpPr>
          <a:xfrm>
            <a:off x="685800" y="6343650"/>
            <a:ext cx="10825353" cy="314039"/>
            <a:chOff x="685800" y="6343650"/>
            <a:chExt cx="10825353" cy="314039"/>
          </a:xfrm>
        </p:grpSpPr>
        <p:sp>
          <p:nvSpPr>
            <p:cNvPr id="40" name="Line 40"/>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1" name="TextBox 41"/>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084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A2 · RESEARCH DIRECTION</a:t>
              </a:r>
            </a:p>
          </p:txBody>
        </p:sp>
        <p:sp>
          <p:nvSpPr>
            <p:cNvPr id="7" name="TextBox 7"/>
            <p:cNvSpPr txBox="1"/>
            <p:nvPr/>
          </p:nvSpPr>
          <p:spPr>
            <a:xfrm>
              <a:off x="671322" y="930592"/>
              <a:ext cx="626796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A2 — Mẫu thử và hình minh họa</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17461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Hình phải giúp người nghe nhìn thấy mẫu, vị trí chiếu và đường đo.</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9432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đầu tiên: Màng a-Si trên kính/oxide, có vùng không xử</a:t>
              </a:r>
            </a:p>
          </p:txBody>
        </p:sp>
        <p:sp>
          <p:nvSpPr>
            <p:cNvPr id="16" name="TextBox 16"/>
            <p:cNvSpPr txBox="1"/>
            <p:nvPr/>
          </p:nvSpPr>
          <p:spPr>
            <a:xfrm>
              <a:off x="1098423" y="2986564"/>
              <a:ext cx="239088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lý và mẫu anneal tham chiếu.</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322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Bố trí: laser/optics, stage/gá, camera/cảm biến và đối</a:t>
              </a:r>
            </a:p>
          </p:txBody>
        </p:sp>
        <p:sp>
          <p:nvSpPr>
            <p:cNvPr id="19" name="TextBox 19"/>
            <p:cNvSpPr txBox="1"/>
            <p:nvPr/>
          </p:nvSpPr>
          <p:spPr>
            <a:xfrm>
              <a:off x="1098423" y="3539014"/>
              <a:ext cx="5815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Chưa có ảnh thật thì dùng sơ đồ concept; không tạo ảnh</a:t>
              </a:r>
            </a:p>
          </p:txBody>
        </p:sp>
        <p:sp>
          <p:nvSpPr>
            <p:cNvPr id="22" name="TextBox 22"/>
            <p:cNvSpPr txBox="1"/>
            <p:nvPr/>
          </p:nvSpPr>
          <p:spPr>
            <a:xfrm>
              <a:off x="1098423" y="4091464"/>
              <a:ext cx="21569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giả SEM/PL/thermal map.</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085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A2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A2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97684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Raman/XRD/SEM nếu có, hình thái hạt, độ</a:t>
              </a:r>
            </a:p>
          </p:txBody>
        </p:sp>
        <p:sp>
          <p:nvSpPr>
            <p:cNvPr id="16" name="TextBox 16"/>
            <p:cNvSpPr txBox="1"/>
            <p:nvPr/>
          </p:nvSpPr>
          <p:spPr>
            <a:xfrm>
              <a:off x="1098423" y="2986564"/>
              <a:ext cx="308013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dày, điện trở và đồng đều vùng quét.</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81588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Có bằng chứng pha/hạt độc lập và cửa sổ</a:t>
              </a:r>
            </a:p>
          </p:txBody>
        </p:sp>
        <p:sp>
          <p:nvSpPr>
            <p:cNvPr id="19" name="TextBox 19"/>
            <p:cNvSpPr txBox="1"/>
            <p:nvPr/>
          </p:nvSpPr>
          <p:spPr>
            <a:xfrm>
              <a:off x="1098423" y="3539014"/>
              <a:ext cx="460511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không phá nền; không kết luận chỉ từ đổi màu/điện trở.</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22" name="TextBox 22"/>
            <p:cNvSpPr txBox="1"/>
            <p:nvPr/>
          </p:nvSpPr>
          <p:spPr>
            <a:xfrm>
              <a:off x="1098423" y="409146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086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A7 · RESEARCH DIRECTION</a:t>
              </a:r>
            </a:p>
          </p:txBody>
        </p:sp>
        <p:sp>
          <p:nvSpPr>
            <p:cNvPr id="7" name="TextBox 7"/>
            <p:cNvSpPr txBox="1"/>
            <p:nvPr/>
          </p:nvSpPr>
          <p:spPr>
            <a:xfrm>
              <a:off x="671322" y="930592"/>
              <a:ext cx="834387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A7 — Laser doping và tạo vùng tiếp giáp:</a:t>
              </a:r>
            </a:p>
          </p:txBody>
        </p:sp>
        <p:sp>
          <p:nvSpPr>
            <p:cNvPr id="8" name="TextBox 8"/>
            <p:cNvSpPr txBox="1"/>
            <p:nvPr/>
          </p:nvSpPr>
          <p:spPr>
            <a:xfrm>
              <a:off x="671322" y="1340168"/>
              <a:ext cx="4668576"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đó là gì và vì sao cần?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158934"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Tạo vùng pha tạp hoặc junction cục bộ bằng xử lý laser kết hợp nguồn dopant/vật liệu phù</a:t>
              </a:r>
            </a:p>
          </p:txBody>
        </p:sp>
        <p:sp>
          <p:nvSpPr>
            <p:cNvPr id="12" name="TextBox 12"/>
            <p:cNvSpPr txBox="1"/>
            <p:nvPr/>
          </p:nvSpPr>
          <p:spPr>
            <a:xfrm>
              <a:off x="907542" y="2187892"/>
              <a:ext cx="6524642"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hợp. Tạo vùng pha tạp/junction chọn lọc khi mục tiêu cuối là điện tử Si.</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86714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nghĩa: Tạo vùng pha tạp hoặc junction cục bộ bằng xử</a:t>
              </a:r>
            </a:p>
          </p:txBody>
        </p:sp>
        <p:sp>
          <p:nvSpPr>
            <p:cNvPr id="18" name="TextBox 18"/>
            <p:cNvSpPr txBox="1"/>
            <p:nvPr/>
          </p:nvSpPr>
          <p:spPr>
            <a:xfrm>
              <a:off x="1098423" y="3224689"/>
              <a:ext cx="395032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lý laser kết hợp nguồn dopant/vật liệu phù hợp.</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57429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Vì sao cần: Tạo vùng pha tạp/junction chọn lọc khi mục</a:t>
              </a:r>
            </a:p>
          </p:txBody>
        </p:sp>
        <p:sp>
          <p:nvSpPr>
            <p:cNvPr id="21" name="TextBox 21"/>
            <p:cNvSpPr txBox="1"/>
            <p:nvPr/>
          </p:nvSpPr>
          <p:spPr>
            <a:xfrm>
              <a:off x="1098423" y="3777139"/>
              <a:ext cx="186250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tiêu cuối là điện tử Si.</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905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phải là chức năng hoặc đại lượng đo được, không</a:t>
              </a:r>
            </a:p>
          </p:txBody>
        </p:sp>
        <p:sp>
          <p:nvSpPr>
            <p:cNvPr id="24" name="TextBox 24"/>
            <p:cNvSpPr txBox="1"/>
            <p:nvPr/>
          </p:nvSpPr>
          <p:spPr>
            <a:xfrm>
              <a:off x="1098423" y="4329589"/>
              <a:ext cx="217549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là hiệu ứng nhìn thấy.</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087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A7 · RESEARCH DIRECTION</a:t>
              </a:r>
            </a:p>
          </p:txBody>
        </p:sp>
        <p:sp>
          <p:nvSpPr>
            <p:cNvPr id="7" name="TextBox 7"/>
            <p:cNvSpPr txBox="1"/>
            <p:nvPr/>
          </p:nvSpPr>
          <p:spPr>
            <a:xfrm>
              <a:off x="671322" y="930592"/>
              <a:ext cx="751899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A7 — Cơ chế, bằng chứng và điều kiện</a:t>
              </a:r>
            </a:p>
          </p:txBody>
        </p:sp>
        <p:sp>
          <p:nvSpPr>
            <p:cNvPr id="8" name="TextBox 8"/>
            <p:cNvSpPr txBox="1"/>
            <p:nvPr/>
          </p:nvSpPr>
          <p:spPr>
            <a:xfrm>
              <a:off x="671322" y="1340168"/>
              <a:ext cx="239133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chuyển giao</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191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Cơ chế đề xuất phải được tách khỏi thông số của tài liệu.</a:t>
              </a:r>
            </a:p>
          </p:txBody>
        </p:sp>
      </p:grpSp>
      <p:grpSp>
        <p:nvGrpSpPr>
          <p:cNvPr id="24" name="Group 24"/>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39378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Gia nhiệt hoặc nóng chảy cục bộ → dopant hòa</a:t>
              </a:r>
            </a:p>
          </p:txBody>
        </p:sp>
        <p:sp>
          <p:nvSpPr>
            <p:cNvPr id="17" name="TextBox 17"/>
            <p:cNvSpPr txBox="1"/>
            <p:nvPr/>
          </p:nvSpPr>
          <p:spPr>
            <a:xfrm>
              <a:off x="1098423" y="3024664"/>
              <a:ext cx="465680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tan/khuếch tán → đông đặc/tái kết tinh → vùng điện mới.</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39167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S14/S15 có tiền lệ CW line beam và</a:t>
              </a:r>
            </a:p>
          </p:txBody>
        </p:sp>
        <p:sp>
          <p:nvSpPr>
            <p:cNvPr id="20" name="TextBox 20"/>
            <p:cNvSpPr txBox="1"/>
            <p:nvPr/>
          </p:nvSpPr>
          <p:spPr>
            <a:xfrm>
              <a:off x="1098423" y="3577114"/>
              <a:ext cx="492389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microsecond; phải chuyển theo động học nóng chảy, không…</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148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Nêu rõ điều kiện còn thiếu: nguồn, stack, detector, hóa</a:t>
              </a:r>
            </a:p>
          </p:txBody>
        </p:sp>
        <p:sp>
          <p:nvSpPr>
            <p:cNvPr id="23" name="TextBox 23"/>
            <p:cNvSpPr txBox="1"/>
            <p:nvPr/>
          </p:nvSpPr>
          <p:spPr>
            <a:xfrm>
              <a:off x="1098423" y="4129564"/>
              <a:ext cx="2683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nhiệt độ hoặc môi trường.</a:t>
              </a:r>
            </a:p>
          </p:txBody>
        </p:sp>
      </p:grpSp>
      <p:grpSp>
        <p:nvGrpSpPr>
          <p:cNvPr id="39" name="Group 39"/>
          <p:cNvGrpSpPr/>
          <p:nvPr/>
        </p:nvGrpSpPr>
        <p:grpSpPr>
          <a:xfrm>
            <a:off x="6953250" y="2657475"/>
            <a:ext cx="4552950" cy="3190875"/>
            <a:chOff x="6953250" y="2657475"/>
            <a:chExt cx="4552950" cy="3190875"/>
          </a:xfrm>
        </p:grpSpPr>
        <p:sp>
          <p:nvSpPr>
            <p:cNvPr id="25" name="Rectangle 25"/>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6" name="TextBox 26"/>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7" name="Rectangle 27"/>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28" name="Ellipse 28"/>
            <p:cNvSpPr/>
            <p:nvPr/>
          </p:nvSpPr>
          <p:spPr>
            <a:xfrm>
              <a:off x="7296150" y="3438525"/>
              <a:ext cx="152400" cy="152400"/>
            </a:xfrm>
            <a:prstGeom prst="ellipse">
              <a:avLst/>
            </a:prstGeom>
            <a:solidFill>
              <a:srgbClr val="D7B46A"/>
            </a:solidFill>
            <a:ln>
              <a:noFill/>
            </a:ln>
          </p:spPr>
        </p:sp>
        <p:sp>
          <p:nvSpPr>
            <p:cNvPr id="29" name="TextBox 29"/>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0" name="TextBox 30"/>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1" name="Rectangle 31"/>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2" name="Ellipse 32"/>
            <p:cNvSpPr/>
            <p:nvPr/>
          </p:nvSpPr>
          <p:spPr>
            <a:xfrm>
              <a:off x="7296150" y="4152900"/>
              <a:ext cx="152400" cy="152400"/>
            </a:xfrm>
            <a:prstGeom prst="ellipse">
              <a:avLst/>
            </a:prstGeom>
            <a:solidFill>
              <a:srgbClr val="D7B46A"/>
            </a:solidFill>
            <a:ln>
              <a:noFill/>
            </a:ln>
          </p:spPr>
        </p:sp>
        <p:sp>
          <p:nvSpPr>
            <p:cNvPr id="33" name="TextBox 33"/>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4" name="TextBox 34"/>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5" name="Rectangle 35"/>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6" name="Ellipse 36"/>
            <p:cNvSpPr/>
            <p:nvPr/>
          </p:nvSpPr>
          <p:spPr>
            <a:xfrm>
              <a:off x="7296150" y="4867275"/>
              <a:ext cx="152400" cy="152400"/>
            </a:xfrm>
            <a:prstGeom prst="ellipse">
              <a:avLst/>
            </a:prstGeom>
            <a:solidFill>
              <a:srgbClr val="D78678"/>
            </a:solidFill>
            <a:ln>
              <a:noFill/>
            </a:ln>
          </p:spPr>
        </p:sp>
        <p:sp>
          <p:nvSpPr>
            <p:cNvPr id="37" name="TextBox 37"/>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38" name="TextBox 38"/>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2" name="Group 42"/>
          <p:cNvGrpSpPr/>
          <p:nvPr/>
        </p:nvGrpSpPr>
        <p:grpSpPr>
          <a:xfrm>
            <a:off x="685800" y="6343650"/>
            <a:ext cx="10825353" cy="314039"/>
            <a:chOff x="685800" y="6343650"/>
            <a:chExt cx="10825353" cy="314039"/>
          </a:xfrm>
        </p:grpSpPr>
        <p:sp>
          <p:nvSpPr>
            <p:cNvPr id="40" name="Line 40"/>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1" name="TextBox 41"/>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088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A7 · RESEARCH DIRECTION</a:t>
              </a:r>
            </a:p>
          </p:txBody>
        </p:sp>
        <p:sp>
          <p:nvSpPr>
            <p:cNvPr id="7" name="TextBox 7"/>
            <p:cNvSpPr txBox="1"/>
            <p:nvPr/>
          </p:nvSpPr>
          <p:spPr>
            <a:xfrm>
              <a:off x="671322" y="930592"/>
              <a:ext cx="626796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A7 — Mẫu thử và hình minh họa</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17461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Hình phải giúp người nghe nhìn thấy mẫu, vị trí chiếu và đường đo.</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58952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đầu tiên: Wafer/coupon Si có nguồn dopant và mặt</a:t>
              </a:r>
            </a:p>
          </p:txBody>
        </p:sp>
        <p:sp>
          <p:nvSpPr>
            <p:cNvPr id="16" name="TextBox 16"/>
            <p:cNvSpPr txBox="1"/>
            <p:nvPr/>
          </p:nvSpPr>
          <p:spPr>
            <a:xfrm>
              <a:off x="1098423" y="2986564"/>
              <a:ext cx="466542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nạ/điện cực phù hợp; cần định nghĩa junction trước khi…</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322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Bố trí: laser/optics, stage/gá, camera/cảm biến và đối</a:t>
              </a:r>
            </a:p>
          </p:txBody>
        </p:sp>
        <p:sp>
          <p:nvSpPr>
            <p:cNvPr id="19" name="TextBox 19"/>
            <p:cNvSpPr txBox="1"/>
            <p:nvPr/>
          </p:nvSpPr>
          <p:spPr>
            <a:xfrm>
              <a:off x="1098423" y="3539014"/>
              <a:ext cx="5815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Chưa có ảnh thật thì dùng sơ đồ concept; không tạo ảnh</a:t>
              </a:r>
            </a:p>
          </p:txBody>
        </p:sp>
        <p:sp>
          <p:nvSpPr>
            <p:cNvPr id="22" name="TextBox 22"/>
            <p:cNvSpPr txBox="1"/>
            <p:nvPr/>
          </p:nvSpPr>
          <p:spPr>
            <a:xfrm>
              <a:off x="1098423" y="4091464"/>
              <a:ext cx="21569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giả SEM/PL/thermal map.</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089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A7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A7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46648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Rs, I–V diode, profile dopant nếu có</a:t>
              </a:r>
            </a:p>
          </p:txBody>
        </p:sp>
        <p:sp>
          <p:nvSpPr>
            <p:cNvPr id="16" name="TextBox 16"/>
            <p:cNvSpPr txBox="1"/>
            <p:nvPr/>
          </p:nvSpPr>
          <p:spPr>
            <a:xfrm>
              <a:off x="1098423" y="2986564"/>
              <a:ext cx="331247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SIMS, leakage, breakdown và đồng đều.</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43607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Có dấu hiệu junction độc lập và kiểm</a:t>
              </a:r>
            </a:p>
          </p:txBody>
        </p:sp>
        <p:sp>
          <p:nvSpPr>
            <p:cNvPr id="19" name="TextBox 19"/>
            <p:cNvSpPr txBox="1"/>
            <p:nvPr/>
          </p:nvSpPr>
          <p:spPr>
            <a:xfrm>
              <a:off x="1098423" y="3539014"/>
              <a:ext cx="437850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soát được lateral/vertical spread; không chỉ đo Rs.</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22" name="TextBox 22"/>
            <p:cNvSpPr txBox="1"/>
            <p:nvPr/>
          </p:nvSpPr>
          <p:spPr>
            <a:xfrm>
              <a:off x="1098423" y="409146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P089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090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D1 · RESEARCH DIRECTION</a:t>
              </a:r>
            </a:p>
          </p:txBody>
        </p:sp>
        <p:sp>
          <p:nvSpPr>
            <p:cNvPr id="7" name="TextBox 7"/>
            <p:cNvSpPr txBox="1"/>
            <p:nvPr/>
          </p:nvSpPr>
          <p:spPr>
            <a:xfrm>
              <a:off x="671322" y="930592"/>
              <a:ext cx="8508674"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D1 — Microwelding và sealing package: đó</a:t>
              </a:r>
            </a:p>
          </p:txBody>
        </p:sp>
        <p:sp>
          <p:nvSpPr>
            <p:cNvPr id="8" name="TextBox 8"/>
            <p:cNvSpPr txBox="1"/>
            <p:nvPr/>
          </p:nvSpPr>
          <p:spPr>
            <a:xfrm>
              <a:off x="671322" y="1340168"/>
              <a:ext cx="407266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là gì và vì sao cần?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785346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Tạo liên kết kim loại hoặc đường seal package ở kích thước nhỏ để bảo vệ linh kiện khỏi</a:t>
              </a:r>
            </a:p>
          </p:txBody>
        </p:sp>
        <p:sp>
          <p:nvSpPr>
            <p:cNvPr id="12" name="TextBox 12"/>
            <p:cNvSpPr txBox="1"/>
            <p:nvPr/>
          </p:nvSpPr>
          <p:spPr>
            <a:xfrm>
              <a:off x="907542" y="2187892"/>
              <a:ext cx="7281192"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môi trường. Nghiên cứu liên kết kim loại/seal package và độ bền với môi trường.</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7718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nghĩa: Tạo liên kết kim loại hoặc đường seal package</a:t>
              </a:r>
            </a:p>
          </p:txBody>
        </p:sp>
        <p:sp>
          <p:nvSpPr>
            <p:cNvPr id="18" name="TextBox 18"/>
            <p:cNvSpPr txBox="1"/>
            <p:nvPr/>
          </p:nvSpPr>
          <p:spPr>
            <a:xfrm>
              <a:off x="1098423" y="3224689"/>
              <a:ext cx="438110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ở kích thước nhỏ để bảo vệ linh kiện khỏi môi trường.</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63420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Vì sao cần: Nghiên cứu liên kết kim loại/seal package và</a:t>
              </a:r>
            </a:p>
          </p:txBody>
        </p:sp>
        <p:sp>
          <p:nvSpPr>
            <p:cNvPr id="21" name="TextBox 21"/>
            <p:cNvSpPr txBox="1"/>
            <p:nvPr/>
          </p:nvSpPr>
          <p:spPr>
            <a:xfrm>
              <a:off x="1098423" y="3777139"/>
              <a:ext cx="187394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độ bền với môi trường.</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905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phải là chức năng hoặc đại lượng đo được, không</a:t>
              </a:r>
            </a:p>
          </p:txBody>
        </p:sp>
        <p:sp>
          <p:nvSpPr>
            <p:cNvPr id="24" name="TextBox 24"/>
            <p:cNvSpPr txBox="1"/>
            <p:nvPr/>
          </p:nvSpPr>
          <p:spPr>
            <a:xfrm>
              <a:off x="1098423" y="4329589"/>
              <a:ext cx="217549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là hiệu ứng nhìn thấy.</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P090</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091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D1 · RESEARCH DIRECTION</a:t>
              </a:r>
            </a:p>
          </p:txBody>
        </p:sp>
        <p:sp>
          <p:nvSpPr>
            <p:cNvPr id="7" name="TextBox 7"/>
            <p:cNvSpPr txBox="1"/>
            <p:nvPr/>
          </p:nvSpPr>
          <p:spPr>
            <a:xfrm>
              <a:off x="671322" y="930592"/>
              <a:ext cx="751899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D1 — Cơ chế, bằng chứng và điều kiện</a:t>
              </a:r>
            </a:p>
          </p:txBody>
        </p:sp>
        <p:sp>
          <p:nvSpPr>
            <p:cNvPr id="8" name="TextBox 8"/>
            <p:cNvSpPr txBox="1"/>
            <p:nvPr/>
          </p:nvSpPr>
          <p:spPr>
            <a:xfrm>
              <a:off x="671322" y="1340168"/>
              <a:ext cx="239133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chuyển giao</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191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Cơ chế đề xuất phải được tách khỏi thông số của tài liệu.</a:t>
              </a:r>
            </a:p>
          </p:txBody>
        </p:sp>
      </p:grpSp>
      <p:grpSp>
        <p:nvGrpSpPr>
          <p:cNvPr id="24" name="Group 24"/>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3928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Gia nhiệt cục bộ làm kim loại/solder/frit liên</a:t>
              </a:r>
            </a:p>
          </p:txBody>
        </p:sp>
        <p:sp>
          <p:nvSpPr>
            <p:cNvPr id="17" name="TextBox 17"/>
            <p:cNvSpPr txBox="1"/>
            <p:nvPr/>
          </p:nvSpPr>
          <p:spPr>
            <a:xfrm>
              <a:off x="1098423" y="3024664"/>
              <a:ext cx="490914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kết; chất lượng phụ thuộc nhiệt, bề mặt, CTE và hình học.</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01520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S01 hỗ trợ nhiệt cục bộ; S19 hỗ trợ</a:t>
              </a:r>
            </a:p>
          </p:txBody>
        </p:sp>
        <p:sp>
          <p:nvSpPr>
            <p:cNvPr id="20" name="TextBox 20"/>
            <p:cNvSpPr txBox="1"/>
            <p:nvPr/>
          </p:nvSpPr>
          <p:spPr>
            <a:xfrm>
              <a:off x="1098423" y="3577114"/>
              <a:ext cx="467140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package/sealing. Hàn kính bằng laser siêu ngắn là công…</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148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Nêu rõ điều kiện còn thiếu: nguồn, stack, detector, hóa</a:t>
              </a:r>
            </a:p>
          </p:txBody>
        </p:sp>
        <p:sp>
          <p:nvSpPr>
            <p:cNvPr id="23" name="TextBox 23"/>
            <p:cNvSpPr txBox="1"/>
            <p:nvPr/>
          </p:nvSpPr>
          <p:spPr>
            <a:xfrm>
              <a:off x="1098423" y="4129564"/>
              <a:ext cx="2683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nhiệt độ hoặc môi trường.</a:t>
              </a:r>
            </a:p>
          </p:txBody>
        </p:sp>
      </p:grpSp>
      <p:grpSp>
        <p:nvGrpSpPr>
          <p:cNvPr id="39" name="Group 39"/>
          <p:cNvGrpSpPr/>
          <p:nvPr/>
        </p:nvGrpSpPr>
        <p:grpSpPr>
          <a:xfrm>
            <a:off x="6953250" y="2657475"/>
            <a:ext cx="4552950" cy="3190875"/>
            <a:chOff x="6953250" y="2657475"/>
            <a:chExt cx="4552950" cy="3190875"/>
          </a:xfrm>
        </p:grpSpPr>
        <p:sp>
          <p:nvSpPr>
            <p:cNvPr id="25" name="Rectangle 25"/>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6" name="TextBox 26"/>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7" name="Rectangle 27"/>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28" name="Ellipse 28"/>
            <p:cNvSpPr/>
            <p:nvPr/>
          </p:nvSpPr>
          <p:spPr>
            <a:xfrm>
              <a:off x="7296150" y="3438525"/>
              <a:ext cx="152400" cy="152400"/>
            </a:xfrm>
            <a:prstGeom prst="ellipse">
              <a:avLst/>
            </a:prstGeom>
            <a:solidFill>
              <a:srgbClr val="D7B46A"/>
            </a:solidFill>
            <a:ln>
              <a:noFill/>
            </a:ln>
          </p:spPr>
        </p:sp>
        <p:sp>
          <p:nvSpPr>
            <p:cNvPr id="29" name="TextBox 29"/>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0" name="TextBox 30"/>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1" name="Rectangle 31"/>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2" name="Ellipse 32"/>
            <p:cNvSpPr/>
            <p:nvPr/>
          </p:nvSpPr>
          <p:spPr>
            <a:xfrm>
              <a:off x="7296150" y="4152900"/>
              <a:ext cx="152400" cy="152400"/>
            </a:xfrm>
            <a:prstGeom prst="ellipse">
              <a:avLst/>
            </a:prstGeom>
            <a:solidFill>
              <a:srgbClr val="D7B46A"/>
            </a:solidFill>
            <a:ln>
              <a:noFill/>
            </a:ln>
          </p:spPr>
        </p:sp>
        <p:sp>
          <p:nvSpPr>
            <p:cNvPr id="33" name="TextBox 33"/>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4" name="TextBox 34"/>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5" name="Rectangle 35"/>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6" name="Ellipse 36"/>
            <p:cNvSpPr/>
            <p:nvPr/>
          </p:nvSpPr>
          <p:spPr>
            <a:xfrm>
              <a:off x="7296150" y="4867275"/>
              <a:ext cx="152400" cy="152400"/>
            </a:xfrm>
            <a:prstGeom prst="ellipse">
              <a:avLst/>
            </a:prstGeom>
            <a:solidFill>
              <a:srgbClr val="D78678"/>
            </a:solidFill>
            <a:ln>
              <a:noFill/>
            </a:ln>
          </p:spPr>
        </p:sp>
        <p:sp>
          <p:nvSpPr>
            <p:cNvPr id="37" name="TextBox 37"/>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38" name="TextBox 38"/>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2" name="Group 42"/>
          <p:cNvGrpSpPr/>
          <p:nvPr/>
        </p:nvGrpSpPr>
        <p:grpSpPr>
          <a:xfrm>
            <a:off x="685800" y="6343650"/>
            <a:ext cx="10825353" cy="314039"/>
            <a:chOff x="685800" y="6343650"/>
            <a:chExt cx="10825353" cy="314039"/>
          </a:xfrm>
        </p:grpSpPr>
        <p:sp>
          <p:nvSpPr>
            <p:cNvPr id="40" name="Line 40"/>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1" name="TextBox 41"/>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092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D1 · RESEARCH DIRECTION</a:t>
              </a:r>
            </a:p>
          </p:txBody>
        </p:sp>
        <p:sp>
          <p:nvSpPr>
            <p:cNvPr id="7" name="TextBox 7"/>
            <p:cNvSpPr txBox="1"/>
            <p:nvPr/>
          </p:nvSpPr>
          <p:spPr>
            <a:xfrm>
              <a:off x="671322" y="930592"/>
              <a:ext cx="626796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D1 — Mẫu thử và hình minh họa</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17461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Hình phải giúp người nghe nhìn thấy mẫu, vị trí chiếu và đường đo.</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4706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đầu tiên: Hai dải kim loại hoặc hai tấm package có</a:t>
              </a:r>
            </a:p>
          </p:txBody>
        </p:sp>
        <p:sp>
          <p:nvSpPr>
            <p:cNvPr id="16" name="TextBox 16"/>
            <p:cNvSpPr txBox="1"/>
            <p:nvPr/>
          </p:nvSpPr>
          <p:spPr>
            <a:xfrm>
              <a:off x="1098423" y="2986564"/>
              <a:ext cx="32352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đường seal, cavity và vật liệu đã chọn.</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322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Bố trí: laser/optics, stage/gá, camera/cảm biến và đối</a:t>
              </a:r>
            </a:p>
          </p:txBody>
        </p:sp>
        <p:sp>
          <p:nvSpPr>
            <p:cNvPr id="19" name="TextBox 19"/>
            <p:cNvSpPr txBox="1"/>
            <p:nvPr/>
          </p:nvSpPr>
          <p:spPr>
            <a:xfrm>
              <a:off x="1098423" y="3539014"/>
              <a:ext cx="5815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Chưa có ảnh thật thì dùng sơ đồ concept; không tạo ảnh</a:t>
              </a:r>
            </a:p>
          </p:txBody>
        </p:sp>
        <p:sp>
          <p:nvSpPr>
            <p:cNvPr id="22" name="TextBox 22"/>
            <p:cNvSpPr txBox="1"/>
            <p:nvPr/>
          </p:nvSpPr>
          <p:spPr>
            <a:xfrm>
              <a:off x="1098423" y="4091464"/>
              <a:ext cx="21569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giả SEM/PL/thermal map.</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093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D1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D1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82482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Độ bền, crack/void, rò khí nếu tuyên bố</a:t>
              </a:r>
            </a:p>
          </p:txBody>
        </p:sp>
        <p:sp>
          <p:nvSpPr>
            <p:cNvPr id="16" name="TextBox 16"/>
            <p:cNvSpPr txBox="1"/>
            <p:nvPr/>
          </p:nvSpPr>
          <p:spPr>
            <a:xfrm>
              <a:off x="1098423" y="2986564"/>
              <a:ext cx="260627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kín, chu kỳ nhiệt và biến dạng.</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80754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Đạt cơ/tính kín theo phép thử phù hợp;</a:t>
              </a:r>
            </a:p>
          </p:txBody>
        </p:sp>
        <p:sp>
          <p:nvSpPr>
            <p:cNvPr id="19" name="TextBox 19"/>
            <p:cNvSpPr txBox="1"/>
            <p:nvPr/>
          </p:nvSpPr>
          <p:spPr>
            <a:xfrm>
              <a:off x="1098423" y="3539014"/>
              <a:ext cx="390372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mở rộng sau khi A3/E5 đã cho cửa sổ nhiệt.</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22" name="TextBox 22"/>
            <p:cNvSpPr txBox="1"/>
            <p:nvPr/>
          </p:nvSpPr>
          <p:spPr>
            <a:xfrm>
              <a:off x="1098423" y="409146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094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A9 · RESEARCH DIRECTION</a:t>
              </a:r>
            </a:p>
          </p:txBody>
        </p:sp>
        <p:sp>
          <p:nvSpPr>
            <p:cNvPr id="7" name="TextBox 7"/>
            <p:cNvSpPr txBox="1"/>
            <p:nvPr/>
          </p:nvSpPr>
          <p:spPr>
            <a:xfrm>
              <a:off x="671322" y="930592"/>
              <a:ext cx="851252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A9 — Temporary debonding bằng laser: đó</a:t>
              </a:r>
            </a:p>
          </p:txBody>
        </p:sp>
        <p:sp>
          <p:nvSpPr>
            <p:cNvPr id="8" name="TextBox 8"/>
            <p:cNvSpPr txBox="1"/>
            <p:nvPr/>
          </p:nvSpPr>
          <p:spPr>
            <a:xfrm>
              <a:off x="671322" y="1340168"/>
              <a:ext cx="407266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là gì và vì sao cần?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092284"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Tách tạm thời device/wafer khỏi carrier sau một số bước chế tạo bằng cách làm suy yếu</a:t>
              </a:r>
            </a:p>
          </p:txBody>
        </p:sp>
        <p:sp>
          <p:nvSpPr>
            <p:cNvPr id="12" name="TextBox 12"/>
            <p:cNvSpPr txBox="1"/>
            <p:nvPr/>
          </p:nvSpPr>
          <p:spPr>
            <a:xfrm>
              <a:off x="907542" y="2187892"/>
              <a:ext cx="855015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release layer hoặc giao diện hấp thụ. Hỗ trợ wafer mỏng bằng cách tách device khỏi carrier…</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78941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nghĩa: Tách tạm thời device/wafer khỏi carrier sau</a:t>
              </a:r>
            </a:p>
          </p:txBody>
        </p:sp>
        <p:sp>
          <p:nvSpPr>
            <p:cNvPr id="18" name="TextBox 18"/>
            <p:cNvSpPr txBox="1"/>
            <p:nvPr/>
          </p:nvSpPr>
          <p:spPr>
            <a:xfrm>
              <a:off x="1098423" y="3224689"/>
              <a:ext cx="478604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một số bước chế tạo bằng cách làm suy yếu release layer…</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84151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Vì sao cần: Hỗ trợ wafer mỏng bằng cách tách device khỏi</a:t>
              </a:r>
            </a:p>
          </p:txBody>
        </p:sp>
        <p:sp>
          <p:nvSpPr>
            <p:cNvPr id="21" name="TextBox 21"/>
            <p:cNvSpPr txBox="1"/>
            <p:nvPr/>
          </p:nvSpPr>
          <p:spPr>
            <a:xfrm>
              <a:off x="1098423" y="3777139"/>
              <a:ext cx="250288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carrier sau các bước chế tạo.</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905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phải là chức năng hoặc đại lượng đo được, không</a:t>
              </a:r>
            </a:p>
          </p:txBody>
        </p:sp>
        <p:sp>
          <p:nvSpPr>
            <p:cNvPr id="24" name="TextBox 24"/>
            <p:cNvSpPr txBox="1"/>
            <p:nvPr/>
          </p:nvSpPr>
          <p:spPr>
            <a:xfrm>
              <a:off x="1098423" y="4329589"/>
              <a:ext cx="217549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là hiệu ứng nhìn thấy.</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095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A9 · RESEARCH DIRECTION</a:t>
              </a:r>
            </a:p>
          </p:txBody>
        </p:sp>
        <p:sp>
          <p:nvSpPr>
            <p:cNvPr id="7" name="TextBox 7"/>
            <p:cNvSpPr txBox="1"/>
            <p:nvPr/>
          </p:nvSpPr>
          <p:spPr>
            <a:xfrm>
              <a:off x="671322" y="930592"/>
              <a:ext cx="751899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A9 — Cơ chế, bằng chứng và điều kiện</a:t>
              </a:r>
            </a:p>
          </p:txBody>
        </p:sp>
        <p:sp>
          <p:nvSpPr>
            <p:cNvPr id="8" name="TextBox 8"/>
            <p:cNvSpPr txBox="1"/>
            <p:nvPr/>
          </p:nvSpPr>
          <p:spPr>
            <a:xfrm>
              <a:off x="671322" y="1340168"/>
              <a:ext cx="239133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chuyển giao</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191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Cơ chế đề xuất phải được tách khỏi thông số của tài liệu.</a:t>
              </a:r>
            </a:p>
          </p:txBody>
        </p:sp>
      </p:grpSp>
      <p:grpSp>
        <p:nvGrpSpPr>
          <p:cNvPr id="24" name="Group 24"/>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24721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Laser hấp thụ ở release layer → nhiệt/phân</a:t>
              </a:r>
            </a:p>
          </p:txBody>
        </p:sp>
        <p:sp>
          <p:nvSpPr>
            <p:cNvPr id="17" name="TextBox 17"/>
            <p:cNvSpPr txBox="1"/>
            <p:nvPr/>
          </p:nvSpPr>
          <p:spPr>
            <a:xfrm>
              <a:off x="1098423" y="3024664"/>
              <a:ext cx="388139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hủy/liên kết giảm → tách carrier có kiểm soát.</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91061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S20 hỗ trợ carrier–release–device và lựa chọn</a:t>
              </a:r>
            </a:p>
          </p:txBody>
        </p:sp>
        <p:sp>
          <p:nvSpPr>
            <p:cNvPr id="20" name="TextBox 20"/>
            <p:cNvSpPr txBox="1"/>
            <p:nvPr/>
          </p:nvSpPr>
          <p:spPr>
            <a:xfrm>
              <a:off x="1098423" y="3577114"/>
              <a:ext cx="47765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UV/IR theo lớp; không phải bài toán tăng watt đơn thuần.</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148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Nêu rõ điều kiện còn thiếu: nguồn, stack, detector, hóa</a:t>
              </a:r>
            </a:p>
          </p:txBody>
        </p:sp>
        <p:sp>
          <p:nvSpPr>
            <p:cNvPr id="23" name="TextBox 23"/>
            <p:cNvSpPr txBox="1"/>
            <p:nvPr/>
          </p:nvSpPr>
          <p:spPr>
            <a:xfrm>
              <a:off x="1098423" y="4129564"/>
              <a:ext cx="2683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nhiệt độ hoặc môi trường.</a:t>
              </a:r>
            </a:p>
          </p:txBody>
        </p:sp>
      </p:grpSp>
      <p:grpSp>
        <p:nvGrpSpPr>
          <p:cNvPr id="39" name="Group 39"/>
          <p:cNvGrpSpPr/>
          <p:nvPr/>
        </p:nvGrpSpPr>
        <p:grpSpPr>
          <a:xfrm>
            <a:off x="6953250" y="2657475"/>
            <a:ext cx="4552950" cy="3190875"/>
            <a:chOff x="6953250" y="2657475"/>
            <a:chExt cx="4552950" cy="3190875"/>
          </a:xfrm>
        </p:grpSpPr>
        <p:sp>
          <p:nvSpPr>
            <p:cNvPr id="25" name="Rectangle 25"/>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6" name="TextBox 26"/>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7" name="Rectangle 27"/>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28" name="Ellipse 28"/>
            <p:cNvSpPr/>
            <p:nvPr/>
          </p:nvSpPr>
          <p:spPr>
            <a:xfrm>
              <a:off x="7296150" y="3438525"/>
              <a:ext cx="152400" cy="152400"/>
            </a:xfrm>
            <a:prstGeom prst="ellipse">
              <a:avLst/>
            </a:prstGeom>
            <a:solidFill>
              <a:srgbClr val="D7B46A"/>
            </a:solidFill>
            <a:ln>
              <a:noFill/>
            </a:ln>
          </p:spPr>
        </p:sp>
        <p:sp>
          <p:nvSpPr>
            <p:cNvPr id="29" name="TextBox 29"/>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0" name="TextBox 30"/>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1" name="Rectangle 31"/>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2" name="Ellipse 32"/>
            <p:cNvSpPr/>
            <p:nvPr/>
          </p:nvSpPr>
          <p:spPr>
            <a:xfrm>
              <a:off x="7296150" y="4152900"/>
              <a:ext cx="152400" cy="152400"/>
            </a:xfrm>
            <a:prstGeom prst="ellipse">
              <a:avLst/>
            </a:prstGeom>
            <a:solidFill>
              <a:srgbClr val="D7B46A"/>
            </a:solidFill>
            <a:ln>
              <a:noFill/>
            </a:ln>
          </p:spPr>
        </p:sp>
        <p:sp>
          <p:nvSpPr>
            <p:cNvPr id="33" name="TextBox 33"/>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4" name="TextBox 34"/>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5" name="Rectangle 35"/>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6" name="Ellipse 36"/>
            <p:cNvSpPr/>
            <p:nvPr/>
          </p:nvSpPr>
          <p:spPr>
            <a:xfrm>
              <a:off x="7296150" y="4867275"/>
              <a:ext cx="152400" cy="152400"/>
            </a:xfrm>
            <a:prstGeom prst="ellipse">
              <a:avLst/>
            </a:prstGeom>
            <a:solidFill>
              <a:srgbClr val="D78678"/>
            </a:solidFill>
            <a:ln>
              <a:noFill/>
            </a:ln>
          </p:spPr>
        </p:sp>
        <p:sp>
          <p:nvSpPr>
            <p:cNvPr id="37" name="TextBox 37"/>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38" name="TextBox 38"/>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2" name="Group 42"/>
          <p:cNvGrpSpPr/>
          <p:nvPr/>
        </p:nvGrpSpPr>
        <p:grpSpPr>
          <a:xfrm>
            <a:off x="685800" y="6343650"/>
            <a:ext cx="10825353" cy="314039"/>
            <a:chOff x="685800" y="6343650"/>
            <a:chExt cx="10825353" cy="314039"/>
          </a:xfrm>
        </p:grpSpPr>
        <p:sp>
          <p:nvSpPr>
            <p:cNvPr id="40" name="Line 40"/>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1" name="TextBox 41"/>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096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A9 · RESEARCH DIRECTION</a:t>
              </a:r>
            </a:p>
          </p:txBody>
        </p:sp>
        <p:sp>
          <p:nvSpPr>
            <p:cNvPr id="7" name="TextBox 7"/>
            <p:cNvSpPr txBox="1"/>
            <p:nvPr/>
          </p:nvSpPr>
          <p:spPr>
            <a:xfrm>
              <a:off x="671322" y="930592"/>
              <a:ext cx="626796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A9 — Mẫu thử và hình minh họa</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17461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Hình phải giúp người nghe nhìn thấy mẫu, vị trí chiếu và đường đo.</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5513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đầu tiên: Stack carrier–release–device đơn giản, có</a:t>
              </a:r>
            </a:p>
          </p:txBody>
        </p:sp>
        <p:sp>
          <p:nvSpPr>
            <p:cNvPr id="16" name="TextBox 16"/>
            <p:cNvSpPr txBox="1"/>
            <p:nvPr/>
          </p:nvSpPr>
          <p:spPr>
            <a:xfrm>
              <a:off x="1098423" y="2986564"/>
              <a:ext cx="331275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vùng tách và phương án kiểm tra hư hại.</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322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Bố trí: laser/optics, stage/gá, camera/cảm biến và đối</a:t>
              </a:r>
            </a:p>
          </p:txBody>
        </p:sp>
        <p:sp>
          <p:nvSpPr>
            <p:cNvPr id="19" name="TextBox 19"/>
            <p:cNvSpPr txBox="1"/>
            <p:nvPr/>
          </p:nvSpPr>
          <p:spPr>
            <a:xfrm>
              <a:off x="1098423" y="3539014"/>
              <a:ext cx="5815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Chưa có ảnh thật thì dùng sơ đồ concept; không tạo ảnh</a:t>
              </a:r>
            </a:p>
          </p:txBody>
        </p:sp>
        <p:sp>
          <p:nvSpPr>
            <p:cNvPr id="22" name="TextBox 22"/>
            <p:cNvSpPr txBox="1"/>
            <p:nvPr/>
          </p:nvSpPr>
          <p:spPr>
            <a:xfrm>
              <a:off x="1098423" y="4091464"/>
              <a:ext cx="21569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giả SEM/PL/thermal map.</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097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A9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A9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9890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Lực tách, residue, crack/warpage, ảnh</a:t>
              </a:r>
            </a:p>
          </p:txBody>
        </p:sp>
        <p:sp>
          <p:nvSpPr>
            <p:cNvPr id="16" name="TextBox 16"/>
            <p:cNvSpPr txBox="1"/>
            <p:nvPr/>
          </p:nvSpPr>
          <p:spPr>
            <a:xfrm>
              <a:off x="1098423" y="2986564"/>
              <a:ext cx="270104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hưởng device và tỷ lệ tách sạch.</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8630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Chỉ chọn khi có stack cụ thể và lợi ích</a:t>
              </a:r>
            </a:p>
          </p:txBody>
        </p:sp>
        <p:sp>
          <p:nvSpPr>
            <p:cNvPr id="19" name="TextBox 19"/>
            <p:cNvSpPr txBox="1"/>
            <p:nvPr/>
          </p:nvSpPr>
          <p:spPr>
            <a:xfrm>
              <a:off x="1098423" y="3539014"/>
              <a:ext cx="297674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rõ hơn phương pháp cơ/hoá đang có.</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22" name="TextBox 22"/>
            <p:cNvSpPr txBox="1"/>
            <p:nvPr/>
          </p:nvSpPr>
          <p:spPr>
            <a:xfrm>
              <a:off x="1098423" y="409146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098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A6 · RESEARCH DIRECTION</a:t>
              </a:r>
            </a:p>
          </p:txBody>
        </p:sp>
        <p:sp>
          <p:nvSpPr>
            <p:cNvPr id="7" name="TextBox 7"/>
            <p:cNvSpPr txBox="1"/>
            <p:nvPr/>
          </p:nvSpPr>
          <p:spPr>
            <a:xfrm>
              <a:off x="671322" y="930592"/>
              <a:ext cx="8599027"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A6 — LACVD hoặc etch hỗ trợ laser: đó là</a:t>
              </a:r>
            </a:p>
          </p:txBody>
        </p:sp>
        <p:sp>
          <p:nvSpPr>
            <p:cNvPr id="8" name="TextBox 8"/>
            <p:cNvSpPr txBox="1"/>
            <p:nvPr/>
          </p:nvSpPr>
          <p:spPr>
            <a:xfrm>
              <a:off x="671322" y="1340168"/>
              <a:ext cx="358316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gì và vì sao cần?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499233"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Dùng laser tạo nhiệt hoặc kích thích cục bộ để hỗ trợ lắng đọng hóa học (LACVD) hoặc etch.</a:t>
              </a:r>
            </a:p>
          </p:txBody>
        </p:sp>
        <p:sp>
          <p:nvSpPr>
            <p:cNvPr id="12" name="TextBox 12"/>
            <p:cNvSpPr txBox="1"/>
            <p:nvPr/>
          </p:nvSpPr>
          <p:spPr>
            <a:xfrm>
              <a:off x="907542" y="2187892"/>
              <a:ext cx="7930148"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Tăng tốc hoặc chọn lọc phản ứng lắng đọng/etch tại vùng nhỏ thay vì nung toàn buồng.</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72058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nghĩa: Dùng laser tạo nhiệt hoặc kích thích cục bộ</a:t>
              </a:r>
            </a:p>
          </p:txBody>
        </p:sp>
        <p:sp>
          <p:nvSpPr>
            <p:cNvPr id="18" name="TextBox 18"/>
            <p:cNvSpPr txBox="1"/>
            <p:nvPr/>
          </p:nvSpPr>
          <p:spPr>
            <a:xfrm>
              <a:off x="1098423" y="3224689"/>
              <a:ext cx="397440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để hỗ trợ lắng đọng hóa học (LACVD) hoặc etch.</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0574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Vì sao cần: Tăng tốc hoặc chọn lọc phản ứng lắng</a:t>
              </a:r>
            </a:p>
          </p:txBody>
        </p:sp>
        <p:sp>
          <p:nvSpPr>
            <p:cNvPr id="21" name="TextBox 21"/>
            <p:cNvSpPr txBox="1"/>
            <p:nvPr/>
          </p:nvSpPr>
          <p:spPr>
            <a:xfrm>
              <a:off x="1098423" y="3777139"/>
              <a:ext cx="407955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đọng/etch tại vùng nhỏ thay vì nung toàn buồng.</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905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phải là chức năng hoặc đại lượng đo được, không</a:t>
              </a:r>
            </a:p>
          </p:txBody>
        </p:sp>
        <p:sp>
          <p:nvSpPr>
            <p:cNvPr id="24" name="TextBox 24"/>
            <p:cNvSpPr txBox="1"/>
            <p:nvPr/>
          </p:nvSpPr>
          <p:spPr>
            <a:xfrm>
              <a:off x="1098423" y="4329589"/>
              <a:ext cx="217549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là hiệu ứng nhìn thấy.</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099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A6 · RESEARCH DIRECTION</a:t>
              </a:r>
            </a:p>
          </p:txBody>
        </p:sp>
        <p:sp>
          <p:nvSpPr>
            <p:cNvPr id="7" name="TextBox 7"/>
            <p:cNvSpPr txBox="1"/>
            <p:nvPr/>
          </p:nvSpPr>
          <p:spPr>
            <a:xfrm>
              <a:off x="671322" y="930592"/>
              <a:ext cx="751899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A6 — Cơ chế, bằng chứng và điều kiện</a:t>
              </a:r>
            </a:p>
          </p:txBody>
        </p:sp>
        <p:sp>
          <p:nvSpPr>
            <p:cNvPr id="8" name="TextBox 8"/>
            <p:cNvSpPr txBox="1"/>
            <p:nvPr/>
          </p:nvSpPr>
          <p:spPr>
            <a:xfrm>
              <a:off x="671322" y="1340168"/>
              <a:ext cx="239133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chuyển giao</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191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Cơ chế đề xuất phải được tách khỏi thông số của tài liệu.</a:t>
              </a:r>
            </a:p>
          </p:txBody>
        </p:sp>
      </p:grpSp>
      <p:grpSp>
        <p:nvGrpSpPr>
          <p:cNvPr id="24" name="Group 24"/>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61779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Laser làm đổi nhiệt độ/tốc độ phản ứng/nồng độ</a:t>
              </a:r>
            </a:p>
          </p:txBody>
        </p:sp>
        <p:sp>
          <p:nvSpPr>
            <p:cNvPr id="17" name="TextBox 17"/>
            <p:cNvSpPr txBox="1"/>
            <p:nvPr/>
          </p:nvSpPr>
          <p:spPr>
            <a:xfrm>
              <a:off x="1098423" y="3024664"/>
              <a:ext cx="450172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cục bộ → vật liệu lắng đọng hoặc bị loại bỏ có chọn lọc.</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29042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S21 hỗ trợ các biến thể laser-assisted</a:t>
              </a:r>
            </a:p>
          </p:txBody>
        </p:sp>
        <p:sp>
          <p:nvSpPr>
            <p:cNvPr id="20" name="TextBox 20"/>
            <p:cNvSpPr txBox="1"/>
            <p:nvPr/>
          </p:nvSpPr>
          <p:spPr>
            <a:xfrm>
              <a:off x="1098423" y="3577114"/>
              <a:ext cx="463095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chemistry; không suy ra quy trình từ một nguồn nhiệt…</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148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Nêu rõ điều kiện còn thiếu: nguồn, stack, detector, hóa</a:t>
              </a:r>
            </a:p>
          </p:txBody>
        </p:sp>
        <p:sp>
          <p:nvSpPr>
            <p:cNvPr id="23" name="TextBox 23"/>
            <p:cNvSpPr txBox="1"/>
            <p:nvPr/>
          </p:nvSpPr>
          <p:spPr>
            <a:xfrm>
              <a:off x="1098423" y="4129564"/>
              <a:ext cx="2683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nhiệt độ hoặc môi trường.</a:t>
              </a:r>
            </a:p>
          </p:txBody>
        </p:sp>
      </p:grpSp>
      <p:grpSp>
        <p:nvGrpSpPr>
          <p:cNvPr id="39" name="Group 39"/>
          <p:cNvGrpSpPr/>
          <p:nvPr/>
        </p:nvGrpSpPr>
        <p:grpSpPr>
          <a:xfrm>
            <a:off x="6953250" y="2657475"/>
            <a:ext cx="4552950" cy="3190875"/>
            <a:chOff x="6953250" y="2657475"/>
            <a:chExt cx="4552950" cy="3190875"/>
          </a:xfrm>
        </p:grpSpPr>
        <p:sp>
          <p:nvSpPr>
            <p:cNvPr id="25" name="Rectangle 25"/>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6" name="TextBox 26"/>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7" name="Rectangle 27"/>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28" name="Ellipse 28"/>
            <p:cNvSpPr/>
            <p:nvPr/>
          </p:nvSpPr>
          <p:spPr>
            <a:xfrm>
              <a:off x="7296150" y="3438525"/>
              <a:ext cx="152400" cy="152400"/>
            </a:xfrm>
            <a:prstGeom prst="ellipse">
              <a:avLst/>
            </a:prstGeom>
            <a:solidFill>
              <a:srgbClr val="D7B46A"/>
            </a:solidFill>
            <a:ln>
              <a:noFill/>
            </a:ln>
          </p:spPr>
        </p:sp>
        <p:sp>
          <p:nvSpPr>
            <p:cNvPr id="29" name="TextBox 29"/>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0" name="TextBox 30"/>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1" name="Rectangle 31"/>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2" name="Ellipse 32"/>
            <p:cNvSpPr/>
            <p:nvPr/>
          </p:nvSpPr>
          <p:spPr>
            <a:xfrm>
              <a:off x="7296150" y="4152900"/>
              <a:ext cx="152400" cy="152400"/>
            </a:xfrm>
            <a:prstGeom prst="ellipse">
              <a:avLst/>
            </a:prstGeom>
            <a:solidFill>
              <a:srgbClr val="D7B46A"/>
            </a:solidFill>
            <a:ln>
              <a:noFill/>
            </a:ln>
          </p:spPr>
        </p:sp>
        <p:sp>
          <p:nvSpPr>
            <p:cNvPr id="33" name="TextBox 33"/>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4" name="TextBox 34"/>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5" name="Rectangle 35"/>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6" name="Ellipse 36"/>
            <p:cNvSpPr/>
            <p:nvPr/>
          </p:nvSpPr>
          <p:spPr>
            <a:xfrm>
              <a:off x="7296150" y="4867275"/>
              <a:ext cx="152400" cy="152400"/>
            </a:xfrm>
            <a:prstGeom prst="ellipse">
              <a:avLst/>
            </a:prstGeom>
            <a:solidFill>
              <a:srgbClr val="D78678"/>
            </a:solidFill>
            <a:ln>
              <a:noFill/>
            </a:ln>
          </p:spPr>
        </p:sp>
        <p:sp>
          <p:nvSpPr>
            <p:cNvPr id="37" name="TextBox 37"/>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38" name="TextBox 38"/>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2" name="Group 42"/>
          <p:cNvGrpSpPr/>
          <p:nvPr/>
        </p:nvGrpSpPr>
        <p:grpSpPr>
          <a:xfrm>
            <a:off x="685800" y="6343650"/>
            <a:ext cx="10825353" cy="314039"/>
            <a:chOff x="685800" y="6343650"/>
            <a:chExt cx="10825353" cy="314039"/>
          </a:xfrm>
        </p:grpSpPr>
        <p:sp>
          <p:nvSpPr>
            <p:cNvPr id="40" name="Line 40"/>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1" name="TextBox 41"/>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P099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100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A6 · RESEARCH DIRECTION</a:t>
              </a:r>
            </a:p>
          </p:txBody>
        </p:sp>
        <p:sp>
          <p:nvSpPr>
            <p:cNvPr id="7" name="TextBox 7"/>
            <p:cNvSpPr txBox="1"/>
            <p:nvPr/>
          </p:nvSpPr>
          <p:spPr>
            <a:xfrm>
              <a:off x="671322" y="930592"/>
              <a:ext cx="626796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A6 — Mẫu thử và hình minh họa</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17461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Hình phải giúp người nghe nhìn thấy mẫu, vị trí chiếu và đường đo.</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83259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đầu tiên: Coupon vật liệu, precursor/etch chemistry</a:t>
              </a:r>
            </a:p>
          </p:txBody>
        </p:sp>
        <p:sp>
          <p:nvSpPr>
            <p:cNvPr id="16" name="TextBox 16"/>
            <p:cNvSpPr txBox="1"/>
            <p:nvPr/>
          </p:nvSpPr>
          <p:spPr>
            <a:xfrm>
              <a:off x="1098423" y="2986564"/>
              <a:ext cx="410540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được kiểm soát và vùng phản ứng có containment.</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322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Bố trí: laser/optics, stage/gá, camera/cảm biến và đối</a:t>
              </a:r>
            </a:p>
          </p:txBody>
        </p:sp>
        <p:sp>
          <p:nvSpPr>
            <p:cNvPr id="19" name="TextBox 19"/>
            <p:cNvSpPr txBox="1"/>
            <p:nvPr/>
          </p:nvSpPr>
          <p:spPr>
            <a:xfrm>
              <a:off x="1098423" y="3539014"/>
              <a:ext cx="5815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Chưa có ảnh thật thì dùng sơ đồ concept; không tạo ảnh</a:t>
              </a:r>
            </a:p>
          </p:txBody>
        </p:sp>
        <p:sp>
          <p:nvSpPr>
            <p:cNvPr id="22" name="TextBox 22"/>
            <p:cNvSpPr txBox="1"/>
            <p:nvPr/>
          </p:nvSpPr>
          <p:spPr>
            <a:xfrm>
              <a:off x="1098423" y="4091464"/>
              <a:ext cx="21569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giả SEM/PL/thermal map.</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P100</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101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A6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A6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387627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Tốc độ, selectivity, profile,</a:t>
              </a:r>
            </a:p>
          </p:txBody>
        </p:sp>
        <p:sp>
          <p:nvSpPr>
            <p:cNvPr id="16" name="TextBox 16"/>
            <p:cNvSpPr txBox="1"/>
            <p:nvPr/>
          </p:nvSpPr>
          <p:spPr>
            <a:xfrm>
              <a:off x="1098423" y="2986564"/>
              <a:ext cx="340753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roughness, residue và an toàn hóa chất.</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38514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Chỉ chạy khi có quy trình hóa học,</a:t>
              </a:r>
            </a:p>
          </p:txBody>
        </p:sp>
        <p:sp>
          <p:nvSpPr>
            <p:cNvPr id="19" name="TextBox 19"/>
            <p:cNvSpPr txBox="1"/>
            <p:nvPr/>
          </p:nvSpPr>
          <p:spPr>
            <a:xfrm>
              <a:off x="1098423" y="3539014"/>
              <a:ext cx="500143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containment và phép đo sản phẩm; không chỉ chứng minh có…</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22" name="TextBox 22"/>
            <p:cNvSpPr txBox="1"/>
            <p:nvPr/>
          </p:nvSpPr>
          <p:spPr>
            <a:xfrm>
              <a:off x="1098423" y="409146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102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E7 · RESEARCH DIRECTION</a:t>
              </a:r>
            </a:p>
          </p:txBody>
        </p:sp>
        <p:sp>
          <p:nvSpPr>
            <p:cNvPr id="7" name="TextBox 7"/>
            <p:cNvSpPr txBox="1"/>
            <p:nvPr/>
          </p:nvSpPr>
          <p:spPr>
            <a:xfrm>
              <a:off x="671322" y="930592"/>
              <a:ext cx="632116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E7 — Biến tính oxide và defect</a:t>
              </a:r>
            </a:p>
          </p:txBody>
        </p:sp>
        <p:sp>
          <p:nvSpPr>
            <p:cNvPr id="8" name="TextBox 8"/>
            <p:cNvSpPr txBox="1"/>
            <p:nvPr/>
          </p:nvSpPr>
          <p:spPr>
            <a:xfrm>
              <a:off x="671322" y="1340168"/>
              <a:ext cx="7392756"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engineering: đó là gì và vì sao cần?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7777358"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Điều chỉnh trạng thái oxy hóa, khuyết tật hoặc tính điện/quang của oxide bằng xử lý</a:t>
              </a:r>
            </a:p>
          </p:txBody>
        </p:sp>
        <p:sp>
          <p:nvSpPr>
            <p:cNvPr id="12" name="TextBox 12"/>
            <p:cNvSpPr txBox="1"/>
            <p:nvPr/>
          </p:nvSpPr>
          <p:spPr>
            <a:xfrm>
              <a:off x="907542" y="2187892"/>
              <a:ext cx="830226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quang–nhiệt. Điều chỉnh tính điện/quang cục bộ của oxide và khảo sát vai trò khuyết tật.</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57429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nghĩa: Điều chỉnh trạng thái oxy hóa, khuyết tật</a:t>
              </a:r>
            </a:p>
          </p:txBody>
        </p:sp>
        <p:sp>
          <p:nvSpPr>
            <p:cNvPr id="18" name="TextBox 18"/>
            <p:cNvSpPr txBox="1"/>
            <p:nvPr/>
          </p:nvSpPr>
          <p:spPr>
            <a:xfrm>
              <a:off x="1098423" y="3224689"/>
              <a:ext cx="461372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hoặc tính điện/quang của oxide bằng xử lý quang–nhiệt.</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67767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Vì sao cần: Điều chỉnh tính điện/quang cục bộ của oxide</a:t>
              </a:r>
            </a:p>
          </p:txBody>
        </p:sp>
        <p:sp>
          <p:nvSpPr>
            <p:cNvPr id="21" name="TextBox 21"/>
            <p:cNvSpPr txBox="1"/>
            <p:nvPr/>
          </p:nvSpPr>
          <p:spPr>
            <a:xfrm>
              <a:off x="1098423" y="3777139"/>
              <a:ext cx="264935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và khảo sát vai trò khuyết tật.</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905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phải là chức năng hoặc đại lượng đo được, không</a:t>
              </a:r>
            </a:p>
          </p:txBody>
        </p:sp>
        <p:sp>
          <p:nvSpPr>
            <p:cNvPr id="24" name="TextBox 24"/>
            <p:cNvSpPr txBox="1"/>
            <p:nvPr/>
          </p:nvSpPr>
          <p:spPr>
            <a:xfrm>
              <a:off x="1098423" y="4329589"/>
              <a:ext cx="217549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chỉ là hiệu ứng nhìn thấy.</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103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E7 · RESEARCH DIRECTION</a:t>
              </a:r>
            </a:p>
          </p:txBody>
        </p:sp>
        <p:sp>
          <p:nvSpPr>
            <p:cNvPr id="7" name="TextBox 7"/>
            <p:cNvSpPr txBox="1"/>
            <p:nvPr/>
          </p:nvSpPr>
          <p:spPr>
            <a:xfrm>
              <a:off x="671322" y="930592"/>
              <a:ext cx="751899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E7 — Cơ chế, bằng chứng và điều kiện</a:t>
              </a:r>
            </a:p>
          </p:txBody>
        </p:sp>
        <p:sp>
          <p:nvSpPr>
            <p:cNvPr id="8" name="TextBox 8"/>
            <p:cNvSpPr txBox="1"/>
            <p:nvPr/>
          </p:nvSpPr>
          <p:spPr>
            <a:xfrm>
              <a:off x="671322" y="1340168"/>
              <a:ext cx="239133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chuyển giao</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191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Cơ chế đề xuất phải được tách khỏi thông số của tài liệu.</a:t>
              </a:r>
            </a:p>
          </p:txBody>
        </p:sp>
      </p:grpSp>
      <p:grpSp>
        <p:nvGrpSpPr>
          <p:cNvPr id="24" name="Group 24"/>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7729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Hấp thụ/nhiệt → thay đổi vacancy, trạng thái hóa</a:t>
              </a:r>
            </a:p>
          </p:txBody>
        </p:sp>
        <p:sp>
          <p:nvSpPr>
            <p:cNvPr id="17" name="TextBox 17"/>
            <p:cNvSpPr txBox="1"/>
            <p:nvPr/>
          </p:nvSpPr>
          <p:spPr>
            <a:xfrm>
              <a:off x="1098423" y="3024664"/>
              <a:ext cx="408817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trị hoặc cấu trúc → đáp ứng điện/quang thay đổi.</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8500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S22/S33 hỗ trợ các hướng oxide/màng và phép</a:t>
              </a:r>
            </a:p>
          </p:txBody>
        </p:sp>
        <p:sp>
          <p:nvSpPr>
            <p:cNvPr id="20" name="TextBox 20"/>
            <p:cNvSpPr txBox="1"/>
            <p:nvPr/>
          </p:nvSpPr>
          <p:spPr>
            <a:xfrm>
              <a:off x="1098423" y="3577114"/>
              <a:ext cx="45508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NIR không tự tương đương UV nếu phổ hấp thụ khác.</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148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Nêu rõ điều kiện còn thiếu: nguồn, stack, detector, hóa</a:t>
              </a:r>
            </a:p>
          </p:txBody>
        </p:sp>
        <p:sp>
          <p:nvSpPr>
            <p:cNvPr id="23" name="TextBox 23"/>
            <p:cNvSpPr txBox="1"/>
            <p:nvPr/>
          </p:nvSpPr>
          <p:spPr>
            <a:xfrm>
              <a:off x="1098423" y="4129564"/>
              <a:ext cx="2683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nhiệt độ hoặc môi trường.</a:t>
              </a:r>
            </a:p>
          </p:txBody>
        </p:sp>
      </p:grpSp>
      <p:grpSp>
        <p:nvGrpSpPr>
          <p:cNvPr id="39" name="Group 39"/>
          <p:cNvGrpSpPr/>
          <p:nvPr/>
        </p:nvGrpSpPr>
        <p:grpSpPr>
          <a:xfrm>
            <a:off x="6953250" y="2657475"/>
            <a:ext cx="4552950" cy="3190875"/>
            <a:chOff x="6953250" y="2657475"/>
            <a:chExt cx="4552950" cy="3190875"/>
          </a:xfrm>
        </p:grpSpPr>
        <p:sp>
          <p:nvSpPr>
            <p:cNvPr id="25" name="Rectangle 25"/>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6" name="TextBox 26"/>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7" name="Rectangle 27"/>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28" name="Ellipse 28"/>
            <p:cNvSpPr/>
            <p:nvPr/>
          </p:nvSpPr>
          <p:spPr>
            <a:xfrm>
              <a:off x="7296150" y="3438525"/>
              <a:ext cx="152400" cy="152400"/>
            </a:xfrm>
            <a:prstGeom prst="ellipse">
              <a:avLst/>
            </a:prstGeom>
            <a:solidFill>
              <a:srgbClr val="D7B46A"/>
            </a:solidFill>
            <a:ln>
              <a:noFill/>
            </a:ln>
          </p:spPr>
        </p:sp>
        <p:sp>
          <p:nvSpPr>
            <p:cNvPr id="29" name="TextBox 29"/>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0" name="TextBox 30"/>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1" name="Rectangle 31"/>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2" name="Ellipse 32"/>
            <p:cNvSpPr/>
            <p:nvPr/>
          </p:nvSpPr>
          <p:spPr>
            <a:xfrm>
              <a:off x="7296150" y="4152900"/>
              <a:ext cx="152400" cy="152400"/>
            </a:xfrm>
            <a:prstGeom prst="ellipse">
              <a:avLst/>
            </a:prstGeom>
            <a:solidFill>
              <a:srgbClr val="D7B46A"/>
            </a:solidFill>
            <a:ln>
              <a:noFill/>
            </a:ln>
          </p:spPr>
        </p:sp>
        <p:sp>
          <p:nvSpPr>
            <p:cNvPr id="33" name="TextBox 33"/>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4" name="TextBox 34"/>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5" name="Rectangle 35"/>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6" name="Ellipse 36"/>
            <p:cNvSpPr/>
            <p:nvPr/>
          </p:nvSpPr>
          <p:spPr>
            <a:xfrm>
              <a:off x="7296150" y="4867275"/>
              <a:ext cx="152400" cy="152400"/>
            </a:xfrm>
            <a:prstGeom prst="ellipse">
              <a:avLst/>
            </a:prstGeom>
            <a:solidFill>
              <a:srgbClr val="D78678"/>
            </a:solidFill>
            <a:ln>
              <a:noFill/>
            </a:ln>
          </p:spPr>
        </p:sp>
        <p:sp>
          <p:nvSpPr>
            <p:cNvPr id="37" name="TextBox 37"/>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38" name="TextBox 38"/>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2" name="Group 42"/>
          <p:cNvGrpSpPr/>
          <p:nvPr/>
        </p:nvGrpSpPr>
        <p:grpSpPr>
          <a:xfrm>
            <a:off x="685800" y="6343650"/>
            <a:ext cx="10825353" cy="314039"/>
            <a:chOff x="685800" y="6343650"/>
            <a:chExt cx="10825353" cy="314039"/>
          </a:xfrm>
        </p:grpSpPr>
        <p:sp>
          <p:nvSpPr>
            <p:cNvPr id="40" name="Line 40"/>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1" name="TextBox 41"/>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104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E7 · RESEARCH DIRECTION</a:t>
              </a:r>
            </a:p>
          </p:txBody>
        </p:sp>
        <p:sp>
          <p:nvSpPr>
            <p:cNvPr id="7" name="TextBox 7"/>
            <p:cNvSpPr txBox="1"/>
            <p:nvPr/>
          </p:nvSpPr>
          <p:spPr>
            <a:xfrm>
              <a:off x="671322" y="930592"/>
              <a:ext cx="626796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E7 — Mẫu thử và hình minh họa</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17461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Hình phải giúp người nghe nhìn thấy mẫu, vị trí chiếu và đường đo.</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51411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đầu tiên: Màng oxide trên nền, vùng laser và điện</a:t>
              </a:r>
            </a:p>
          </p:txBody>
        </p:sp>
        <p:sp>
          <p:nvSpPr>
            <p:cNvPr id="16" name="TextBox 16"/>
            <p:cNvSpPr txBox="1"/>
            <p:nvPr/>
          </p:nvSpPr>
          <p:spPr>
            <a:xfrm>
              <a:off x="1098423" y="2986564"/>
              <a:ext cx="302844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cực; phải có mẫu chưa xử lý/ủ nhiệt.</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322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Bố trí: laser/optics, stage/gá, camera/cảm biến và đối</a:t>
              </a:r>
            </a:p>
          </p:txBody>
        </p:sp>
        <p:sp>
          <p:nvSpPr>
            <p:cNvPr id="19" name="TextBox 19"/>
            <p:cNvSpPr txBox="1"/>
            <p:nvPr/>
          </p:nvSpPr>
          <p:spPr>
            <a:xfrm>
              <a:off x="1098423" y="3539014"/>
              <a:ext cx="5815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Chưa có ảnh thật thì dùng sơ đồ concept; không tạo ảnh</a:t>
              </a:r>
            </a:p>
          </p:txBody>
        </p:sp>
        <p:sp>
          <p:nvSpPr>
            <p:cNvPr id="22" name="TextBox 22"/>
            <p:cNvSpPr txBox="1"/>
            <p:nvPr/>
          </p:nvSpPr>
          <p:spPr>
            <a:xfrm>
              <a:off x="1098423" y="4091464"/>
              <a:ext cx="215698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giả SEM/PL/thermal map.</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105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E7 · RESEARCH DIRECTION</a:t>
              </a:r>
            </a:p>
          </p:txBody>
        </p:sp>
        <p:sp>
          <p:nvSpPr>
            <p:cNvPr id="7" name="TextBox 7"/>
            <p:cNvSpPr txBox="1"/>
            <p:nvPr/>
          </p:nvSpPr>
          <p:spPr>
            <a:xfrm>
              <a:off x="671322" y="930592"/>
              <a:ext cx="762723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E7 — Phép đo, tiêu chí và quyết định</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51783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Chỉ tiếp tục khi tín hiệu/chức năng tách được khỏi artefact và lặp lại.</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03315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Đại lượng cần đo: R/Rs, TCR, hysteresis, drift,</a:t>
              </a:r>
            </a:p>
          </p:txBody>
        </p:sp>
        <p:sp>
          <p:nvSpPr>
            <p:cNvPr id="16" name="TextBox 16"/>
            <p:cNvSpPr txBox="1"/>
            <p:nvPr/>
          </p:nvSpPr>
          <p:spPr>
            <a:xfrm>
              <a:off x="1098423" y="2986564"/>
              <a:ext cx="434735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Raman/XPS/FTIR nếu có; tách hiệu ứng ẩm/tiếp xúc.</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40180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quyết định: Chỉ chọn khi có năng lực vật liệu và</a:t>
              </a:r>
            </a:p>
          </p:txBody>
        </p:sp>
        <p:sp>
          <p:nvSpPr>
            <p:cNvPr id="19" name="TextBox 19"/>
            <p:cNvSpPr txBox="1"/>
            <p:nvPr/>
          </p:nvSpPr>
          <p:spPr>
            <a:xfrm>
              <a:off x="1098423" y="3539014"/>
              <a:ext cx="402786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hóa học/pha độc lập; giữ nhãn khám phá.</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22" name="TextBox 22"/>
            <p:cNvSpPr txBox="1"/>
            <p:nvPr/>
          </p:nvSpPr>
          <p:spPr>
            <a:xfrm>
              <a:off x="1098423" y="409146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106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C1 · RESEARCH DIRECTION</a:t>
              </a:r>
            </a:p>
          </p:txBody>
        </p:sp>
        <p:sp>
          <p:nvSpPr>
            <p:cNvPr id="7" name="TextBox 7"/>
            <p:cNvSpPr txBox="1"/>
            <p:nvPr/>
          </p:nvSpPr>
          <p:spPr>
            <a:xfrm>
              <a:off x="671322" y="930592"/>
              <a:ext cx="746640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C1 — Microscopy xuyên silicon: định</a:t>
              </a:r>
            </a:p>
          </p:txBody>
        </p:sp>
        <p:sp>
          <p:nvSpPr>
            <p:cNvPr id="8" name="TextBox 8"/>
            <p:cNvSpPr txBox="1"/>
            <p:nvPr/>
          </p:nvSpPr>
          <p:spPr>
            <a:xfrm>
              <a:off x="671322" y="1340168"/>
              <a:ext cx="6030666"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nghĩa, cơ chế và mức phù hợp</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235422"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Dùng bức xạ truyền qua silicon để quan sát void, giao diện hoặc defect mà không phá mẫu.</a:t>
              </a:r>
            </a:p>
          </p:txBody>
        </p:sp>
        <p:sp>
          <p:nvSpPr>
            <p:cNvPr id="12" name="TextBox 12"/>
            <p:cNvSpPr txBox="1"/>
            <p:nvPr/>
          </p:nvSpPr>
          <p:spPr>
            <a:xfrm>
              <a:off x="907542" y="2187892"/>
              <a:ext cx="7899123"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Quan sát void/giao diện kín xuyên Si mà không phá mẫu, nếu phổ và detector phù hợp.</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95409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Truyền qua/phản xạ phụ thuộc bước sóng, độ dày và</a:t>
              </a:r>
            </a:p>
          </p:txBody>
        </p:sp>
        <p:sp>
          <p:nvSpPr>
            <p:cNvPr id="18" name="TextBox 18"/>
            <p:cNvSpPr txBox="1"/>
            <p:nvPr/>
          </p:nvSpPr>
          <p:spPr>
            <a:xfrm>
              <a:off x="1098423" y="3224689"/>
              <a:ext cx="354538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stack; detector biến contrast thành ảnh.</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64980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S26/S27 hỗ trợ dữ liệu quang Si và các kịch</a:t>
              </a:r>
            </a:p>
          </p:txBody>
        </p:sp>
        <p:sp>
          <p:nvSpPr>
            <p:cNvPr id="21" name="TextBox 21"/>
            <p:cNvSpPr txBox="1"/>
            <p:nvPr/>
          </p:nvSpPr>
          <p:spPr>
            <a:xfrm>
              <a:off x="1098423" y="3777139"/>
              <a:ext cx="494112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bản microscopy; độ phù hợp không thể suy từ việc nguồn là…</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378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Mức phù hợp hiện tại: phụ thuộc phổ; đây là xếp hạng</a:t>
              </a:r>
            </a:p>
          </p:txBody>
        </p:sp>
        <p:sp>
          <p:nvSpPr>
            <p:cNvPr id="24" name="TextBox 24"/>
            <p:cNvSpPr txBox="1"/>
            <p:nvPr/>
          </p:nvSpPr>
          <p:spPr>
            <a:xfrm>
              <a:off x="1098423" y="4329589"/>
              <a:ext cx="87452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tương đối.</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107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C1 · RESEARCH DIRECTION</a:t>
              </a:r>
            </a:p>
          </p:txBody>
        </p:sp>
        <p:sp>
          <p:nvSpPr>
            <p:cNvPr id="7" name="TextBox 7"/>
            <p:cNvSpPr txBox="1"/>
            <p:nvPr/>
          </p:nvSpPr>
          <p:spPr>
            <a:xfrm>
              <a:off x="671322" y="930592"/>
              <a:ext cx="725414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C1 — Mẫu, bố trí và phép đo cần có</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562144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có mẫu và phép đo thì chưa có cách kiểm chứng cơ chế.</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33043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Stack Si có void/bonding defect chuẩn và vùng</a:t>
              </a:r>
            </a:p>
          </p:txBody>
        </p:sp>
        <p:sp>
          <p:nvSpPr>
            <p:cNvPr id="16" name="TextBox 16"/>
            <p:cNvSpPr txBox="1"/>
            <p:nvPr/>
          </p:nvSpPr>
          <p:spPr>
            <a:xfrm>
              <a:off x="1098423" y="2986564"/>
              <a:ext cx="273550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reference trong suốt tương đối.</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41363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Contrast, SNR, độ sâu nhìn, độ lặp lại và ground</a:t>
              </a:r>
            </a:p>
          </p:txBody>
        </p:sp>
        <p:sp>
          <p:nvSpPr>
            <p:cNvPr id="19" name="TextBox 19"/>
            <p:cNvSpPr txBox="1"/>
            <p:nvPr/>
          </p:nvSpPr>
          <p:spPr>
            <a:xfrm>
              <a:off x="1098423" y="3539014"/>
              <a:ext cx="152931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truth từ mặt cắt.</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7749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Ghi rõ nguồn/thiết bị cần bổ sung; không ghi là phần cứng</a:t>
              </a:r>
            </a:p>
          </p:txBody>
        </p:sp>
        <p:sp>
          <p:nvSpPr>
            <p:cNvPr id="22" name="TextBox 22"/>
            <p:cNvSpPr txBox="1"/>
            <p:nvPr/>
          </p:nvSpPr>
          <p:spPr>
            <a:xfrm>
              <a:off x="1098423" y="4091464"/>
              <a:ext cx="6849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hiện có.</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108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C1 · RESEARCH DIRECTION</a:t>
              </a:r>
            </a:p>
          </p:txBody>
        </p:sp>
        <p:sp>
          <p:nvSpPr>
            <p:cNvPr id="7" name="TextBox 7"/>
            <p:cNvSpPr txBox="1"/>
            <p:nvPr/>
          </p:nvSpPr>
          <p:spPr>
            <a:xfrm>
              <a:off x="671322" y="930592"/>
              <a:ext cx="66844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C1 — Cổng quyết định và giới hạn</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47975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hướng chỉ được nâng hạng khi điều kiện còn thiếu được kiểm chứng.</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13555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l-GR" sz="1280" b="0" i="0" u="none" strike="noStrike" kern="1200" cap="none" spc="0" normalizeH="0" baseline="0" noProof="0" dirty="0">
                  <a:ln>
                    <a:noFill/>
                  </a:ln>
                  <a:solidFill>
                    <a:srgbClr val="F4F0E8"/>
                  </a:solidFill>
                  <a:effectLst/>
                  <a:uLnTx/>
                  <a:uFillTx/>
                  <a:latin typeface="Be Vietnam Pro"/>
                  <a:ea typeface="Be Vietnam Pro"/>
                  <a:cs typeface="Be Vietnam Pro"/>
                </a:rPr>
                <a:t>Cổng: Chỉ chốt sau khi kiểm tra toàn stack: λ–độ</a:t>
              </a:r>
            </a:p>
          </p:txBody>
        </p:sp>
        <p:sp>
          <p:nvSpPr>
            <p:cNvPr id="16" name="TextBox 16"/>
            <p:cNvSpPr txBox="1"/>
            <p:nvPr/>
          </p:nvSpPr>
          <p:spPr>
            <a:xfrm>
              <a:off x="1098423" y="2986564"/>
              <a:ext cx="124499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dày–detector.</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19" name="TextBox 19"/>
            <p:cNvSpPr txBox="1"/>
            <p:nvPr/>
          </p:nvSpPr>
          <p:spPr>
            <a:xfrm>
              <a:off x="1098423" y="353901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114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Nếu chưa phù hợp, giữ ở nhánh khám phá/đối tác thay vì</a:t>
              </a:r>
            </a:p>
          </p:txBody>
        </p:sp>
        <p:sp>
          <p:nvSpPr>
            <p:cNvPr id="22" name="TextBox 22"/>
            <p:cNvSpPr txBox="1"/>
            <p:nvPr/>
          </p:nvSpPr>
          <p:spPr>
            <a:xfrm>
              <a:off x="1098423" y="4091464"/>
              <a:ext cx="16930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hứa triển khai ngay.</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109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B1 · RESEARCH DIRECTION</a:t>
              </a:r>
            </a:p>
          </p:txBody>
        </p:sp>
        <p:sp>
          <p:nvSpPr>
            <p:cNvPr id="7" name="TextBox 7"/>
            <p:cNvSpPr txBox="1"/>
            <p:nvPr/>
          </p:nvSpPr>
          <p:spPr>
            <a:xfrm>
              <a:off x="671322" y="930592"/>
              <a:ext cx="841302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B1 — Căn chỉnh mặt sau và overlay: định</a:t>
              </a:r>
            </a:p>
          </p:txBody>
        </p:sp>
        <p:sp>
          <p:nvSpPr>
            <p:cNvPr id="8" name="TextBox 8"/>
            <p:cNvSpPr txBox="1"/>
            <p:nvPr/>
          </p:nvSpPr>
          <p:spPr>
            <a:xfrm>
              <a:off x="671322" y="1340168"/>
              <a:ext cx="6030666"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nghĩa, cơ chế và mức phù hợp</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57908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Dùng mark/contrast qua stack để căn chỉnh hai mặt hoặc chồng lớp (overlay) trong chế tạo.</a:t>
              </a:r>
            </a:p>
          </p:txBody>
        </p:sp>
        <p:sp>
          <p:nvSpPr>
            <p:cNvPr id="12" name="TextBox 12"/>
            <p:cNvSpPr txBox="1"/>
            <p:nvPr/>
          </p:nvSpPr>
          <p:spPr>
            <a:xfrm>
              <a:off x="907542" y="2187892"/>
              <a:ext cx="7395902"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Căn chỉnh hai mặt, cavity hoặc các lớp chồng nhau khi xử lý hai mặt thực sự cần.</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17877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Tín hiệu mark truyền/phản xạ qua stack →</a:t>
              </a:r>
            </a:p>
          </p:txBody>
        </p:sp>
        <p:sp>
          <p:nvSpPr>
            <p:cNvPr id="18" name="TextBox 18"/>
            <p:cNvSpPr txBox="1"/>
            <p:nvPr/>
          </p:nvSpPr>
          <p:spPr>
            <a:xfrm>
              <a:off x="1098423" y="3224689"/>
              <a:ext cx="487219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camera/sensor xác định vị trí → stage dịch chuyển theo…</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86795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S26–S28 hỗ trợ truyền qua, hình học và đo vị</a:t>
              </a:r>
            </a:p>
          </p:txBody>
        </p:sp>
        <p:sp>
          <p:nvSpPr>
            <p:cNvPr id="21" name="TextBox 21"/>
            <p:cNvSpPr txBox="1"/>
            <p:nvPr/>
          </p:nvSpPr>
          <p:spPr>
            <a:xfrm>
              <a:off x="1098423" y="3777139"/>
              <a:ext cx="483773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trí; stage 10 µm là năng lực định vị nền, không phải cam…</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37881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Mức phù hợp hiện tại: phụ thuộc phổ; đây là xếp hạng</a:t>
              </a:r>
            </a:p>
          </p:txBody>
        </p:sp>
        <p:sp>
          <p:nvSpPr>
            <p:cNvPr id="24" name="TextBox 24"/>
            <p:cNvSpPr txBox="1"/>
            <p:nvPr/>
          </p:nvSpPr>
          <p:spPr>
            <a:xfrm>
              <a:off x="1098423" y="4329589"/>
              <a:ext cx="87452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tương đối.</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P109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110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B1 · RESEARCH DIRECTION</a:t>
              </a:r>
            </a:p>
          </p:txBody>
        </p:sp>
        <p:sp>
          <p:nvSpPr>
            <p:cNvPr id="7" name="TextBox 7"/>
            <p:cNvSpPr txBox="1"/>
            <p:nvPr/>
          </p:nvSpPr>
          <p:spPr>
            <a:xfrm>
              <a:off x="671322" y="930592"/>
              <a:ext cx="725414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B1 — Mẫu, bố trí và phép đo cần có</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562144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có mẫu và phép đo thì chưa có cách kiểm chứng cơ chế.</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3010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Mẫu hai mặt có mark, độ nghiêng và stack đại diện;</a:t>
              </a:r>
            </a:p>
          </p:txBody>
        </p:sp>
        <p:sp>
          <p:nvSpPr>
            <p:cNvPr id="16" name="TextBox 16"/>
            <p:cNvSpPr txBox="1"/>
            <p:nvPr/>
          </p:nvSpPr>
          <p:spPr>
            <a:xfrm>
              <a:off x="1098423" y="2986564"/>
              <a:ext cx="221856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cần chuẩn overlay độc lập.</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2058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Độ lệch overlay, repeatability, contrast, ảnh hưởng</a:t>
              </a:r>
            </a:p>
          </p:txBody>
        </p:sp>
        <p:sp>
          <p:nvSpPr>
            <p:cNvPr id="19" name="TextBox 19"/>
            <p:cNvSpPr txBox="1"/>
            <p:nvPr/>
          </p:nvSpPr>
          <p:spPr>
            <a:xfrm>
              <a:off x="1098423" y="3539014"/>
              <a:ext cx="145177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nghiêng và drift.</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7749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Ghi rõ nguồn/thiết bị cần bổ sung; không ghi là phần cứng</a:t>
              </a:r>
            </a:p>
          </p:txBody>
        </p:sp>
        <p:sp>
          <p:nvSpPr>
            <p:cNvPr id="22" name="TextBox 22"/>
            <p:cNvSpPr txBox="1"/>
            <p:nvPr/>
          </p:nvSpPr>
          <p:spPr>
            <a:xfrm>
              <a:off x="1098423" y="4091464"/>
              <a:ext cx="6849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hiện có.</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P110</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111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B1 · RESEARCH DIRECTION</a:t>
              </a:r>
            </a:p>
          </p:txBody>
        </p:sp>
        <p:sp>
          <p:nvSpPr>
            <p:cNvPr id="7" name="TextBox 7"/>
            <p:cNvSpPr txBox="1"/>
            <p:nvPr/>
          </p:nvSpPr>
          <p:spPr>
            <a:xfrm>
              <a:off x="671322" y="930592"/>
              <a:ext cx="66844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B1 — Cổng quyết định và giới hạn</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47975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hướng chỉ được nâng hạng khi điều kiện còn thiếu được kiểm chứng.</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05777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Chỉ giữ nếu xử lý hai mặt thật sự cần và có</a:t>
              </a:r>
            </a:p>
          </p:txBody>
        </p:sp>
        <p:sp>
          <p:nvSpPr>
            <p:cNvPr id="16" name="TextBox 16"/>
            <p:cNvSpPr txBox="1"/>
            <p:nvPr/>
          </p:nvSpPr>
          <p:spPr>
            <a:xfrm>
              <a:off x="1098423" y="2986564"/>
              <a:ext cx="209794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mark/stack cho phép đo.</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19" name="TextBox 19"/>
            <p:cNvSpPr txBox="1"/>
            <p:nvPr/>
          </p:nvSpPr>
          <p:spPr>
            <a:xfrm>
              <a:off x="1098423" y="353901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114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Nếu chưa phù hợp, giữ ở nhánh khám phá/đối tác thay vì</a:t>
              </a:r>
            </a:p>
          </p:txBody>
        </p:sp>
        <p:sp>
          <p:nvSpPr>
            <p:cNvPr id="22" name="TextBox 22"/>
            <p:cNvSpPr txBox="1"/>
            <p:nvPr/>
          </p:nvSpPr>
          <p:spPr>
            <a:xfrm>
              <a:off x="1098423" y="4091464"/>
              <a:ext cx="16930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hứa triển khai ngay.</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112 / 133</a:t>
              </a:r>
            </a:p>
          </p:txBody>
        </p:sp>
      </p:grpSp>
      <p:grpSp>
        <p:nvGrpSpPr>
          <p:cNvPr id="13" name="Group 13"/>
          <p:cNvGrpSpPr/>
          <p:nvPr/>
        </p:nvGrpSpPr>
        <p:grpSpPr>
          <a:xfrm>
            <a:off x="672846" y="734378"/>
            <a:ext cx="10833354" cy="1751647"/>
            <a:chOff x="672846" y="734378"/>
            <a:chExt cx="10833354"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A4 · RESEARCH DIRECTION</a:t>
              </a:r>
            </a:p>
          </p:txBody>
        </p:sp>
        <p:sp>
          <p:nvSpPr>
            <p:cNvPr id="7" name="TextBox 7"/>
            <p:cNvSpPr txBox="1"/>
            <p:nvPr/>
          </p:nvSpPr>
          <p:spPr>
            <a:xfrm>
              <a:off x="672846" y="962978"/>
              <a:ext cx="7732359" cy="49872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F4F0E8"/>
                  </a:solidFill>
                  <a:effectLst/>
                  <a:uLnTx/>
                  <a:uFillTx/>
                  <a:latin typeface="Noto Serif Display"/>
                  <a:ea typeface="Noto Serif Display"/>
                  <a:cs typeface="Noto Serif Display"/>
                </a:rPr>
                <a:t>A4 — Ablation, khoan, dicing và trimming:</a:t>
              </a:r>
            </a:p>
          </p:txBody>
        </p:sp>
        <p:sp>
          <p:nvSpPr>
            <p:cNvPr id="8" name="TextBox 8"/>
            <p:cNvSpPr txBox="1"/>
            <p:nvPr/>
          </p:nvSpPr>
          <p:spPr>
            <a:xfrm>
              <a:off x="672846" y="1372552"/>
              <a:ext cx="6347978" cy="49872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F4F0E8"/>
                  </a:solidFill>
                  <a:effectLst/>
                  <a:uLnTx/>
                  <a:uFillTx/>
                  <a:latin typeface="Noto Serif Display"/>
                  <a:ea typeface="Noto Serif Display"/>
                  <a:cs typeface="Noto Serif Display"/>
                </a:rPr>
                <a:t>định nghĩa, cơ chế và mức phù hợp</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185644"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Loại vật liệu, mở lớp, khoan, cắt hoặc chỉnh thông số bằng tác động laser. Tạo rãnh, mở</a:t>
              </a:r>
            </a:p>
          </p:txBody>
        </p:sp>
        <p:sp>
          <p:nvSpPr>
            <p:cNvPr id="12" name="TextBox 12"/>
            <p:cNvSpPr txBox="1"/>
            <p:nvPr/>
          </p:nvSpPr>
          <p:spPr>
            <a:xfrm>
              <a:off x="907542" y="2187892"/>
              <a:ext cx="6272738"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lớp, khoan hoặc trimming không tiếp xúc khi nhu cầu là gia công thô.</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85878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Năng lượng vượt ngưỡng gây nóng chảy/bốc hơi/phá</a:t>
              </a:r>
            </a:p>
          </p:txBody>
        </p:sp>
        <p:sp>
          <p:nvSpPr>
            <p:cNvPr id="18" name="TextBox 18"/>
            <p:cNvSpPr txBox="1"/>
            <p:nvPr/>
          </p:nvSpPr>
          <p:spPr>
            <a:xfrm>
              <a:off x="1098423" y="3224689"/>
              <a:ext cx="494112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huỷ; chất lượng phụ thuộc pulse thật, heat affected zone…</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59101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S23/S32 hỗ trợ phân biệt gia công nhiệt và</a:t>
              </a:r>
            </a:p>
          </p:txBody>
        </p:sp>
        <p:sp>
          <p:nvSpPr>
            <p:cNvPr id="21" name="TextBox 21"/>
            <p:cNvSpPr txBox="1"/>
            <p:nvPr/>
          </p:nvSpPr>
          <p:spPr>
            <a:xfrm>
              <a:off x="1098423" y="3777139"/>
              <a:ext cx="458323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chất lượng beam; không hứa thay UV/femtosecond cho…</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57694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Mức phù hợp hiện tại: ít phù hợp cho gia công tinh; đây</a:t>
              </a:r>
            </a:p>
          </p:txBody>
        </p:sp>
        <p:sp>
          <p:nvSpPr>
            <p:cNvPr id="24" name="TextBox 24"/>
            <p:cNvSpPr txBox="1"/>
            <p:nvPr/>
          </p:nvSpPr>
          <p:spPr>
            <a:xfrm>
              <a:off x="1098423" y="4329589"/>
              <a:ext cx="1839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là xếp hạng tương đối.</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113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A4 · RESEARCH DIRECTION</a:t>
              </a:r>
            </a:p>
          </p:txBody>
        </p:sp>
        <p:sp>
          <p:nvSpPr>
            <p:cNvPr id="7" name="TextBox 7"/>
            <p:cNvSpPr txBox="1"/>
            <p:nvPr/>
          </p:nvSpPr>
          <p:spPr>
            <a:xfrm>
              <a:off x="671322" y="930592"/>
              <a:ext cx="725414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A4 — Mẫu, bố trí và phép đo cần có</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562144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có mẫu và phép đo thì chưa có cách kiểm chứng cơ chế.</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47092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Coupon cùng vật liệu với đường cắt/rãnh và vùng</a:t>
              </a:r>
            </a:p>
          </p:txBody>
        </p:sp>
        <p:sp>
          <p:nvSpPr>
            <p:cNvPr id="16" name="TextBox 16"/>
            <p:cNvSpPr txBox="1"/>
            <p:nvPr/>
          </p:nvSpPr>
          <p:spPr>
            <a:xfrm>
              <a:off x="1098423" y="2986564"/>
              <a:ext cx="301982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không xử lý; có containment debris.</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2975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Chiều rộng/rãnh, taper, roughness, HAZ, crack và</a:t>
              </a:r>
            </a:p>
          </p:txBody>
        </p:sp>
        <p:sp>
          <p:nvSpPr>
            <p:cNvPr id="19" name="TextBox 19"/>
            <p:cNvSpPr txBox="1"/>
            <p:nvPr/>
          </p:nvSpPr>
          <p:spPr>
            <a:xfrm>
              <a:off x="1098423" y="3539014"/>
              <a:ext cx="63328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debris.</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7749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Ghi rõ nguồn/thiết bị cần bổ sung; không ghi là phần cứng</a:t>
              </a:r>
            </a:p>
          </p:txBody>
        </p:sp>
        <p:sp>
          <p:nvSpPr>
            <p:cNvPr id="22" name="TextBox 22"/>
            <p:cNvSpPr txBox="1"/>
            <p:nvPr/>
          </p:nvSpPr>
          <p:spPr>
            <a:xfrm>
              <a:off x="1098423" y="4091464"/>
              <a:ext cx="6849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hiện có.</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114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A4 · RESEARCH DIRECTION</a:t>
              </a:r>
            </a:p>
          </p:txBody>
        </p:sp>
        <p:sp>
          <p:nvSpPr>
            <p:cNvPr id="7" name="TextBox 7"/>
            <p:cNvSpPr txBox="1"/>
            <p:nvPr/>
          </p:nvSpPr>
          <p:spPr>
            <a:xfrm>
              <a:off x="671322" y="930592"/>
              <a:ext cx="66844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A4 — Cổng quyết định và giới hạn</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47975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hướng chỉ được nâng hạng khi điều kiện còn thiếu được kiểm chứng.</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1194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Chỉ chọn khi nhu cầu là gia công thô hoặc trimming</a:t>
              </a:r>
            </a:p>
          </p:txBody>
        </p:sp>
        <p:sp>
          <p:nvSpPr>
            <p:cNvPr id="16" name="TextBox 16"/>
            <p:cNvSpPr txBox="1"/>
            <p:nvPr/>
          </p:nvSpPr>
          <p:spPr>
            <a:xfrm>
              <a:off x="1098423" y="2986564"/>
              <a:ext cx="357123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thật; không gọi là dicing sạch nếu chưa đo.</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19" name="TextBox 19"/>
            <p:cNvSpPr txBox="1"/>
            <p:nvPr/>
          </p:nvSpPr>
          <p:spPr>
            <a:xfrm>
              <a:off x="1098423" y="353901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114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Nếu chưa phù hợp, giữ ở nhánh khám phá/đối tác thay vì</a:t>
              </a:r>
            </a:p>
          </p:txBody>
        </p:sp>
        <p:sp>
          <p:nvSpPr>
            <p:cNvPr id="22" name="TextBox 22"/>
            <p:cNvSpPr txBox="1"/>
            <p:nvPr/>
          </p:nvSpPr>
          <p:spPr>
            <a:xfrm>
              <a:off x="1098423" y="4091464"/>
              <a:ext cx="16930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hứa triển khai ngay.</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115 / 133</a:t>
              </a:r>
            </a:p>
          </p:txBody>
        </p:sp>
      </p:grpSp>
      <p:grpSp>
        <p:nvGrpSpPr>
          <p:cNvPr id="13" name="Group 13"/>
          <p:cNvGrpSpPr/>
          <p:nvPr/>
        </p:nvGrpSpPr>
        <p:grpSpPr>
          <a:xfrm>
            <a:off x="672846" y="734378"/>
            <a:ext cx="10833354" cy="1751647"/>
            <a:chOff x="672846" y="734378"/>
            <a:chExt cx="10833354"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D2 · RESEARCH DIRECTION</a:t>
              </a:r>
            </a:p>
          </p:txBody>
        </p:sp>
        <p:sp>
          <p:nvSpPr>
            <p:cNvPr id="7" name="TextBox 7"/>
            <p:cNvSpPr txBox="1"/>
            <p:nvPr/>
          </p:nvSpPr>
          <p:spPr>
            <a:xfrm>
              <a:off x="672846" y="962978"/>
              <a:ext cx="8562930" cy="49872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F4F0E8"/>
                  </a:solidFill>
                  <a:effectLst/>
                  <a:uLnTx/>
                  <a:uFillTx/>
                  <a:latin typeface="Noto Serif Display"/>
                  <a:ea typeface="Noto Serif Display"/>
                  <a:cs typeface="Noto Serif Display"/>
                </a:rPr>
                <a:t>D2 — Release cấu trúc MEMS bằng laser: định</a:t>
              </a:r>
            </a:p>
          </p:txBody>
        </p:sp>
        <p:sp>
          <p:nvSpPr>
            <p:cNvPr id="8" name="TextBox 8"/>
            <p:cNvSpPr txBox="1"/>
            <p:nvPr/>
          </p:nvSpPr>
          <p:spPr>
            <a:xfrm>
              <a:off x="672846" y="1372552"/>
              <a:ext cx="5395859" cy="49872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F4F0E8"/>
                  </a:solidFill>
                  <a:effectLst/>
                  <a:uLnTx/>
                  <a:uFillTx/>
                  <a:latin typeface="Noto Serif Display"/>
                  <a:ea typeface="Noto Serif Display"/>
                  <a:cs typeface="Noto Serif Display"/>
                </a:rPr>
                <a:t>nghĩa, cơ chế và mức phù hợp</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421939"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Tách dầm/cấu trúc MEMS khỏi lớp hy sinh hoặc hỗ trợ chuyển cấu trúc bằng xử lý laser. Giải</a:t>
              </a:r>
            </a:p>
          </p:txBody>
        </p:sp>
        <p:sp>
          <p:nvSpPr>
            <p:cNvPr id="12" name="TextBox 12"/>
            <p:cNvSpPr txBox="1"/>
            <p:nvPr/>
          </p:nvSpPr>
          <p:spPr>
            <a:xfrm>
              <a:off x="907542" y="2187892"/>
              <a:ext cx="5689904"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phóng dầm/cấu trúc MEMS khi đã thiết kế lớp hy sinh phù hợp.</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3336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Laser hấp thụ ở polymer/ lớp release → phân</a:t>
              </a:r>
            </a:p>
          </p:txBody>
        </p:sp>
        <p:sp>
          <p:nvSpPr>
            <p:cNvPr id="18" name="TextBox 18"/>
            <p:cNvSpPr txBox="1"/>
            <p:nvPr/>
          </p:nvSpPr>
          <p:spPr>
            <a:xfrm>
              <a:off x="1098423" y="3224689"/>
              <a:ext cx="344199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hủy/giảm bám → cấu trúc được giải phóng.</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83976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S24 có tiền lệ polymer và UV excimer; NIR chỉ</a:t>
              </a:r>
            </a:p>
          </p:txBody>
        </p:sp>
        <p:sp>
          <p:nvSpPr>
            <p:cNvPr id="21" name="TextBox 21"/>
            <p:cNvSpPr txBox="1"/>
            <p:nvPr/>
          </p:nvSpPr>
          <p:spPr>
            <a:xfrm>
              <a:off x="1098423" y="3777139"/>
              <a:ext cx="341614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phù hợp nếu stack hấp thụ được thiết kế.</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72330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Mức phù hợp hiện tại: ít phù hợp nếu chưa thiết kế lớp hy</a:t>
              </a:r>
            </a:p>
          </p:txBody>
        </p:sp>
        <p:sp>
          <p:nvSpPr>
            <p:cNvPr id="24" name="TextBox 24"/>
            <p:cNvSpPr txBox="1"/>
            <p:nvPr/>
          </p:nvSpPr>
          <p:spPr>
            <a:xfrm>
              <a:off x="1098423" y="4329589"/>
              <a:ext cx="265796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sinh; đây là xếp hạng tương đối.</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116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D2 · RESEARCH DIRECTION</a:t>
              </a:r>
            </a:p>
          </p:txBody>
        </p:sp>
        <p:sp>
          <p:nvSpPr>
            <p:cNvPr id="7" name="TextBox 7"/>
            <p:cNvSpPr txBox="1"/>
            <p:nvPr/>
          </p:nvSpPr>
          <p:spPr>
            <a:xfrm>
              <a:off x="671322" y="930592"/>
              <a:ext cx="725414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D2 — Mẫu, bố trí và phép đo cần có</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562144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có mẫu và phép đo thì chưa có cách kiểm chứng cơ chế.</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58293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Cantilever có lớp hy sinh rõ, cửa sổ laser và vùng</a:t>
              </a:r>
            </a:p>
          </p:txBody>
        </p:sp>
        <p:sp>
          <p:nvSpPr>
            <p:cNvPr id="16" name="TextBox 16"/>
            <p:cNvSpPr txBox="1"/>
            <p:nvPr/>
          </p:nvSpPr>
          <p:spPr>
            <a:xfrm>
              <a:off x="1098423" y="2986564"/>
              <a:ext cx="10209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không xử lý.</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91090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Tỷ lệ release, residue, cong/gãy, stress và chức năng</a:t>
              </a:r>
            </a:p>
          </p:txBody>
        </p:sp>
        <p:sp>
          <p:nvSpPr>
            <p:cNvPr id="19" name="TextBox 19"/>
            <p:cNvSpPr txBox="1"/>
            <p:nvPr/>
          </p:nvSpPr>
          <p:spPr>
            <a:xfrm>
              <a:off x="1098423" y="3539014"/>
              <a:ext cx="42650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dầm.</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7749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Ghi rõ nguồn/thiết bị cần bổ sung; không ghi là phần cứng</a:t>
              </a:r>
            </a:p>
          </p:txBody>
        </p:sp>
        <p:sp>
          <p:nvSpPr>
            <p:cNvPr id="22" name="TextBox 22"/>
            <p:cNvSpPr txBox="1"/>
            <p:nvPr/>
          </p:nvSpPr>
          <p:spPr>
            <a:xfrm>
              <a:off x="1098423" y="4091464"/>
              <a:ext cx="6849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hiện có.</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117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D2 · RESEARCH DIRECTION</a:t>
              </a:r>
            </a:p>
          </p:txBody>
        </p:sp>
        <p:sp>
          <p:nvSpPr>
            <p:cNvPr id="7" name="TextBox 7"/>
            <p:cNvSpPr txBox="1"/>
            <p:nvPr/>
          </p:nvSpPr>
          <p:spPr>
            <a:xfrm>
              <a:off x="671322" y="930592"/>
              <a:ext cx="66844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D2 — Cổng quyết định và giới hạn</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47975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hướng chỉ được nâng hạng khi điều kiện còn thiếu được kiểm chứng.</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3785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Chỉ chọn khi có stack release cụ thể và lợi ích hơn</a:t>
              </a:r>
            </a:p>
          </p:txBody>
        </p:sp>
        <p:sp>
          <p:nvSpPr>
            <p:cNvPr id="16" name="TextBox 16"/>
            <p:cNvSpPr txBox="1"/>
            <p:nvPr/>
          </p:nvSpPr>
          <p:spPr>
            <a:xfrm>
              <a:off x="1098423" y="2986564"/>
              <a:ext cx="157239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etch/wet release.</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19" name="TextBox 19"/>
            <p:cNvSpPr txBox="1"/>
            <p:nvPr/>
          </p:nvSpPr>
          <p:spPr>
            <a:xfrm>
              <a:off x="1098423" y="353901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114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Nếu chưa phù hợp, giữ ở nhánh khám phá/đối tác thay vì</a:t>
              </a:r>
            </a:p>
          </p:txBody>
        </p:sp>
        <p:sp>
          <p:nvSpPr>
            <p:cNvPr id="22" name="TextBox 22"/>
            <p:cNvSpPr txBox="1"/>
            <p:nvPr/>
          </p:nvSpPr>
          <p:spPr>
            <a:xfrm>
              <a:off x="1098423" y="4091464"/>
              <a:ext cx="16930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hứa triển khai ngay.</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118 / 133</a:t>
              </a:r>
            </a:p>
          </p:txBody>
        </p:sp>
      </p:grpSp>
      <p:grpSp>
        <p:nvGrpSpPr>
          <p:cNvPr id="13" name="Group 13"/>
          <p:cNvGrpSpPr/>
          <p:nvPr/>
        </p:nvGrpSpPr>
        <p:grpSpPr>
          <a:xfrm>
            <a:off x="672846" y="734378"/>
            <a:ext cx="10833354" cy="1751647"/>
            <a:chOff x="672846" y="734378"/>
            <a:chExt cx="10833354"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A5 · RESEARCH DIRECTION</a:t>
              </a:r>
            </a:p>
          </p:txBody>
        </p:sp>
        <p:sp>
          <p:nvSpPr>
            <p:cNvPr id="7" name="TextBox 7"/>
            <p:cNvSpPr txBox="1"/>
            <p:nvPr/>
          </p:nvSpPr>
          <p:spPr>
            <a:xfrm>
              <a:off x="672846" y="962978"/>
              <a:ext cx="7965220" cy="49872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F4F0E8"/>
                  </a:solidFill>
                  <a:effectLst/>
                  <a:uLnTx/>
                  <a:uFillTx/>
                  <a:latin typeface="Noto Serif Display"/>
                  <a:ea typeface="Noto Serif Display"/>
                  <a:cs typeface="Noto Serif Display"/>
                </a:rPr>
                <a:t>A5 — LIFT và in chuyển vật liệu bằng laser:</a:t>
              </a:r>
            </a:p>
          </p:txBody>
        </p:sp>
        <p:sp>
          <p:nvSpPr>
            <p:cNvPr id="8" name="TextBox 8"/>
            <p:cNvSpPr txBox="1"/>
            <p:nvPr/>
          </p:nvSpPr>
          <p:spPr>
            <a:xfrm>
              <a:off x="672846" y="1372552"/>
              <a:ext cx="6347978" cy="49872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550" b="1" i="0" u="none" strike="noStrike" kern="1200" cap="none" spc="0" normalizeH="0" baseline="0" noProof="0" dirty="0">
                  <a:ln>
                    <a:noFill/>
                  </a:ln>
                  <a:solidFill>
                    <a:srgbClr val="F4F0E8"/>
                  </a:solidFill>
                  <a:effectLst/>
                  <a:uLnTx/>
                  <a:uFillTx/>
                  <a:latin typeface="Noto Serif Display"/>
                  <a:ea typeface="Noto Serif Display"/>
                  <a:cs typeface="Noto Serif Display"/>
                </a:rPr>
                <a:t>định nghĩa, cơ chế và mức phù hợp</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254330"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Chuyển vật liệu từ donor sang receiver bằng xung/điều kiện laser phù hợp để tạo pattern,</a:t>
              </a:r>
            </a:p>
          </p:txBody>
        </p:sp>
        <p:sp>
          <p:nvSpPr>
            <p:cNvPr id="12" name="TextBox 12"/>
            <p:cNvSpPr txBox="1"/>
            <p:nvPr/>
          </p:nvSpPr>
          <p:spPr>
            <a:xfrm>
              <a:off x="907542" y="2187892"/>
              <a:ext cx="642244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bump hoặc interconnect. Chuyển vật liệu donor sang receiver để tạo…</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63507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Donor hấp thụ → vật liệu phóng/chuyển → landing</a:t>
              </a:r>
            </a:p>
          </p:txBody>
        </p:sp>
        <p:sp>
          <p:nvSpPr>
            <p:cNvPr id="18" name="TextBox 18"/>
            <p:cNvSpPr txBox="1"/>
            <p:nvPr/>
          </p:nvSpPr>
          <p:spPr>
            <a:xfrm>
              <a:off x="1098423" y="3224689"/>
              <a:ext cx="465680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trên receiver; gap, pulse và rheology quyết định hình…</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63858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S25/S32 hỗ trợ LIFT và giới hạn beam; LIFT</a:t>
              </a:r>
            </a:p>
          </p:txBody>
        </p:sp>
        <p:sp>
          <p:nvSpPr>
            <p:cNvPr id="21" name="TextBox 21"/>
            <p:cNvSpPr txBox="1"/>
            <p:nvPr/>
          </p:nvSpPr>
          <p:spPr>
            <a:xfrm>
              <a:off x="1098423" y="3777139"/>
              <a:ext cx="493250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kim loại chính xác thường cần kiểm soát xung thật và hình…</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05972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Mức phù hợp hiện tại: ít phù hợp với giới hạn thời</a:t>
              </a:r>
            </a:p>
          </p:txBody>
        </p:sp>
        <p:sp>
          <p:nvSpPr>
            <p:cNvPr id="24" name="TextBox 24"/>
            <p:cNvSpPr txBox="1"/>
            <p:nvPr/>
          </p:nvSpPr>
          <p:spPr>
            <a:xfrm>
              <a:off x="1098423" y="4329589"/>
              <a:ext cx="361430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gian–không gian; đây là xếp hạng tương đối.</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119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A5 · RESEARCH DIRECTION</a:t>
              </a:r>
            </a:p>
          </p:txBody>
        </p:sp>
        <p:sp>
          <p:nvSpPr>
            <p:cNvPr id="7" name="TextBox 7"/>
            <p:cNvSpPr txBox="1"/>
            <p:nvPr/>
          </p:nvSpPr>
          <p:spPr>
            <a:xfrm>
              <a:off x="671322" y="930592"/>
              <a:ext cx="725414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A5 — Mẫu, bố trí và phép đo cần có</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562144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có mẫu và phép đo thì chưa có cách kiểm chứng cơ chế.</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6174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Donor–gap–receiver với vật liệu đơn giản; bắt đầu</a:t>
              </a:r>
            </a:p>
          </p:txBody>
        </p:sp>
        <p:sp>
          <p:nvSpPr>
            <p:cNvPr id="16" name="TextBox 16"/>
            <p:cNvSpPr txBox="1"/>
            <p:nvPr/>
          </p:nvSpPr>
          <p:spPr>
            <a:xfrm>
              <a:off x="1098423" y="2986564"/>
              <a:ext cx="393308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pattern lớn, không tuyên bố feature nhỏ.</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90257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Tỷ lệ transfer, vị trí, splash/debris, bám dính, điện</a:t>
              </a:r>
            </a:p>
          </p:txBody>
        </p:sp>
        <p:sp>
          <p:nvSpPr>
            <p:cNvPr id="19" name="TextBox 19"/>
            <p:cNvSpPr txBox="1"/>
            <p:nvPr/>
          </p:nvSpPr>
          <p:spPr>
            <a:xfrm>
              <a:off x="1098423" y="3539014"/>
              <a:ext cx="178778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trở và repeatability.</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7749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Ghi rõ nguồn/thiết bị cần bổ sung; không ghi là phần cứng</a:t>
              </a:r>
            </a:p>
          </p:txBody>
        </p:sp>
        <p:sp>
          <p:nvSpPr>
            <p:cNvPr id="22" name="TextBox 22"/>
            <p:cNvSpPr txBox="1"/>
            <p:nvPr/>
          </p:nvSpPr>
          <p:spPr>
            <a:xfrm>
              <a:off x="1098423" y="4091464"/>
              <a:ext cx="6849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hiện có.</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P119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120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A5 · RESEARCH DIRECTION</a:t>
              </a:r>
            </a:p>
          </p:txBody>
        </p:sp>
        <p:sp>
          <p:nvSpPr>
            <p:cNvPr id="7" name="TextBox 7"/>
            <p:cNvSpPr txBox="1"/>
            <p:nvPr/>
          </p:nvSpPr>
          <p:spPr>
            <a:xfrm>
              <a:off x="671322" y="930592"/>
              <a:ext cx="66844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A5 — Cổng quyết định và giới hạn</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47975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hướng chỉ được nâng hạng khi điều kiện còn thiếu được kiểm chứng.</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42802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Giữ như nhánh chuyên biệt; chỉ mở rộng sau khi</a:t>
              </a:r>
            </a:p>
          </p:txBody>
        </p:sp>
        <p:sp>
          <p:nvSpPr>
            <p:cNvPr id="16" name="TextBox 16"/>
            <p:cNvSpPr txBox="1"/>
            <p:nvPr/>
          </p:nvSpPr>
          <p:spPr>
            <a:xfrm>
              <a:off x="1098423" y="2986564"/>
              <a:ext cx="393308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chứng minh nguồn tương thích cửa sổ thời gian.</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19" name="TextBox 19"/>
            <p:cNvSpPr txBox="1"/>
            <p:nvPr/>
          </p:nvSpPr>
          <p:spPr>
            <a:xfrm>
              <a:off x="1098423" y="353901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114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Nếu chưa phù hợp, giữ ở nhánh khám phá/đối tác thay vì</a:t>
              </a:r>
            </a:p>
          </p:txBody>
        </p:sp>
        <p:sp>
          <p:nvSpPr>
            <p:cNvPr id="22" name="TextBox 22"/>
            <p:cNvSpPr txBox="1"/>
            <p:nvPr/>
          </p:nvSpPr>
          <p:spPr>
            <a:xfrm>
              <a:off x="1098423" y="4091464"/>
              <a:ext cx="16930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hứa triển khai ngay.</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P120</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121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E6 · RESEARCH DIRECTION</a:t>
              </a:r>
            </a:p>
          </p:txBody>
        </p:sp>
        <p:sp>
          <p:nvSpPr>
            <p:cNvPr id="7" name="TextBox 7"/>
            <p:cNvSpPr txBox="1"/>
            <p:nvPr/>
          </p:nvSpPr>
          <p:spPr>
            <a:xfrm>
              <a:off x="671322" y="930592"/>
              <a:ext cx="848155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E6 — FDTR và đo nhiệt pump–probe: định</a:t>
              </a:r>
            </a:p>
          </p:txBody>
        </p:sp>
        <p:sp>
          <p:nvSpPr>
            <p:cNvPr id="8" name="TextBox 8"/>
            <p:cNvSpPr txBox="1"/>
            <p:nvPr/>
          </p:nvSpPr>
          <p:spPr>
            <a:xfrm>
              <a:off x="671322" y="1340168"/>
              <a:ext cx="6030666"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nghĩa, cơ chế và mức phù hợp</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7930047"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Dùng pump điều biến tạo dao động nhiệt và probe đọc thay đổi phản xạ để suy tính chất</a:t>
              </a:r>
            </a:p>
          </p:txBody>
        </p:sp>
        <p:sp>
          <p:nvSpPr>
            <p:cNvPr id="12" name="TextBox 12"/>
            <p:cNvSpPr txBox="1"/>
            <p:nvPr/>
          </p:nvSpPr>
          <p:spPr>
            <a:xfrm>
              <a:off x="907542" y="2187892"/>
              <a:ext cx="849314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nhiệt của màng/giao diện. Suy tính chất nhiệt của màng/giao diện bằng đáp ứng tần số thay…</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58422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Pump → nhiệt dao động → phản xạ probe đổi → fit</a:t>
              </a:r>
            </a:p>
          </p:txBody>
        </p:sp>
        <p:sp>
          <p:nvSpPr>
            <p:cNvPr id="18" name="TextBox 18"/>
            <p:cNvSpPr txBox="1"/>
            <p:nvPr/>
          </p:nvSpPr>
          <p:spPr>
            <a:xfrm>
              <a:off x="1098423" y="3224689"/>
              <a:ext cx="374354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mô hình đáp ứng tần số và đánh giá bất định.</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31870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S31 hỗ trợ phương pháp FDTR; S32 nhắc</a:t>
              </a:r>
            </a:p>
          </p:txBody>
        </p:sp>
        <p:sp>
          <p:nvSpPr>
            <p:cNvPr id="21" name="TextBox 21"/>
            <p:cNvSpPr txBox="1"/>
            <p:nvPr/>
          </p:nvSpPr>
          <p:spPr>
            <a:xfrm>
              <a:off x="1098423" y="3777139"/>
              <a:ext cx="502710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BPP/spot và ổn định beam. Không chỉ thêm camera nhiệt là…</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735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Mức phù hợp hiện tại: nhánh đo chuyên sâu; đây là xếp</a:t>
              </a:r>
            </a:p>
          </p:txBody>
        </p:sp>
        <p:sp>
          <p:nvSpPr>
            <p:cNvPr id="24" name="TextBox 24"/>
            <p:cNvSpPr txBox="1"/>
            <p:nvPr/>
          </p:nvSpPr>
          <p:spPr>
            <a:xfrm>
              <a:off x="1098423" y="4329589"/>
              <a:ext cx="130530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hạng tương đối.</a:t>
              </a:r>
            </a:p>
          </p:txBody>
        </p:sp>
      </p:grpSp>
      <p:grpSp>
        <p:nvGrpSpPr>
          <p:cNvPr id="45" name="Group 45"/>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48125"/>
              <a:ext cx="476250" cy="476250"/>
            </a:xfrm>
            <a:prstGeom prst="ellipse">
              <a:avLst/>
            </a:prstGeom>
            <a:solidFill>
              <a:srgbClr val="D7B46A"/>
            </a:solidFill>
            <a:ln>
              <a:noFill/>
            </a:ln>
          </p:spPr>
        </p:sp>
        <p:sp>
          <p:nvSpPr>
            <p:cNvPr id="29" name="TextBox 29"/>
            <p:cNvSpPr txBox="1"/>
            <p:nvPr/>
          </p:nvSpPr>
          <p:spPr>
            <a:xfrm>
              <a:off x="7503515" y="41976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53097" y="4752499"/>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31" name="Line 31"/>
            <p:cNvSpPr/>
            <p:nvPr/>
          </p:nvSpPr>
          <p:spPr>
            <a:xfrm>
              <a:off x="7810500" y="4286250"/>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2" name="Ellipse 32"/>
            <p:cNvSpPr/>
            <p:nvPr/>
          </p:nvSpPr>
          <p:spPr>
            <a:xfrm>
              <a:off x="8315325" y="4048125"/>
              <a:ext cx="476250" cy="476250"/>
            </a:xfrm>
            <a:prstGeom prst="ellipse">
              <a:avLst/>
            </a:prstGeom>
            <a:solidFill>
              <a:srgbClr val="72D5D2"/>
            </a:solidFill>
            <a:ln>
              <a:noFill/>
            </a:ln>
          </p:spPr>
        </p:sp>
        <p:sp>
          <p:nvSpPr>
            <p:cNvPr id="33" name="TextBox 33"/>
            <p:cNvSpPr txBox="1"/>
            <p:nvPr/>
          </p:nvSpPr>
          <p:spPr>
            <a:xfrm>
              <a:off x="8494115" y="41976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243697" y="4752499"/>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5" name="Line 35"/>
            <p:cNvSpPr/>
            <p:nvPr/>
          </p:nvSpPr>
          <p:spPr>
            <a:xfrm>
              <a:off x="8801100" y="4286250"/>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6" name="Ellipse 36"/>
            <p:cNvSpPr/>
            <p:nvPr/>
          </p:nvSpPr>
          <p:spPr>
            <a:xfrm>
              <a:off x="9305925" y="4048125"/>
              <a:ext cx="476250" cy="476250"/>
            </a:xfrm>
            <a:prstGeom prst="ellipse">
              <a:avLst/>
            </a:prstGeom>
            <a:solidFill>
              <a:srgbClr val="D7B46A"/>
            </a:solidFill>
            <a:ln>
              <a:noFill/>
            </a:ln>
          </p:spPr>
        </p:sp>
        <p:sp>
          <p:nvSpPr>
            <p:cNvPr id="37" name="TextBox 37"/>
            <p:cNvSpPr txBox="1"/>
            <p:nvPr/>
          </p:nvSpPr>
          <p:spPr>
            <a:xfrm>
              <a:off x="9484715" y="41976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234297" y="4752499"/>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9" name="Line 39"/>
            <p:cNvSpPr/>
            <p:nvPr/>
          </p:nvSpPr>
          <p:spPr>
            <a:xfrm>
              <a:off x="9791700" y="4286250"/>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40" name="Ellipse 40"/>
            <p:cNvSpPr/>
            <p:nvPr/>
          </p:nvSpPr>
          <p:spPr>
            <a:xfrm>
              <a:off x="10296525" y="4048125"/>
              <a:ext cx="476250" cy="476250"/>
            </a:xfrm>
            <a:prstGeom prst="ellipse">
              <a:avLst/>
            </a:prstGeom>
            <a:solidFill>
              <a:srgbClr val="D78678"/>
            </a:solidFill>
            <a:ln>
              <a:noFill/>
            </a:ln>
          </p:spPr>
        </p:sp>
        <p:sp>
          <p:nvSpPr>
            <p:cNvPr id="41" name="TextBox 41"/>
            <p:cNvSpPr txBox="1"/>
            <p:nvPr/>
          </p:nvSpPr>
          <p:spPr>
            <a:xfrm>
              <a:off x="10475315" y="41976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2" name="TextBox 42"/>
            <p:cNvSpPr txBox="1"/>
            <p:nvPr/>
          </p:nvSpPr>
          <p:spPr>
            <a:xfrm>
              <a:off x="10224897" y="4752499"/>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3" name="Rectangle 43"/>
            <p:cNvSpPr/>
            <p:nvPr/>
          </p:nvSpPr>
          <p:spPr>
            <a:xfrm>
              <a:off x="7381875" y="5257800"/>
              <a:ext cx="3695700" cy="400050"/>
            </a:xfrm>
            <a:prstGeom prst="roundRect">
              <a:avLst>
                <a:gd name="adj" fmla="val 23810"/>
              </a:avLst>
            </a:prstGeom>
            <a:solidFill>
              <a:srgbClr val="10243A"/>
            </a:solidFill>
            <a:ln w="9525">
              <a:solidFill>
                <a:srgbClr val="2B425A"/>
              </a:solidFill>
            </a:ln>
          </p:spPr>
        </p:sp>
        <p:sp>
          <p:nvSpPr>
            <p:cNvPr id="44" name="TextBox 44"/>
            <p:cNvSpPr txBox="1"/>
            <p:nvPr/>
          </p:nvSpPr>
          <p:spPr>
            <a:xfrm>
              <a:off x="8350080" y="5375910"/>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8" name="Group 48"/>
          <p:cNvGrpSpPr/>
          <p:nvPr/>
        </p:nvGrpSpPr>
        <p:grpSpPr>
          <a:xfrm>
            <a:off x="685800" y="6343650"/>
            <a:ext cx="10825353" cy="314039"/>
            <a:chOff x="685800" y="6343650"/>
            <a:chExt cx="10825353" cy="314039"/>
          </a:xfrm>
        </p:grpSpPr>
        <p:sp>
          <p:nvSpPr>
            <p:cNvPr id="46" name="Line 46"/>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7" name="TextBox 47"/>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122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E6 · RESEARCH DIRECTION</a:t>
              </a:r>
            </a:p>
          </p:txBody>
        </p:sp>
        <p:sp>
          <p:nvSpPr>
            <p:cNvPr id="7" name="TextBox 7"/>
            <p:cNvSpPr txBox="1"/>
            <p:nvPr/>
          </p:nvSpPr>
          <p:spPr>
            <a:xfrm>
              <a:off x="671322" y="930592"/>
              <a:ext cx="725414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E6 — Mẫu, bố trí và phép đo cần có</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562144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có mẫu và phép đo thì chưa có cách kiểm chứng cơ chế.</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3813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Mẫu chuẩn nhiệt hoặc stack có transducer đã biết,</a:t>
              </a:r>
            </a:p>
          </p:txBody>
        </p:sp>
        <p:sp>
          <p:nvSpPr>
            <p:cNvPr id="16" name="TextBox 16"/>
            <p:cNvSpPr txBox="1"/>
            <p:nvPr/>
          </p:nvSpPr>
          <p:spPr>
            <a:xfrm>
              <a:off x="1098423" y="2986564"/>
              <a:ext cx="199456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sau đó mới đo màng mới.</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77240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Biên độ/pha theo tần số, sensitivity, uncertainty và</a:t>
              </a:r>
            </a:p>
          </p:txBody>
        </p:sp>
        <p:sp>
          <p:nvSpPr>
            <p:cNvPr id="19" name="TextBox 19"/>
            <p:cNvSpPr txBox="1"/>
            <p:nvPr/>
          </p:nvSpPr>
          <p:spPr>
            <a:xfrm>
              <a:off x="1098423" y="3539014"/>
              <a:ext cx="113299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độ lặp lại fit.</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7749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Ghi rõ nguồn/thiết bị cần bổ sung; không ghi là phần cứng</a:t>
              </a:r>
            </a:p>
          </p:txBody>
        </p:sp>
        <p:sp>
          <p:nvSpPr>
            <p:cNvPr id="22" name="TextBox 22"/>
            <p:cNvSpPr txBox="1"/>
            <p:nvPr/>
          </p:nvSpPr>
          <p:spPr>
            <a:xfrm>
              <a:off x="1098423" y="4091464"/>
              <a:ext cx="6849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hiện có.</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123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E6 · RESEARCH DIRECTION</a:t>
              </a:r>
            </a:p>
          </p:txBody>
        </p:sp>
        <p:sp>
          <p:nvSpPr>
            <p:cNvPr id="7" name="TextBox 7"/>
            <p:cNvSpPr txBox="1"/>
            <p:nvPr/>
          </p:nvSpPr>
          <p:spPr>
            <a:xfrm>
              <a:off x="671322" y="930592"/>
              <a:ext cx="66844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E6 — Cổng quyết định và giới hạn</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47975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hướng chỉ được nâng hạng khi điều kiện còn thiếu được kiểm chứng.</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69586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Đặt sau các hướng demo; cần nguồn đo/phổ/pha và</a:t>
              </a:r>
            </a:p>
          </p:txBody>
        </p:sp>
        <p:sp>
          <p:nvSpPr>
            <p:cNvPr id="16" name="TextBox 16"/>
            <p:cNvSpPr txBox="1"/>
            <p:nvPr/>
          </p:nvSpPr>
          <p:spPr>
            <a:xfrm>
              <a:off x="1098423" y="2986564"/>
              <a:ext cx="219272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nhóm có năng lực mô hình.</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19" name="TextBox 19"/>
            <p:cNvSpPr txBox="1"/>
            <p:nvPr/>
          </p:nvSpPr>
          <p:spPr>
            <a:xfrm>
              <a:off x="1098423" y="353901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114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Nếu chưa phù hợp, giữ ở nhánh khám phá/đối tác thay vì</a:t>
              </a:r>
            </a:p>
          </p:txBody>
        </p:sp>
        <p:sp>
          <p:nvSpPr>
            <p:cNvPr id="22" name="TextBox 22"/>
            <p:cNvSpPr txBox="1"/>
            <p:nvPr/>
          </p:nvSpPr>
          <p:spPr>
            <a:xfrm>
              <a:off x="1098423" y="4091464"/>
              <a:ext cx="16930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hứa triển khai ngay.</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124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C5 · RESEARCH DIRECTION</a:t>
              </a:r>
            </a:p>
          </p:txBody>
        </p:sp>
        <p:sp>
          <p:nvSpPr>
            <p:cNvPr id="7" name="TextBox 7"/>
            <p:cNvSpPr txBox="1"/>
            <p:nvPr/>
          </p:nvSpPr>
          <p:spPr>
            <a:xfrm>
              <a:off x="671322" y="930592"/>
              <a:ext cx="873262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C5 — Raman spectroscopy: định nghĩa, cơ</a:t>
              </a:r>
            </a:p>
          </p:txBody>
        </p:sp>
        <p:sp>
          <p:nvSpPr>
            <p:cNvPr id="8" name="TextBox 8"/>
            <p:cNvSpPr txBox="1"/>
            <p:nvPr/>
          </p:nvSpPr>
          <p:spPr>
            <a:xfrm>
              <a:off x="671322" y="1340168"/>
              <a:ext cx="390240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chế và mức phù hợp</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557743"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Đo dịch tần của ánh sáng tán xạ để suy dao động mạng/phân tử, pha hoặc ứng suất. Phân biệt</a:t>
              </a:r>
            </a:p>
          </p:txBody>
        </p:sp>
        <p:sp>
          <p:nvSpPr>
            <p:cNvPr id="12" name="TextBox 12"/>
            <p:cNvSpPr txBox="1"/>
            <p:nvPr/>
          </p:nvSpPr>
          <p:spPr>
            <a:xfrm>
              <a:off x="907542" y="2187892"/>
              <a:ext cx="5678760"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pha, cấu trúc hoặc ứng suất trong Si/carbon/màng sau xử lý.</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83038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Nguồn gần đơn sắc → tán xạ Rayleigh/Raman → lọc →</a:t>
              </a:r>
            </a:p>
          </p:txBody>
        </p:sp>
        <p:sp>
          <p:nvSpPr>
            <p:cNvPr id="18" name="TextBox 18"/>
            <p:cNvSpPr txBox="1"/>
            <p:nvPr/>
          </p:nvSpPr>
          <p:spPr>
            <a:xfrm>
              <a:off x="1098423" y="3224689"/>
              <a:ext cx="120191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detector phổ.</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71314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S29 hỗ trợ yêu cầu bước sóng, linewidth, ổn</a:t>
              </a:r>
            </a:p>
          </p:txBody>
        </p:sp>
        <p:sp>
          <p:nvSpPr>
            <p:cNvPr id="21" name="TextBox 21"/>
            <p:cNvSpPr txBox="1"/>
            <p:nvPr/>
          </p:nvSpPr>
          <p:spPr>
            <a:xfrm>
              <a:off x="1098423" y="3777139"/>
              <a:ext cx="489194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định và chất lượng chùm; NIR/PWM không tự đủ cho Raman.</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6630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Mức phù hợp hiện tại: ít phù hợp nếu không có nguồn hẹp</a:t>
              </a:r>
            </a:p>
          </p:txBody>
        </p:sp>
        <p:sp>
          <p:nvSpPr>
            <p:cNvPr id="24" name="TextBox 24"/>
            <p:cNvSpPr txBox="1"/>
            <p:nvPr/>
          </p:nvSpPr>
          <p:spPr>
            <a:xfrm>
              <a:off x="1098423" y="4329589"/>
              <a:ext cx="260627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phổ; đây là xếp hạng tương đối.</a:t>
              </a:r>
            </a:p>
          </p:txBody>
        </p:sp>
      </p:grpSp>
      <p:grpSp>
        <p:nvGrpSpPr>
          <p:cNvPr id="40" name="Group 40"/>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10025"/>
              <a:ext cx="476250" cy="476250"/>
            </a:xfrm>
            <a:prstGeom prst="ellipse">
              <a:avLst/>
            </a:prstGeom>
            <a:solidFill>
              <a:srgbClr val="D7B46A"/>
            </a:solidFill>
            <a:ln>
              <a:noFill/>
            </a:ln>
          </p:spPr>
        </p:sp>
        <p:sp>
          <p:nvSpPr>
            <p:cNvPr id="29" name="TextBox 29"/>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1" name="Line 31"/>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2" name="Ellipse 32"/>
            <p:cNvSpPr/>
            <p:nvPr/>
          </p:nvSpPr>
          <p:spPr>
            <a:xfrm>
              <a:off x="8582025" y="4010025"/>
              <a:ext cx="476250" cy="476250"/>
            </a:xfrm>
            <a:prstGeom prst="ellipse">
              <a:avLst/>
            </a:prstGeom>
            <a:solidFill>
              <a:srgbClr val="72D5D2"/>
            </a:solidFill>
            <a:ln>
              <a:noFill/>
            </a:ln>
          </p:spPr>
        </p:sp>
        <p:sp>
          <p:nvSpPr>
            <p:cNvPr id="33" name="TextBox 33"/>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5" name="Line 35"/>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6" name="Ellipse 36"/>
            <p:cNvSpPr/>
            <p:nvPr/>
          </p:nvSpPr>
          <p:spPr>
            <a:xfrm>
              <a:off x="9839325" y="4010025"/>
              <a:ext cx="476250" cy="476250"/>
            </a:xfrm>
            <a:prstGeom prst="ellipse">
              <a:avLst/>
            </a:prstGeom>
            <a:solidFill>
              <a:srgbClr val="D7B46A"/>
            </a:solidFill>
            <a:ln>
              <a:noFill/>
            </a:ln>
          </p:spPr>
        </p:sp>
        <p:sp>
          <p:nvSpPr>
            <p:cNvPr id="37" name="TextBox 37"/>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39" name="TextBox 39"/>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3" name="Group 43"/>
          <p:cNvGrpSpPr/>
          <p:nvPr/>
        </p:nvGrpSpPr>
        <p:grpSpPr>
          <a:xfrm>
            <a:off x="685800" y="6343650"/>
            <a:ext cx="10825353" cy="314039"/>
            <a:chOff x="685800" y="6343650"/>
            <a:chExt cx="10825353" cy="314039"/>
          </a:xfrm>
        </p:grpSpPr>
        <p:sp>
          <p:nvSpPr>
            <p:cNvPr id="41" name="Line 41"/>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2" name="TextBox 42"/>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P124</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125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C5 · RESEARCH DIRECTION</a:t>
              </a:r>
            </a:p>
          </p:txBody>
        </p:sp>
        <p:sp>
          <p:nvSpPr>
            <p:cNvPr id="7" name="TextBox 7"/>
            <p:cNvSpPr txBox="1"/>
            <p:nvPr/>
          </p:nvSpPr>
          <p:spPr>
            <a:xfrm>
              <a:off x="671322" y="930592"/>
              <a:ext cx="725414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C5 — Mẫu, bố trí và phép đo cần có</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562144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có mẫu và phép đo thì chưa có cách kiểm chứng cơ chế.</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98380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Si hoặc Raman standard; dùng hệ Raman sẵn/đối tác là</a:t>
              </a:r>
            </a:p>
          </p:txBody>
        </p:sp>
        <p:sp>
          <p:nvSpPr>
            <p:cNvPr id="16" name="TextBox 16"/>
            <p:cNvSpPr txBox="1"/>
            <p:nvPr/>
          </p:nvSpPr>
          <p:spPr>
            <a:xfrm>
              <a:off x="1098423" y="2986564"/>
              <a:ext cx="177916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phương án thực dụng.</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80754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Vị trí đỉnh, linewidth, cường độ, nền huỳnh quang và</a:t>
              </a:r>
            </a:p>
          </p:txBody>
        </p:sp>
        <p:sp>
          <p:nvSpPr>
            <p:cNvPr id="19" name="TextBox 19"/>
            <p:cNvSpPr txBox="1"/>
            <p:nvPr/>
          </p:nvSpPr>
          <p:spPr>
            <a:xfrm>
              <a:off x="1098423" y="3539014"/>
              <a:ext cx="12622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nhiệt do chiếu.</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7749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Ghi rõ nguồn/thiết bị cần bổ sung; không ghi là phần cứng</a:t>
              </a:r>
            </a:p>
          </p:txBody>
        </p:sp>
        <p:sp>
          <p:nvSpPr>
            <p:cNvPr id="22" name="TextBox 22"/>
            <p:cNvSpPr txBox="1"/>
            <p:nvPr/>
          </p:nvSpPr>
          <p:spPr>
            <a:xfrm>
              <a:off x="1098423" y="4091464"/>
              <a:ext cx="6849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hiện có.</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P125</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126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C5 · RESEARCH DIRECTION</a:t>
              </a:r>
            </a:p>
          </p:txBody>
        </p:sp>
        <p:sp>
          <p:nvSpPr>
            <p:cNvPr id="7" name="TextBox 7"/>
            <p:cNvSpPr txBox="1"/>
            <p:nvPr/>
          </p:nvSpPr>
          <p:spPr>
            <a:xfrm>
              <a:off x="671322" y="930592"/>
              <a:ext cx="66844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C5 — Cổng quyết định và giới hạn</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47975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hướng chỉ được nâng hạng khi điều kiện còn thiếu được kiểm chứng.</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0199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Ưu tiên Raman như phép đo bổ sung cho mẫu, không</a:t>
              </a:r>
            </a:p>
          </p:txBody>
        </p:sp>
        <p:sp>
          <p:nvSpPr>
            <p:cNvPr id="16" name="TextBox 16"/>
            <p:cNvSpPr txBox="1"/>
            <p:nvPr/>
          </p:nvSpPr>
          <p:spPr>
            <a:xfrm>
              <a:off x="1098423" y="2986564"/>
              <a:ext cx="486996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chế tạo máy Raman từ nguồn này nếu chưa có nguồn/quang…</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19" name="TextBox 19"/>
            <p:cNvSpPr txBox="1"/>
            <p:nvPr/>
          </p:nvSpPr>
          <p:spPr>
            <a:xfrm>
              <a:off x="1098423" y="353901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114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Nếu chưa phù hợp, giữ ở nhánh khám phá/đối tác thay vì</a:t>
              </a:r>
            </a:p>
          </p:txBody>
        </p:sp>
        <p:sp>
          <p:nvSpPr>
            <p:cNvPr id="22" name="TextBox 22"/>
            <p:cNvSpPr txBox="1"/>
            <p:nvPr/>
          </p:nvSpPr>
          <p:spPr>
            <a:xfrm>
              <a:off x="1098423" y="4091464"/>
              <a:ext cx="16930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hứa triển khai ngay.</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P126</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127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B3 · RESEARCH DIRECTION</a:t>
              </a:r>
            </a:p>
          </p:txBody>
        </p:sp>
        <p:sp>
          <p:nvSpPr>
            <p:cNvPr id="7" name="TextBox 7"/>
            <p:cNvSpPr txBox="1"/>
            <p:nvPr/>
          </p:nvSpPr>
          <p:spPr>
            <a:xfrm>
              <a:off x="671322" y="930592"/>
              <a:ext cx="7497345"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B3 — Giao thoa đo dịch chuyển: định</a:t>
              </a:r>
            </a:p>
          </p:txBody>
        </p:sp>
        <p:sp>
          <p:nvSpPr>
            <p:cNvPr id="8" name="TextBox 8"/>
            <p:cNvSpPr txBox="1"/>
            <p:nvPr/>
          </p:nvSpPr>
          <p:spPr>
            <a:xfrm>
              <a:off x="671322" y="1340168"/>
              <a:ext cx="6030666"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nghĩa, cơ chế và mức phù hợp</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359366"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Đo thay đổi quang lộ từ pha giao thoa giữa nhánh tham chiếu và nhánh đo để suy dịch chuyển</a:t>
              </a:r>
            </a:p>
          </p:txBody>
        </p:sp>
        <p:sp>
          <p:nvSpPr>
            <p:cNvPr id="12" name="TextBox 12"/>
            <p:cNvSpPr txBox="1"/>
            <p:nvPr/>
          </p:nvSpPr>
          <p:spPr>
            <a:xfrm>
              <a:off x="907542" y="2187892"/>
              <a:ext cx="850269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rất nhỏ. Đo dịch chuyển rất nhỏ khi cần metrology chính xác và có nguồn giao thoa phù hợp.</a:t>
              </a:r>
            </a:p>
          </p:txBody>
        </p:sp>
      </p:grpSp>
      <p:grpSp>
        <p:nvGrpSpPr>
          <p:cNvPr id="25" name="Group 25"/>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362836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Cơ chế: Tách chùm → hai quang lộ → tái hợp →</a:t>
              </a:r>
            </a:p>
          </p:txBody>
        </p:sp>
        <p:sp>
          <p:nvSpPr>
            <p:cNvPr id="18" name="TextBox 18"/>
            <p:cNvSpPr txBox="1"/>
            <p:nvPr/>
          </p:nvSpPr>
          <p:spPr>
            <a:xfrm>
              <a:off x="1098423" y="3224689"/>
              <a:ext cx="302844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pha/intensity đổi theo dịch chuyển.</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43633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Bằng chứng: S30 hỗ trợ coherence length; S32 hỗ trợ</a:t>
              </a:r>
            </a:p>
          </p:txBody>
        </p:sp>
        <p:sp>
          <p:nvSpPr>
            <p:cNvPr id="21" name="TextBox 21"/>
            <p:cNvSpPr txBox="1"/>
            <p:nvPr/>
          </p:nvSpPr>
          <p:spPr>
            <a:xfrm>
              <a:off x="1098423" y="3777139"/>
              <a:ext cx="472456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BPP/beam quality. Công suất xử lý lớn không đem lợi thế…</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43890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Mức phù hợp hiện tại: ít phù hợp nhất với ưu tiên hiện</a:t>
              </a:r>
            </a:p>
          </p:txBody>
        </p:sp>
        <p:sp>
          <p:nvSpPr>
            <p:cNvPr id="24" name="TextBox 24"/>
            <p:cNvSpPr txBox="1"/>
            <p:nvPr/>
          </p:nvSpPr>
          <p:spPr>
            <a:xfrm>
              <a:off x="1098423" y="4329589"/>
              <a:ext cx="256319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tại; đây là xếp hạng tương đối.</a:t>
              </a:r>
            </a:p>
          </p:txBody>
        </p:sp>
      </p:grpSp>
      <p:grpSp>
        <p:nvGrpSpPr>
          <p:cNvPr id="45" name="Group 45"/>
          <p:cNvGrpSpPr/>
          <p:nvPr/>
        </p:nvGrpSpPr>
        <p:grpSpPr>
          <a:xfrm>
            <a:off x="6953250" y="2857500"/>
            <a:ext cx="4552950" cy="3190875"/>
            <a:chOff x="6953250" y="2857500"/>
            <a:chExt cx="4552950" cy="3190875"/>
          </a:xfrm>
        </p:grpSpPr>
        <p:sp>
          <p:nvSpPr>
            <p:cNvPr id="26" name="Rectangle 26"/>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27" name="TextBox 27"/>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8" name="Ellipse 28"/>
            <p:cNvSpPr/>
            <p:nvPr/>
          </p:nvSpPr>
          <p:spPr>
            <a:xfrm>
              <a:off x="7324725" y="4048125"/>
              <a:ext cx="476250" cy="476250"/>
            </a:xfrm>
            <a:prstGeom prst="ellipse">
              <a:avLst/>
            </a:prstGeom>
            <a:solidFill>
              <a:srgbClr val="D7B46A"/>
            </a:solidFill>
            <a:ln>
              <a:noFill/>
            </a:ln>
          </p:spPr>
        </p:sp>
        <p:sp>
          <p:nvSpPr>
            <p:cNvPr id="29" name="TextBox 29"/>
            <p:cNvSpPr txBox="1"/>
            <p:nvPr/>
          </p:nvSpPr>
          <p:spPr>
            <a:xfrm>
              <a:off x="7503515" y="41976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0" name="TextBox 30"/>
            <p:cNvSpPr txBox="1"/>
            <p:nvPr/>
          </p:nvSpPr>
          <p:spPr>
            <a:xfrm>
              <a:off x="7253097" y="4752499"/>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31" name="Line 31"/>
            <p:cNvSpPr/>
            <p:nvPr/>
          </p:nvSpPr>
          <p:spPr>
            <a:xfrm>
              <a:off x="7810500" y="4286250"/>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2" name="Ellipse 32"/>
            <p:cNvSpPr/>
            <p:nvPr/>
          </p:nvSpPr>
          <p:spPr>
            <a:xfrm>
              <a:off x="8315325" y="4048125"/>
              <a:ext cx="476250" cy="476250"/>
            </a:xfrm>
            <a:prstGeom prst="ellipse">
              <a:avLst/>
            </a:prstGeom>
            <a:solidFill>
              <a:srgbClr val="72D5D2"/>
            </a:solidFill>
            <a:ln>
              <a:noFill/>
            </a:ln>
          </p:spPr>
        </p:sp>
        <p:sp>
          <p:nvSpPr>
            <p:cNvPr id="33" name="TextBox 33"/>
            <p:cNvSpPr txBox="1"/>
            <p:nvPr/>
          </p:nvSpPr>
          <p:spPr>
            <a:xfrm>
              <a:off x="8494115" y="41976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4" name="TextBox 34"/>
            <p:cNvSpPr txBox="1"/>
            <p:nvPr/>
          </p:nvSpPr>
          <p:spPr>
            <a:xfrm>
              <a:off x="8243697" y="4752499"/>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5" name="Line 35"/>
            <p:cNvSpPr/>
            <p:nvPr/>
          </p:nvSpPr>
          <p:spPr>
            <a:xfrm>
              <a:off x="8801100" y="4286250"/>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6" name="Ellipse 36"/>
            <p:cNvSpPr/>
            <p:nvPr/>
          </p:nvSpPr>
          <p:spPr>
            <a:xfrm>
              <a:off x="9305925" y="4048125"/>
              <a:ext cx="476250" cy="476250"/>
            </a:xfrm>
            <a:prstGeom prst="ellipse">
              <a:avLst/>
            </a:prstGeom>
            <a:solidFill>
              <a:srgbClr val="D7B46A"/>
            </a:solidFill>
            <a:ln>
              <a:noFill/>
            </a:ln>
          </p:spPr>
        </p:sp>
        <p:sp>
          <p:nvSpPr>
            <p:cNvPr id="37" name="TextBox 37"/>
            <p:cNvSpPr txBox="1"/>
            <p:nvPr/>
          </p:nvSpPr>
          <p:spPr>
            <a:xfrm>
              <a:off x="9484715" y="41976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8" name="TextBox 38"/>
            <p:cNvSpPr txBox="1"/>
            <p:nvPr/>
          </p:nvSpPr>
          <p:spPr>
            <a:xfrm>
              <a:off x="9234297" y="4752499"/>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9" name="Line 39"/>
            <p:cNvSpPr/>
            <p:nvPr/>
          </p:nvSpPr>
          <p:spPr>
            <a:xfrm>
              <a:off x="9791700" y="4286250"/>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40" name="Ellipse 40"/>
            <p:cNvSpPr/>
            <p:nvPr/>
          </p:nvSpPr>
          <p:spPr>
            <a:xfrm>
              <a:off x="10296525" y="4048125"/>
              <a:ext cx="476250" cy="476250"/>
            </a:xfrm>
            <a:prstGeom prst="ellipse">
              <a:avLst/>
            </a:prstGeom>
            <a:solidFill>
              <a:srgbClr val="D78678"/>
            </a:solidFill>
            <a:ln>
              <a:noFill/>
            </a:ln>
          </p:spPr>
        </p:sp>
        <p:sp>
          <p:nvSpPr>
            <p:cNvPr id="41" name="TextBox 41"/>
            <p:cNvSpPr txBox="1"/>
            <p:nvPr/>
          </p:nvSpPr>
          <p:spPr>
            <a:xfrm>
              <a:off x="10475315" y="41976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2" name="TextBox 42"/>
            <p:cNvSpPr txBox="1"/>
            <p:nvPr/>
          </p:nvSpPr>
          <p:spPr>
            <a:xfrm>
              <a:off x="10224897" y="4752499"/>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3" name="Rectangle 43"/>
            <p:cNvSpPr/>
            <p:nvPr/>
          </p:nvSpPr>
          <p:spPr>
            <a:xfrm>
              <a:off x="7381875" y="5257800"/>
              <a:ext cx="3695700" cy="400050"/>
            </a:xfrm>
            <a:prstGeom prst="roundRect">
              <a:avLst>
                <a:gd name="adj" fmla="val 23810"/>
              </a:avLst>
            </a:prstGeom>
            <a:solidFill>
              <a:srgbClr val="10243A"/>
            </a:solidFill>
            <a:ln w="9525">
              <a:solidFill>
                <a:srgbClr val="2B425A"/>
              </a:solidFill>
            </a:ln>
          </p:spPr>
        </p:sp>
        <p:sp>
          <p:nvSpPr>
            <p:cNvPr id="44" name="TextBox 44"/>
            <p:cNvSpPr txBox="1"/>
            <p:nvPr/>
          </p:nvSpPr>
          <p:spPr>
            <a:xfrm>
              <a:off x="8350080" y="5375910"/>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8" name="Group 48"/>
          <p:cNvGrpSpPr/>
          <p:nvPr/>
        </p:nvGrpSpPr>
        <p:grpSpPr>
          <a:xfrm>
            <a:off x="685800" y="6343650"/>
            <a:ext cx="10825353" cy="314039"/>
            <a:chOff x="685800" y="6343650"/>
            <a:chExt cx="10825353" cy="314039"/>
          </a:xfrm>
        </p:grpSpPr>
        <p:sp>
          <p:nvSpPr>
            <p:cNvPr id="46" name="Line 46"/>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7" name="TextBox 47"/>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P127</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128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B3 · RESEARCH DIRECTION</a:t>
              </a:r>
            </a:p>
          </p:txBody>
        </p:sp>
        <p:sp>
          <p:nvSpPr>
            <p:cNvPr id="7" name="TextBox 7"/>
            <p:cNvSpPr txBox="1"/>
            <p:nvPr/>
          </p:nvSpPr>
          <p:spPr>
            <a:xfrm>
              <a:off x="671322" y="930592"/>
              <a:ext cx="7254143"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B3 — Mẫu, bố trí và phép đo cần có</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562144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có mẫu và phép đo thì chưa có cách kiểm chứng cơ chế.</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84123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Mẫu: Michelson trên bàn ổn định với nguồn đo chuyên dụng</a:t>
              </a:r>
            </a:p>
          </p:txBody>
        </p:sp>
        <p:sp>
          <p:nvSpPr>
            <p:cNvPr id="16" name="TextBox 16"/>
            <p:cNvSpPr txBox="1"/>
            <p:nvPr/>
          </p:nvSpPr>
          <p:spPr>
            <a:xfrm>
              <a:off x="1098423" y="2986564"/>
              <a:ext cx="286474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và gương/dịch chuyển tham chiếu.</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58264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Visibility, drift, rung, phase unwrapping và độ lặp</a:t>
              </a:r>
            </a:p>
          </p:txBody>
        </p:sp>
        <p:sp>
          <p:nvSpPr>
            <p:cNvPr id="19" name="TextBox 19"/>
            <p:cNvSpPr txBox="1"/>
            <p:nvPr/>
          </p:nvSpPr>
          <p:spPr>
            <a:xfrm>
              <a:off x="1098423" y="3539014"/>
              <a:ext cx="135700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lại dịch chuyển.</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77492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Ghi rõ nguồn/thiết bị cần bổ sung; không ghi là phần cứng</a:t>
              </a:r>
            </a:p>
          </p:txBody>
        </p:sp>
        <p:sp>
          <p:nvSpPr>
            <p:cNvPr id="22" name="TextBox 22"/>
            <p:cNvSpPr txBox="1"/>
            <p:nvPr/>
          </p:nvSpPr>
          <p:spPr>
            <a:xfrm>
              <a:off x="1098423" y="4091464"/>
              <a:ext cx="6849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hiện có.</a:t>
              </a:r>
            </a:p>
          </p:txBody>
        </p:sp>
      </p:grpSp>
      <p:grpSp>
        <p:nvGrpSpPr>
          <p:cNvPr id="38" name="Group 38"/>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Rectangle 26"/>
            <p:cNvSpPr/>
            <p:nvPr/>
          </p:nvSpPr>
          <p:spPr>
            <a:xfrm>
              <a:off x="7467600" y="4429125"/>
              <a:ext cx="3524250" cy="742950"/>
            </a:xfrm>
            <a:prstGeom prst="roundRect">
              <a:avLst>
                <a:gd name="adj" fmla="val 7692"/>
              </a:avLst>
            </a:prstGeom>
            <a:solidFill>
              <a:srgbClr val="2D3946"/>
            </a:solidFill>
            <a:ln w="9525">
              <a:solidFill>
                <a:srgbClr val="2B425A"/>
              </a:solidFill>
            </a:ln>
          </p:spPr>
        </p:sp>
        <p:sp>
          <p:nvSpPr>
            <p:cNvPr id="27" name="Rectangle 27"/>
            <p:cNvSpPr/>
            <p:nvPr/>
          </p:nvSpPr>
          <p:spPr>
            <a:xfrm>
              <a:off x="8096250" y="4086225"/>
              <a:ext cx="1714500" cy="342900"/>
            </a:xfrm>
            <a:prstGeom prst="roundRect">
              <a:avLst>
                <a:gd name="adj" fmla="val 13889"/>
              </a:avLst>
            </a:prstGeom>
            <a:solidFill>
              <a:srgbClr val="D3C7A3"/>
            </a:solidFill>
            <a:ln>
              <a:noFill/>
            </a:ln>
          </p:spPr>
        </p:sp>
        <p:sp>
          <p:nvSpPr>
            <p:cNvPr id="28" name="TextBox 28"/>
            <p:cNvSpPr txBox="1"/>
            <p:nvPr/>
          </p:nvSpPr>
          <p:spPr>
            <a:xfrm>
              <a:off x="8422820" y="4201478"/>
              <a:ext cx="1061359" cy="205359"/>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07111F"/>
                  </a:solidFill>
                  <a:effectLst/>
                  <a:uLnTx/>
                  <a:uFillTx/>
                  <a:latin typeface="Be Vietnam Pro"/>
                  <a:ea typeface="Be Vietnam Pro"/>
                  <a:cs typeface="Be Vietnam Pro"/>
                </a:rPr>
                <a:t>MẪU / COUPON</a:t>
              </a:r>
            </a:p>
          </p:txBody>
        </p:sp>
        <p:sp>
          <p:nvSpPr>
            <p:cNvPr id="29" name="Line 29"/>
            <p:cNvSpPr/>
            <p:nvPr/>
          </p:nvSpPr>
          <p:spPr>
            <a:xfrm>
              <a:off x="8953500" y="3343275"/>
              <a:ext cx="9525" cy="657225"/>
            </a:xfrm>
            <a:custGeom>
              <a:avLst/>
              <a:gdLst/>
              <a:ahLst/>
              <a:cxnLst/>
              <a:rect l="l" t="t" r="r" b="b"/>
              <a:pathLst>
                <a:path w="9525" h="657225">
                  <a:moveTo>
                    <a:pt x="0" y="0"/>
                  </a:moveTo>
                  <a:lnTo>
                    <a:pt x="0" y="657225"/>
                  </a:lnTo>
                </a:path>
              </a:pathLst>
            </a:custGeom>
            <a:noFill/>
            <a:ln w="47625">
              <a:solidFill>
                <a:srgbClr val="D7B46A"/>
              </a:solidFill>
            </a:ln>
          </p:spPr>
        </p:sp>
        <p:sp>
          <p:nvSpPr>
            <p:cNvPr id="30" name="Ellipse 30"/>
            <p:cNvSpPr/>
            <p:nvPr/>
          </p:nvSpPr>
          <p:spPr>
            <a:xfrm>
              <a:off x="8763000" y="3152775"/>
              <a:ext cx="381000" cy="381000"/>
            </a:xfrm>
            <a:prstGeom prst="ellipse">
              <a:avLst/>
            </a:prstGeom>
            <a:solidFill>
              <a:srgbClr val="D7B46A"/>
            </a:solidFill>
            <a:ln>
              <a:noFill/>
            </a:ln>
          </p:spPr>
        </p:sp>
        <p:sp>
          <p:nvSpPr>
            <p:cNvPr id="31" name="TextBox 31"/>
            <p:cNvSpPr txBox="1"/>
            <p:nvPr/>
          </p:nvSpPr>
          <p:spPr>
            <a:xfrm>
              <a:off x="8894451" y="3253264"/>
              <a:ext cx="118098" cy="249364"/>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80" b="1" i="0" u="none" strike="noStrike" kern="1200" cap="none" spc="0" normalizeH="0" baseline="0" noProof="0" dirty="0">
                  <a:ln>
                    <a:noFill/>
                  </a:ln>
                  <a:solidFill>
                    <a:srgbClr val="07111F"/>
                  </a:solidFill>
                  <a:effectLst/>
                  <a:uLnTx/>
                  <a:uFillTx/>
                  <a:latin typeface="Be Vietnam Pro"/>
                  <a:ea typeface="Be Vietnam Pro"/>
                  <a:cs typeface="Be Vietnam Pro"/>
                </a:rPr>
                <a:t>L</a:t>
              </a:r>
            </a:p>
          </p:txBody>
        </p:sp>
        <p:sp>
          <p:nvSpPr>
            <p:cNvPr id="32" name="TextBox 32"/>
            <p:cNvSpPr txBox="1"/>
            <p:nvPr/>
          </p:nvSpPr>
          <p:spPr>
            <a:xfrm>
              <a:off x="7567041" y="3610928"/>
              <a:ext cx="752761"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D7B46A"/>
                  </a:solidFill>
                  <a:effectLst/>
                  <a:uLnTx/>
                  <a:uFillTx/>
                  <a:latin typeface="Be Vietnam Pro"/>
                  <a:ea typeface="Be Vietnam Pro"/>
                  <a:cs typeface="Be Vietnam Pro"/>
                </a:rPr>
                <a:t>laser spot</a:t>
              </a:r>
            </a:p>
          </p:txBody>
        </p:sp>
        <p:sp>
          <p:nvSpPr>
            <p:cNvPr id="33" name="Line 33"/>
            <p:cNvSpPr/>
            <p:nvPr/>
          </p:nvSpPr>
          <p:spPr>
            <a:xfrm>
              <a:off x="9810750" y="3619500"/>
              <a:ext cx="857250" cy="619125"/>
            </a:xfrm>
            <a:custGeom>
              <a:avLst/>
              <a:gdLst/>
              <a:ahLst/>
              <a:cxnLst/>
              <a:rect l="l" t="t" r="r" b="b"/>
              <a:pathLst>
                <a:path w="857250" h="619125">
                  <a:moveTo>
                    <a:pt x="857250" y="0"/>
                  </a:moveTo>
                  <a:lnTo>
                    <a:pt x="0" y="619125"/>
                  </a:lnTo>
                </a:path>
              </a:pathLst>
            </a:custGeom>
            <a:noFill/>
            <a:ln w="28575">
              <a:solidFill>
                <a:srgbClr val="72D5D2"/>
              </a:solidFill>
            </a:ln>
          </p:spPr>
        </p:sp>
        <p:sp>
          <p:nvSpPr>
            <p:cNvPr id="34" name="Ellipse 34"/>
            <p:cNvSpPr/>
            <p:nvPr/>
          </p:nvSpPr>
          <p:spPr>
            <a:xfrm>
              <a:off x="10639425" y="3257550"/>
              <a:ext cx="438150" cy="438150"/>
            </a:xfrm>
            <a:prstGeom prst="ellipse">
              <a:avLst/>
            </a:prstGeom>
            <a:solidFill>
              <a:srgbClr val="72D5D2"/>
            </a:solidFill>
            <a:ln>
              <a:noFill/>
            </a:ln>
          </p:spPr>
        </p:sp>
        <p:sp>
          <p:nvSpPr>
            <p:cNvPr id="35" name="TextBox 35"/>
            <p:cNvSpPr txBox="1"/>
            <p:nvPr/>
          </p:nvSpPr>
          <p:spPr>
            <a:xfrm>
              <a:off x="10803118" y="3404235"/>
              <a:ext cx="110764"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7111F"/>
                  </a:solidFill>
                  <a:effectLst/>
                  <a:uLnTx/>
                  <a:uFillTx/>
                  <a:latin typeface="Be Vietnam Pro"/>
                  <a:ea typeface="Be Vietnam Pro"/>
                  <a:cs typeface="Be Vietnam Pro"/>
                </a:rPr>
                <a:t>C</a:t>
              </a:r>
            </a:p>
          </p:txBody>
        </p:sp>
        <p:sp>
          <p:nvSpPr>
            <p:cNvPr id="36" name="TextBox 36"/>
            <p:cNvSpPr txBox="1"/>
            <p:nvPr/>
          </p:nvSpPr>
          <p:spPr>
            <a:xfrm>
              <a:off x="10281666" y="3706178"/>
              <a:ext cx="119059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72D5D2"/>
                  </a:solidFill>
                  <a:effectLst/>
                  <a:uLnTx/>
                  <a:uFillTx/>
                  <a:latin typeface="Be Vietnam Pro"/>
                  <a:ea typeface="Be Vietnam Pro"/>
                  <a:cs typeface="Be Vietnam Pro"/>
                </a:rPr>
                <a:t>camera / sensor</a:t>
              </a:r>
            </a:p>
          </p:txBody>
        </p:sp>
        <p:sp>
          <p:nvSpPr>
            <p:cNvPr id="37" name="TextBox 37"/>
            <p:cNvSpPr txBox="1"/>
            <p:nvPr/>
          </p:nvSpPr>
          <p:spPr>
            <a:xfrm>
              <a:off x="7462266" y="5458778"/>
              <a:ext cx="277221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A8B5C3"/>
                  </a:solidFill>
                  <a:effectLst/>
                  <a:uLnTx/>
                  <a:uFillTx/>
                  <a:latin typeface="Be Vietnam Pro"/>
                  <a:ea typeface="Be Vietnam Pro"/>
                  <a:cs typeface="Be Vietnam Pro"/>
                </a:rPr>
                <a:t>Sơ đồ bố trí · không phải ảnh setup thật</a:t>
              </a:r>
            </a:p>
          </p:txBody>
        </p:sp>
      </p:grpSp>
      <p:grpSp>
        <p:nvGrpSpPr>
          <p:cNvPr id="41" name="Group 41"/>
          <p:cNvGrpSpPr/>
          <p:nvPr/>
        </p:nvGrpSpPr>
        <p:grpSpPr>
          <a:xfrm>
            <a:off x="685800" y="6343650"/>
            <a:ext cx="10825353" cy="314039"/>
            <a:chOff x="685800" y="6343650"/>
            <a:chExt cx="10825353" cy="314039"/>
          </a:xfrm>
        </p:grpSpPr>
        <p:sp>
          <p:nvSpPr>
            <p:cNvPr id="39" name="Line 39"/>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0" name="TextBox 40"/>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P128</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129 / 133</a:t>
              </a:r>
            </a:p>
          </p:txBody>
        </p:sp>
      </p:grpSp>
      <p:grpSp>
        <p:nvGrpSpPr>
          <p:cNvPr id="11" name="Group 11"/>
          <p:cNvGrpSpPr/>
          <p:nvPr/>
        </p:nvGrpSpPr>
        <p:grpSpPr>
          <a:xfrm>
            <a:off x="671322" y="734378"/>
            <a:ext cx="10834878" cy="1113472"/>
            <a:chOff x="671322" y="734378"/>
            <a:chExt cx="10834878" cy="1113472"/>
          </a:xfrm>
        </p:grpSpPr>
        <p:sp>
          <p:nvSpPr>
            <p:cNvPr id="6" name="TextBox 6"/>
            <p:cNvSpPr txBox="1"/>
            <p:nvPr/>
          </p:nvSpPr>
          <p:spPr>
            <a:xfrm>
              <a:off x="680466" y="734378"/>
              <a:ext cx="223032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B3 · RESEARCH DIRECTION</a:t>
              </a:r>
            </a:p>
          </p:txBody>
        </p:sp>
        <p:sp>
          <p:nvSpPr>
            <p:cNvPr id="7" name="TextBox 7"/>
            <p:cNvSpPr txBox="1"/>
            <p:nvPr/>
          </p:nvSpPr>
          <p:spPr>
            <a:xfrm>
              <a:off x="671322" y="930592"/>
              <a:ext cx="66844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B3 — Cổng quyết định và giới hạn</a:t>
              </a:r>
            </a:p>
          </p:txBody>
        </p:sp>
        <p:sp>
          <p:nvSpPr>
            <p:cNvPr id="8" name="Rectangle 8"/>
            <p:cNvSpPr/>
            <p:nvPr/>
          </p:nvSpPr>
          <p:spPr>
            <a:xfrm>
              <a:off x="685800" y="1438275"/>
              <a:ext cx="10820400" cy="409575"/>
            </a:xfrm>
            <a:prstGeom prst="roundRect">
              <a:avLst>
                <a:gd name="adj" fmla="val 27907"/>
              </a:avLst>
            </a:prstGeom>
            <a:solidFill>
              <a:srgbClr val="D7B46A">
                <a:alpha val="11000"/>
              </a:srgbClr>
            </a:solidFill>
            <a:ln>
              <a:noFill/>
            </a:ln>
          </p:spPr>
        </p:sp>
        <p:sp>
          <p:nvSpPr>
            <p:cNvPr id="9" name="Rectangle 9"/>
            <p:cNvSpPr/>
            <p:nvPr/>
          </p:nvSpPr>
          <p:spPr>
            <a:xfrm>
              <a:off x="685800" y="1438275"/>
              <a:ext cx="38100" cy="409575"/>
            </a:xfrm>
            <a:prstGeom prst="roundRect">
              <a:avLst>
                <a:gd name="adj" fmla="val 50000"/>
              </a:avLst>
            </a:prstGeom>
            <a:solidFill>
              <a:srgbClr val="D7B46A"/>
            </a:solidFill>
            <a:ln>
              <a:noFill/>
            </a:ln>
          </p:spPr>
        </p:sp>
        <p:sp>
          <p:nvSpPr>
            <p:cNvPr id="10" name="TextBox 10"/>
            <p:cNvSpPr txBox="1"/>
            <p:nvPr/>
          </p:nvSpPr>
          <p:spPr>
            <a:xfrm>
              <a:off x="907542" y="1549718"/>
              <a:ext cx="647975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hướng chỉ được nâng hạng khi điều kiện còn thiếu được kiểm chứng.</a:t>
              </a:r>
            </a:p>
          </p:txBody>
        </p:sp>
      </p:grpSp>
      <p:grpSp>
        <p:nvGrpSpPr>
          <p:cNvPr id="23" name="Group 23"/>
          <p:cNvGrpSpPr/>
          <p:nvPr/>
        </p:nvGrpSpPr>
        <p:grpSpPr>
          <a:xfrm>
            <a:off x="685800" y="2619375"/>
            <a:ext cx="5905500" cy="3190875"/>
            <a:chOff x="685800" y="2619375"/>
            <a:chExt cx="5905500" cy="3190875"/>
          </a:xfrm>
        </p:grpSpPr>
        <p:sp>
          <p:nvSpPr>
            <p:cNvPr id="12" name="Rectangle 12"/>
            <p:cNvSpPr/>
            <p:nvPr/>
          </p:nvSpPr>
          <p:spPr>
            <a:xfrm>
              <a:off x="685800" y="2619375"/>
              <a:ext cx="5905500" cy="3190875"/>
            </a:xfrm>
            <a:prstGeom prst="roundRect">
              <a:avLst>
                <a:gd name="adj" fmla="val 5373"/>
              </a:avLst>
            </a:prstGeom>
            <a:solidFill>
              <a:srgbClr val="10243A"/>
            </a:solidFill>
            <a:ln w="9525">
              <a:solidFill>
                <a:srgbClr val="2B425A"/>
              </a:solidFill>
            </a:ln>
          </p:spPr>
        </p:sp>
        <p:sp>
          <p:nvSpPr>
            <p:cNvPr id="13" name="Rectangle 13"/>
            <p:cNvSpPr/>
            <p:nvPr/>
          </p:nvSpPr>
          <p:spPr>
            <a:xfrm>
              <a:off x="685800" y="2619375"/>
              <a:ext cx="47625" cy="3190875"/>
            </a:xfrm>
            <a:prstGeom prst="roundRect">
              <a:avLst>
                <a:gd name="adj" fmla="val 40000"/>
              </a:avLst>
            </a:prstGeom>
            <a:solidFill>
              <a:srgbClr val="D7B46A"/>
            </a:solidFill>
            <a:ln>
              <a:noFill/>
            </a:ln>
          </p:spPr>
        </p:sp>
        <p:sp>
          <p:nvSpPr>
            <p:cNvPr id="14" name="Ellipse 14"/>
            <p:cNvSpPr/>
            <p:nvPr/>
          </p:nvSpPr>
          <p:spPr>
            <a:xfrm>
              <a:off x="904875" y="2809875"/>
              <a:ext cx="76200" cy="76200"/>
            </a:xfrm>
            <a:prstGeom prst="ellipse">
              <a:avLst/>
            </a:prstGeom>
            <a:solidFill>
              <a:srgbClr val="D7B46A"/>
            </a:solidFill>
            <a:ln>
              <a:noFill/>
            </a:ln>
          </p:spPr>
        </p:sp>
        <p:sp>
          <p:nvSpPr>
            <p:cNvPr id="15" name="TextBox 15"/>
            <p:cNvSpPr txBox="1"/>
            <p:nvPr/>
          </p:nvSpPr>
          <p:spPr>
            <a:xfrm>
              <a:off x="1098423" y="2777014"/>
              <a:ext cx="479832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Dùng nguồn metrology riêng nếu thật sự cần; không</a:t>
              </a:r>
            </a:p>
          </p:txBody>
        </p:sp>
        <p:sp>
          <p:nvSpPr>
            <p:cNvPr id="16" name="TextBox 16"/>
            <p:cNvSpPr txBox="1"/>
            <p:nvPr/>
          </p:nvSpPr>
          <p:spPr>
            <a:xfrm>
              <a:off x="1098423" y="2986564"/>
              <a:ext cx="460511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lấy nguồn xử lý làm điểm xuất phát cho giao thoa chính…</a:t>
              </a:r>
            </a:p>
          </p:txBody>
        </p:sp>
        <p:sp>
          <p:nvSpPr>
            <p:cNvPr id="17" name="Ellipse 17"/>
            <p:cNvSpPr/>
            <p:nvPr/>
          </p:nvSpPr>
          <p:spPr>
            <a:xfrm>
              <a:off x="904875" y="3362325"/>
              <a:ext cx="76200" cy="76200"/>
            </a:xfrm>
            <a:prstGeom prst="ellipse">
              <a:avLst/>
            </a:prstGeom>
            <a:solidFill>
              <a:srgbClr val="D7B46A"/>
            </a:solidFill>
            <a:ln>
              <a:noFill/>
            </a:ln>
          </p:spPr>
        </p:sp>
        <p:sp>
          <p:nvSpPr>
            <p:cNvPr id="18" name="TextBox 18"/>
            <p:cNvSpPr txBox="1"/>
            <p:nvPr/>
          </p:nvSpPr>
          <p:spPr>
            <a:xfrm>
              <a:off x="1098423" y="3329464"/>
              <a:ext cx="463447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Giới hạn: Cần xác nhận thêm điều kiện vật liệu, nguồn và</a:t>
              </a:r>
            </a:p>
          </p:txBody>
        </p:sp>
        <p:sp>
          <p:nvSpPr>
            <p:cNvPr id="19" name="TextBox 19"/>
            <p:cNvSpPr txBox="1"/>
            <p:nvPr/>
          </p:nvSpPr>
          <p:spPr>
            <a:xfrm>
              <a:off x="1098423" y="3539014"/>
              <a:ext cx="24167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trước khi triển khai.</a:t>
              </a:r>
            </a:p>
          </p:txBody>
        </p:sp>
        <p:sp>
          <p:nvSpPr>
            <p:cNvPr id="20" name="Ellipse 20"/>
            <p:cNvSpPr/>
            <p:nvPr/>
          </p:nvSpPr>
          <p:spPr>
            <a:xfrm>
              <a:off x="904875" y="3914775"/>
              <a:ext cx="76200" cy="76200"/>
            </a:xfrm>
            <a:prstGeom prst="ellipse">
              <a:avLst/>
            </a:prstGeom>
            <a:solidFill>
              <a:srgbClr val="D7B46A"/>
            </a:solidFill>
            <a:ln>
              <a:noFill/>
            </a:ln>
          </p:spPr>
        </p:sp>
        <p:sp>
          <p:nvSpPr>
            <p:cNvPr id="21" name="TextBox 21"/>
            <p:cNvSpPr txBox="1"/>
            <p:nvPr/>
          </p:nvSpPr>
          <p:spPr>
            <a:xfrm>
              <a:off x="1098423" y="3881914"/>
              <a:ext cx="46114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Nếu chưa phù hợp, giữ ở nhánh khám phá/đối tác thay vì</a:t>
              </a:r>
            </a:p>
          </p:txBody>
        </p:sp>
        <p:sp>
          <p:nvSpPr>
            <p:cNvPr id="22" name="TextBox 22"/>
            <p:cNvSpPr txBox="1"/>
            <p:nvPr/>
          </p:nvSpPr>
          <p:spPr>
            <a:xfrm>
              <a:off x="1098423" y="4091464"/>
              <a:ext cx="169301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hứa triển khai ngay.</a:t>
              </a:r>
            </a:p>
          </p:txBody>
        </p:sp>
      </p:grpSp>
      <p:grpSp>
        <p:nvGrpSpPr>
          <p:cNvPr id="43" name="Group 43"/>
          <p:cNvGrpSpPr/>
          <p:nvPr/>
        </p:nvGrpSpPr>
        <p:grpSpPr>
          <a:xfrm>
            <a:off x="6953250" y="2619375"/>
            <a:ext cx="4552950" cy="3190875"/>
            <a:chOff x="6953250" y="2619375"/>
            <a:chExt cx="4552950" cy="3190875"/>
          </a:xfrm>
        </p:grpSpPr>
        <p:sp>
          <p:nvSpPr>
            <p:cNvPr id="24" name="Rectangle 24"/>
            <p:cNvSpPr/>
            <p:nvPr/>
          </p:nvSpPr>
          <p:spPr>
            <a:xfrm>
              <a:off x="6953250" y="2619375"/>
              <a:ext cx="4552950" cy="3190875"/>
            </a:xfrm>
            <a:prstGeom prst="roundRect">
              <a:avLst>
                <a:gd name="adj" fmla="val 5373"/>
              </a:avLst>
            </a:prstGeom>
            <a:solidFill>
              <a:srgbClr val="0C1B2C"/>
            </a:solidFill>
            <a:ln w="9525">
              <a:solidFill>
                <a:srgbClr val="2B425A"/>
              </a:solidFill>
            </a:ln>
          </p:spPr>
        </p:sp>
        <p:sp>
          <p:nvSpPr>
            <p:cNvPr id="25" name="TextBox 25"/>
            <p:cNvSpPr txBox="1"/>
            <p:nvPr/>
          </p:nvSpPr>
          <p:spPr>
            <a:xfrm>
              <a:off x="7157847" y="27998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26" name="Ellipse 26"/>
            <p:cNvSpPr/>
            <p:nvPr/>
          </p:nvSpPr>
          <p:spPr>
            <a:xfrm>
              <a:off x="7324725" y="3810000"/>
              <a:ext cx="476250" cy="476250"/>
            </a:xfrm>
            <a:prstGeom prst="ellipse">
              <a:avLst/>
            </a:prstGeom>
            <a:solidFill>
              <a:srgbClr val="D7B46A"/>
            </a:solidFill>
            <a:ln>
              <a:noFill/>
            </a:ln>
          </p:spPr>
        </p:sp>
        <p:sp>
          <p:nvSpPr>
            <p:cNvPr id="27" name="TextBox 27"/>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28" name="TextBox 28"/>
            <p:cNvSpPr txBox="1"/>
            <p:nvPr/>
          </p:nvSpPr>
          <p:spPr>
            <a:xfrm>
              <a:off x="7253097" y="45143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29" name="Line 29"/>
            <p:cNvSpPr/>
            <p:nvPr/>
          </p:nvSpPr>
          <p:spPr>
            <a:xfrm>
              <a:off x="78105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0" name="Ellipse 30"/>
            <p:cNvSpPr/>
            <p:nvPr/>
          </p:nvSpPr>
          <p:spPr>
            <a:xfrm>
              <a:off x="8315325" y="3810000"/>
              <a:ext cx="476250" cy="476250"/>
            </a:xfrm>
            <a:prstGeom prst="ellipse">
              <a:avLst/>
            </a:prstGeom>
            <a:solidFill>
              <a:srgbClr val="72D5D2"/>
            </a:solidFill>
            <a:ln>
              <a:noFill/>
            </a:ln>
          </p:spPr>
        </p:sp>
        <p:sp>
          <p:nvSpPr>
            <p:cNvPr id="31" name="TextBox 31"/>
            <p:cNvSpPr txBox="1"/>
            <p:nvPr/>
          </p:nvSpPr>
          <p:spPr>
            <a:xfrm>
              <a:off x="8494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2" name="TextBox 32"/>
            <p:cNvSpPr txBox="1"/>
            <p:nvPr/>
          </p:nvSpPr>
          <p:spPr>
            <a:xfrm>
              <a:off x="8243697" y="45143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3" name="Line 33"/>
            <p:cNvSpPr/>
            <p:nvPr/>
          </p:nvSpPr>
          <p:spPr>
            <a:xfrm>
              <a:off x="88011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9305925" y="3810000"/>
              <a:ext cx="476250" cy="476250"/>
            </a:xfrm>
            <a:prstGeom prst="ellipse">
              <a:avLst/>
            </a:prstGeom>
            <a:solidFill>
              <a:srgbClr val="D7B46A"/>
            </a:solidFill>
            <a:ln>
              <a:noFill/>
            </a:ln>
          </p:spPr>
        </p:sp>
        <p:sp>
          <p:nvSpPr>
            <p:cNvPr id="35" name="TextBox 35"/>
            <p:cNvSpPr txBox="1"/>
            <p:nvPr/>
          </p:nvSpPr>
          <p:spPr>
            <a:xfrm>
              <a:off x="94847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36" name="TextBox 36"/>
            <p:cNvSpPr txBox="1"/>
            <p:nvPr/>
          </p:nvSpPr>
          <p:spPr>
            <a:xfrm>
              <a:off x="9234297" y="45143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37" name="Line 37"/>
            <p:cNvSpPr/>
            <p:nvPr/>
          </p:nvSpPr>
          <p:spPr>
            <a:xfrm>
              <a:off x="9791700" y="40481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10296525" y="3810000"/>
              <a:ext cx="476250" cy="476250"/>
            </a:xfrm>
            <a:prstGeom prst="ellipse">
              <a:avLst/>
            </a:prstGeom>
            <a:solidFill>
              <a:srgbClr val="D78678"/>
            </a:solidFill>
            <a:ln>
              <a:noFill/>
            </a:ln>
          </p:spPr>
        </p:sp>
        <p:sp>
          <p:nvSpPr>
            <p:cNvPr id="39" name="TextBox 39"/>
            <p:cNvSpPr txBox="1"/>
            <p:nvPr/>
          </p:nvSpPr>
          <p:spPr>
            <a:xfrm>
              <a:off x="104753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0" name="TextBox 40"/>
            <p:cNvSpPr txBox="1"/>
            <p:nvPr/>
          </p:nvSpPr>
          <p:spPr>
            <a:xfrm>
              <a:off x="10224897" y="45143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1" name="Rectangle 41"/>
            <p:cNvSpPr/>
            <p:nvPr/>
          </p:nvSpPr>
          <p:spPr>
            <a:xfrm>
              <a:off x="7381875" y="5019675"/>
              <a:ext cx="3695700" cy="400050"/>
            </a:xfrm>
            <a:prstGeom prst="roundRect">
              <a:avLst>
                <a:gd name="adj" fmla="val 23810"/>
              </a:avLst>
            </a:prstGeom>
            <a:solidFill>
              <a:srgbClr val="10243A"/>
            </a:solidFill>
            <a:ln w="9525">
              <a:solidFill>
                <a:srgbClr val="2B425A"/>
              </a:solidFill>
            </a:ln>
          </p:spPr>
        </p:sp>
        <p:sp>
          <p:nvSpPr>
            <p:cNvPr id="42" name="TextBox 42"/>
            <p:cNvSpPr txBox="1"/>
            <p:nvPr/>
          </p:nvSpPr>
          <p:spPr>
            <a:xfrm>
              <a:off x="8350080" y="51377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P129</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130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78107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DECISION</a:t>
              </a:r>
            </a:p>
          </p:txBody>
        </p:sp>
        <p:sp>
          <p:nvSpPr>
            <p:cNvPr id="7" name="TextBox 7"/>
            <p:cNvSpPr txBox="1"/>
            <p:nvPr/>
          </p:nvSpPr>
          <p:spPr>
            <a:xfrm>
              <a:off x="671322" y="930592"/>
              <a:ext cx="802409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Ba gói hướng nên cân nhắc, không triển</a:t>
              </a:r>
            </a:p>
          </p:txBody>
        </p:sp>
        <p:sp>
          <p:nvSpPr>
            <p:cNvPr id="8" name="TextBox 8"/>
            <p:cNvSpPr txBox="1"/>
            <p:nvPr/>
          </p:nvSpPr>
          <p:spPr>
            <a:xfrm>
              <a:off x="671322" y="1340168"/>
              <a:ext cx="3349051"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khai cả 29 hướng</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295360"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Chọn một hướng chính, E0 làm nền và một phép đo hỗ trợ.</a:t>
              </a:r>
            </a:p>
          </p:txBody>
        </p:sp>
      </p:grpSp>
      <p:grpSp>
        <p:nvGrpSpPr>
          <p:cNvPr id="27" name="Group 27"/>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56505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Gói chế tạo linh kiện: E0 + A8; đầu ra là đường dẫn/điện</a:t>
              </a:r>
            </a:p>
          </p:txBody>
        </p:sp>
        <p:sp>
          <p:nvSpPr>
            <p:cNvPr id="17" name="TextBox 17"/>
            <p:cNvSpPr txBox="1"/>
            <p:nvPr/>
          </p:nvSpPr>
          <p:spPr>
            <a:xfrm>
              <a:off x="1098423" y="3024664"/>
              <a:ext cx="399139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cực/heater, mở rộng E1 khi có phép đo vật liệu.</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71068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Gói lắp ráp/đóng gói: E0 + A3; mở rộng E5/D1 khi vật liệu</a:t>
              </a:r>
            </a:p>
          </p:txBody>
        </p:sp>
        <p:sp>
          <p:nvSpPr>
            <p:cNvPr id="20" name="TextBox 20"/>
            <p:cNvSpPr txBox="1"/>
            <p:nvPr/>
          </p:nvSpPr>
          <p:spPr>
            <a:xfrm>
              <a:off x="1098423" y="3577114"/>
              <a:ext cx="256319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liên kết và yêu cầu kín khí rõ.</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89727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Gói MEMS/đo nhiệt: E0 + E3 hoặc C2; mở rộng E2 khi có cấu</a:t>
              </a:r>
            </a:p>
          </p:txBody>
        </p:sp>
        <p:sp>
          <p:nvSpPr>
            <p:cNvPr id="23" name="TextBox 23"/>
            <p:cNvSpPr txBox="1"/>
            <p:nvPr/>
          </p:nvSpPr>
          <p:spPr>
            <a:xfrm>
              <a:off x="1098423" y="4129564"/>
              <a:ext cx="211518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trúc và readout phù hợp.</a:t>
              </a:r>
            </a:p>
          </p:txBody>
        </p:sp>
        <p:sp>
          <p:nvSpPr>
            <p:cNvPr id="24" name="Ellipse 24"/>
            <p:cNvSpPr/>
            <p:nvPr/>
          </p:nvSpPr>
          <p:spPr>
            <a:xfrm>
              <a:off x="904875" y="4505325"/>
              <a:ext cx="76200" cy="76200"/>
            </a:xfrm>
            <a:prstGeom prst="ellipse">
              <a:avLst/>
            </a:prstGeom>
            <a:solidFill>
              <a:srgbClr val="D7B46A"/>
            </a:solidFill>
            <a:ln>
              <a:noFill/>
            </a:ln>
          </p:spPr>
        </p:sp>
        <p:sp>
          <p:nvSpPr>
            <p:cNvPr id="25" name="TextBox 25"/>
            <p:cNvSpPr txBox="1"/>
            <p:nvPr/>
          </p:nvSpPr>
          <p:spPr>
            <a:xfrm>
              <a:off x="1098423" y="4472464"/>
              <a:ext cx="492549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Nhánh Si chuyên sâu: A1/A2/A7/C3; chỉ chọn khi có wafer,</a:t>
              </a:r>
            </a:p>
          </p:txBody>
        </p:sp>
        <p:sp>
          <p:nvSpPr>
            <p:cNvPr id="26" name="TextBox 26"/>
            <p:cNvSpPr txBox="1"/>
            <p:nvPr/>
          </p:nvSpPr>
          <p:spPr>
            <a:xfrm>
              <a:off x="1098423" y="4682014"/>
              <a:ext cx="250288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nhiệt và phép đo chuyên dụng.</a:t>
              </a:r>
            </a:p>
          </p:txBody>
        </p:sp>
      </p:grpSp>
      <p:grpSp>
        <p:nvGrpSpPr>
          <p:cNvPr id="42" name="Group 42"/>
          <p:cNvGrpSpPr/>
          <p:nvPr/>
        </p:nvGrpSpPr>
        <p:grpSpPr>
          <a:xfrm>
            <a:off x="6953250" y="2657475"/>
            <a:ext cx="4552950" cy="3190875"/>
            <a:chOff x="6953250" y="2657475"/>
            <a:chExt cx="4552950" cy="3190875"/>
          </a:xfrm>
        </p:grpSpPr>
        <p:sp>
          <p:nvSpPr>
            <p:cNvPr id="28" name="Rectangle 28"/>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9" name="TextBox 29"/>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30" name="Ellipse 30"/>
            <p:cNvSpPr/>
            <p:nvPr/>
          </p:nvSpPr>
          <p:spPr>
            <a:xfrm>
              <a:off x="7324725" y="3810000"/>
              <a:ext cx="476250" cy="476250"/>
            </a:xfrm>
            <a:prstGeom prst="ellipse">
              <a:avLst/>
            </a:prstGeom>
            <a:solidFill>
              <a:srgbClr val="D7B46A"/>
            </a:solidFill>
            <a:ln>
              <a:noFill/>
            </a:ln>
          </p:spPr>
        </p:sp>
        <p:sp>
          <p:nvSpPr>
            <p:cNvPr id="31" name="TextBox 31"/>
            <p:cNvSpPr txBox="1"/>
            <p:nvPr/>
          </p:nvSpPr>
          <p:spPr>
            <a:xfrm>
              <a:off x="75035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2" name="TextBox 32"/>
            <p:cNvSpPr txBox="1"/>
            <p:nvPr/>
          </p:nvSpPr>
          <p:spPr>
            <a:xfrm>
              <a:off x="7291197" y="4504849"/>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3" name="Line 33"/>
            <p:cNvSpPr/>
            <p:nvPr/>
          </p:nvSpPr>
          <p:spPr>
            <a:xfrm>
              <a:off x="7810500" y="4048125"/>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4" name="Ellipse 34"/>
            <p:cNvSpPr/>
            <p:nvPr/>
          </p:nvSpPr>
          <p:spPr>
            <a:xfrm>
              <a:off x="8582025" y="3810000"/>
              <a:ext cx="476250" cy="476250"/>
            </a:xfrm>
            <a:prstGeom prst="ellipse">
              <a:avLst/>
            </a:prstGeom>
            <a:solidFill>
              <a:srgbClr val="72D5D2"/>
            </a:solidFill>
            <a:ln>
              <a:noFill/>
            </a:ln>
          </p:spPr>
        </p:sp>
        <p:sp>
          <p:nvSpPr>
            <p:cNvPr id="35" name="TextBox 35"/>
            <p:cNvSpPr txBox="1"/>
            <p:nvPr/>
          </p:nvSpPr>
          <p:spPr>
            <a:xfrm>
              <a:off x="87608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6" name="TextBox 36"/>
            <p:cNvSpPr txBox="1"/>
            <p:nvPr/>
          </p:nvSpPr>
          <p:spPr>
            <a:xfrm>
              <a:off x="8548497" y="4504849"/>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7" name="Line 37"/>
            <p:cNvSpPr/>
            <p:nvPr/>
          </p:nvSpPr>
          <p:spPr>
            <a:xfrm>
              <a:off x="9067800" y="4048125"/>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8" name="Ellipse 38"/>
            <p:cNvSpPr/>
            <p:nvPr/>
          </p:nvSpPr>
          <p:spPr>
            <a:xfrm>
              <a:off x="9839325" y="3810000"/>
              <a:ext cx="476250" cy="476250"/>
            </a:xfrm>
            <a:prstGeom prst="ellipse">
              <a:avLst/>
            </a:prstGeom>
            <a:solidFill>
              <a:srgbClr val="D7B46A"/>
            </a:solidFill>
            <a:ln>
              <a:noFill/>
            </a:ln>
          </p:spPr>
        </p:sp>
        <p:sp>
          <p:nvSpPr>
            <p:cNvPr id="39" name="TextBox 39"/>
            <p:cNvSpPr txBox="1"/>
            <p:nvPr/>
          </p:nvSpPr>
          <p:spPr>
            <a:xfrm>
              <a:off x="10018115" y="39595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40" name="TextBox 40"/>
            <p:cNvSpPr txBox="1"/>
            <p:nvPr/>
          </p:nvSpPr>
          <p:spPr>
            <a:xfrm>
              <a:off x="9805797" y="4504849"/>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41" name="TextBox 41"/>
            <p:cNvSpPr txBox="1"/>
            <p:nvPr/>
          </p:nvSpPr>
          <p:spPr>
            <a:xfrm>
              <a:off x="7290054" y="5099685"/>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5" name="Group 45"/>
          <p:cNvGrpSpPr/>
          <p:nvPr/>
        </p:nvGrpSpPr>
        <p:grpSpPr>
          <a:xfrm>
            <a:off x="685800" y="6343650"/>
            <a:ext cx="10825353" cy="314039"/>
            <a:chOff x="685800" y="6343650"/>
            <a:chExt cx="10825353" cy="314039"/>
          </a:xfrm>
        </p:grpSpPr>
        <p:sp>
          <p:nvSpPr>
            <p:cNvPr id="43" name="Line 43"/>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4" name="TextBox 44"/>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P130</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131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78107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DECISION</a:t>
              </a:r>
            </a:p>
          </p:txBody>
        </p:sp>
        <p:sp>
          <p:nvSpPr>
            <p:cNvPr id="7" name="TextBox 7"/>
            <p:cNvSpPr txBox="1"/>
            <p:nvPr/>
          </p:nvSpPr>
          <p:spPr>
            <a:xfrm>
              <a:off x="671322" y="930592"/>
              <a:ext cx="774732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Thiết kế thí nghiệm: định nghĩa bằng</a:t>
              </a:r>
            </a:p>
          </p:txBody>
        </p:sp>
        <p:sp>
          <p:nvSpPr>
            <p:cNvPr id="8" name="TextBox 8"/>
            <p:cNvSpPr txBox="1"/>
            <p:nvPr/>
          </p:nvSpPr>
          <p:spPr>
            <a:xfrm>
              <a:off x="671322" y="1340168"/>
              <a:ext cx="5200642"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chứng trước khi chạy mẫu</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5249172"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Một cửa sổ xử lý đáng tin cần đối chứng, lặp lại và sai số.</a:t>
              </a:r>
            </a:p>
          </p:txBody>
        </p:sp>
      </p:grpSp>
      <p:grpSp>
        <p:nvGrpSpPr>
          <p:cNvPr id="27" name="Group 27"/>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49944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Nhóm mẫu: chưa xử lý; laser; nhiệt tham chiếu khi phù</a:t>
              </a:r>
            </a:p>
          </p:txBody>
        </p:sp>
        <p:sp>
          <p:nvSpPr>
            <p:cNvPr id="17" name="TextBox 17"/>
            <p:cNvSpPr txBox="1"/>
            <p:nvPr/>
          </p:nvSpPr>
          <p:spPr>
            <a:xfrm>
              <a:off x="1098423" y="3024664"/>
              <a:ext cx="276997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hợp; mẫu chuẩn có ground truth.</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81806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Biến đầu vào: excitation đã đặc trưng, thời gian/quỹ đạo,</a:t>
              </a:r>
            </a:p>
          </p:txBody>
        </p:sp>
        <p:sp>
          <p:nvSpPr>
            <p:cNvPr id="20" name="TextBox 20"/>
            <p:cNvSpPr txBox="1"/>
            <p:nvPr/>
          </p:nvSpPr>
          <p:spPr>
            <a:xfrm>
              <a:off x="1098423" y="3577114"/>
              <a:ext cx="355399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vật liệu/stack và điều kiện gá/môi trường.</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63766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Đầu ra: một chỉ số chức năng, một chỉ số hư hại và một</a:t>
              </a:r>
            </a:p>
          </p:txBody>
        </p:sp>
        <p:sp>
          <p:nvSpPr>
            <p:cNvPr id="23" name="TextBox 23"/>
            <p:cNvSpPr txBox="1"/>
            <p:nvPr/>
          </p:nvSpPr>
          <p:spPr>
            <a:xfrm>
              <a:off x="1098423" y="4129564"/>
              <a:ext cx="193425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phép đo cơ chế độc lập.</a:t>
              </a:r>
            </a:p>
          </p:txBody>
        </p:sp>
        <p:sp>
          <p:nvSpPr>
            <p:cNvPr id="24" name="Ellipse 24"/>
            <p:cNvSpPr/>
            <p:nvPr/>
          </p:nvSpPr>
          <p:spPr>
            <a:xfrm>
              <a:off x="904875" y="4505325"/>
              <a:ext cx="76200" cy="76200"/>
            </a:xfrm>
            <a:prstGeom prst="ellipse">
              <a:avLst/>
            </a:prstGeom>
            <a:solidFill>
              <a:srgbClr val="D7B46A"/>
            </a:solidFill>
            <a:ln>
              <a:noFill/>
            </a:ln>
          </p:spPr>
        </p:sp>
        <p:sp>
          <p:nvSpPr>
            <p:cNvPr id="25" name="TextBox 25"/>
            <p:cNvSpPr txBox="1"/>
            <p:nvPr/>
          </p:nvSpPr>
          <p:spPr>
            <a:xfrm>
              <a:off x="1098423" y="4472464"/>
              <a:ext cx="454228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Đo lặp, theo dõi drift, lưu trạng thái lỗi và báo cả mẫu</a:t>
              </a:r>
            </a:p>
          </p:txBody>
        </p:sp>
        <p:sp>
          <p:nvSpPr>
            <p:cNvPr id="26" name="TextBox 26"/>
            <p:cNvSpPr txBox="1"/>
            <p:nvPr/>
          </p:nvSpPr>
          <p:spPr>
            <a:xfrm>
              <a:off x="1098423" y="4682014"/>
              <a:ext cx="307152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hỏng; không chỉ chọn hình đẹp nhất.</a:t>
              </a:r>
            </a:p>
          </p:txBody>
        </p:sp>
      </p:grpSp>
      <p:grpSp>
        <p:nvGrpSpPr>
          <p:cNvPr id="42" name="Group 42"/>
          <p:cNvGrpSpPr/>
          <p:nvPr/>
        </p:nvGrpSpPr>
        <p:grpSpPr>
          <a:xfrm>
            <a:off x="6953250" y="2657475"/>
            <a:ext cx="4552950" cy="3190875"/>
            <a:chOff x="6953250" y="2657475"/>
            <a:chExt cx="4552950" cy="3190875"/>
          </a:xfrm>
        </p:grpSpPr>
        <p:sp>
          <p:nvSpPr>
            <p:cNvPr id="28" name="Rectangle 28"/>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9" name="TextBox 29"/>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30" name="Rectangle 30"/>
            <p:cNvSpPr/>
            <p:nvPr/>
          </p:nvSpPr>
          <p:spPr>
            <a:xfrm>
              <a:off x="7181850" y="3248025"/>
              <a:ext cx="4095750" cy="533400"/>
            </a:xfrm>
            <a:prstGeom prst="roundRect">
              <a:avLst>
                <a:gd name="adj" fmla="val 21429"/>
              </a:avLst>
            </a:prstGeom>
            <a:solidFill>
              <a:srgbClr val="10243A"/>
            </a:solidFill>
            <a:ln w="9525">
              <a:solidFill>
                <a:srgbClr val="2B425A"/>
              </a:solidFill>
            </a:ln>
          </p:spPr>
        </p:sp>
        <p:sp>
          <p:nvSpPr>
            <p:cNvPr id="31" name="Ellipse 31"/>
            <p:cNvSpPr/>
            <p:nvPr/>
          </p:nvSpPr>
          <p:spPr>
            <a:xfrm>
              <a:off x="7296150" y="3438525"/>
              <a:ext cx="152400" cy="152400"/>
            </a:xfrm>
            <a:prstGeom prst="ellipse">
              <a:avLst/>
            </a:prstGeom>
            <a:solidFill>
              <a:srgbClr val="D7B46A"/>
            </a:solidFill>
            <a:ln>
              <a:noFill/>
            </a:ln>
          </p:spPr>
        </p:sp>
        <p:sp>
          <p:nvSpPr>
            <p:cNvPr id="32" name="TextBox 32"/>
            <p:cNvSpPr txBox="1"/>
            <p:nvPr/>
          </p:nvSpPr>
          <p:spPr>
            <a:xfrm>
              <a:off x="7567041" y="3363278"/>
              <a:ext cx="484594"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NGUỒN</a:t>
              </a:r>
            </a:p>
          </p:txBody>
        </p:sp>
        <p:sp>
          <p:nvSpPr>
            <p:cNvPr id="33" name="TextBox 33"/>
            <p:cNvSpPr txBox="1"/>
            <p:nvPr/>
          </p:nvSpPr>
          <p:spPr>
            <a:xfrm>
              <a:off x="7566660" y="3555206"/>
              <a:ext cx="1240241"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citation / tiền lệ</a:t>
              </a:r>
            </a:p>
          </p:txBody>
        </p:sp>
        <p:sp>
          <p:nvSpPr>
            <p:cNvPr id="34" name="Rectangle 34"/>
            <p:cNvSpPr/>
            <p:nvPr/>
          </p:nvSpPr>
          <p:spPr>
            <a:xfrm>
              <a:off x="7181850" y="3962400"/>
              <a:ext cx="4095750" cy="533400"/>
            </a:xfrm>
            <a:prstGeom prst="roundRect">
              <a:avLst>
                <a:gd name="adj" fmla="val 21429"/>
              </a:avLst>
            </a:prstGeom>
            <a:solidFill>
              <a:srgbClr val="10243A"/>
            </a:solidFill>
            <a:ln w="9525">
              <a:solidFill>
                <a:srgbClr val="2B425A"/>
              </a:solidFill>
            </a:ln>
          </p:spPr>
        </p:sp>
        <p:sp>
          <p:nvSpPr>
            <p:cNvPr id="35" name="Ellipse 35"/>
            <p:cNvSpPr/>
            <p:nvPr/>
          </p:nvSpPr>
          <p:spPr>
            <a:xfrm>
              <a:off x="7296150" y="4152900"/>
              <a:ext cx="152400" cy="152400"/>
            </a:xfrm>
            <a:prstGeom prst="ellipse">
              <a:avLst/>
            </a:prstGeom>
            <a:solidFill>
              <a:srgbClr val="D7B46A"/>
            </a:solidFill>
            <a:ln>
              <a:noFill/>
            </a:ln>
          </p:spPr>
        </p:sp>
        <p:sp>
          <p:nvSpPr>
            <p:cNvPr id="36" name="TextBox 36"/>
            <p:cNvSpPr txBox="1"/>
            <p:nvPr/>
          </p:nvSpPr>
          <p:spPr>
            <a:xfrm>
              <a:off x="7567041" y="4077652"/>
              <a:ext cx="987697"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TA HỌC ĐƯỢC</a:t>
              </a:r>
            </a:p>
          </p:txBody>
        </p:sp>
        <p:sp>
          <p:nvSpPr>
            <p:cNvPr id="37" name="TextBox 37"/>
            <p:cNvSpPr txBox="1"/>
            <p:nvPr/>
          </p:nvSpPr>
          <p:spPr>
            <a:xfrm>
              <a:off x="7566660" y="4269581"/>
              <a:ext cx="1564406"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nguyên lý chuyển giao</a:t>
              </a:r>
            </a:p>
          </p:txBody>
        </p:sp>
        <p:sp>
          <p:nvSpPr>
            <p:cNvPr id="38" name="Rectangle 38"/>
            <p:cNvSpPr/>
            <p:nvPr/>
          </p:nvSpPr>
          <p:spPr>
            <a:xfrm>
              <a:off x="7181850" y="4676775"/>
              <a:ext cx="4095750" cy="533400"/>
            </a:xfrm>
            <a:prstGeom prst="roundRect">
              <a:avLst>
                <a:gd name="adj" fmla="val 21429"/>
              </a:avLst>
            </a:prstGeom>
            <a:solidFill>
              <a:srgbClr val="10243A"/>
            </a:solidFill>
            <a:ln w="9525">
              <a:solidFill>
                <a:srgbClr val="2B425A"/>
              </a:solidFill>
            </a:ln>
          </p:spPr>
        </p:sp>
        <p:sp>
          <p:nvSpPr>
            <p:cNvPr id="39" name="Ellipse 39"/>
            <p:cNvSpPr/>
            <p:nvPr/>
          </p:nvSpPr>
          <p:spPr>
            <a:xfrm>
              <a:off x="7296150" y="4867275"/>
              <a:ext cx="152400" cy="152400"/>
            </a:xfrm>
            <a:prstGeom prst="ellipse">
              <a:avLst/>
            </a:prstGeom>
            <a:solidFill>
              <a:srgbClr val="D78678"/>
            </a:solidFill>
            <a:ln>
              <a:noFill/>
            </a:ln>
          </p:spPr>
        </p:sp>
        <p:sp>
          <p:nvSpPr>
            <p:cNvPr id="40" name="TextBox 40"/>
            <p:cNvSpPr txBox="1"/>
            <p:nvPr/>
          </p:nvSpPr>
          <p:spPr>
            <a:xfrm>
              <a:off x="7567041" y="4792028"/>
              <a:ext cx="1084616"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8678"/>
                  </a:solidFill>
                  <a:effectLst/>
                  <a:uLnTx/>
                  <a:uFillTx/>
                  <a:latin typeface="Be Vietnam Pro"/>
                  <a:ea typeface="Be Vietnam Pro"/>
                  <a:cs typeface="Be Vietnam Pro"/>
                </a:rPr>
                <a:t>KHÔNG SUY RA</a:t>
              </a:r>
            </a:p>
          </p:txBody>
        </p:sp>
        <p:sp>
          <p:nvSpPr>
            <p:cNvPr id="41" name="TextBox 41"/>
            <p:cNvSpPr txBox="1"/>
            <p:nvPr/>
          </p:nvSpPr>
          <p:spPr>
            <a:xfrm>
              <a:off x="7566660" y="4983956"/>
              <a:ext cx="1406093" cy="220028"/>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20" b="0" i="0" u="none" strike="noStrike" kern="1200" cap="none" spc="0" normalizeH="0" baseline="0" noProof="0" dirty="0">
                  <a:ln>
                    <a:noFill/>
                  </a:ln>
                  <a:solidFill>
                    <a:srgbClr val="A8B5C3"/>
                  </a:solidFill>
                  <a:effectLst/>
                  <a:uLnTx/>
                  <a:uFillTx/>
                  <a:latin typeface="Be Vietnam Pro"/>
                  <a:ea typeface="Be Vietnam Pro"/>
                  <a:cs typeface="Be Vietnam Pro"/>
                </a:rPr>
                <a:t>giới hạn / khác biệt</a:t>
              </a:r>
            </a:p>
          </p:txBody>
        </p:sp>
      </p:grpSp>
      <p:grpSp>
        <p:nvGrpSpPr>
          <p:cNvPr id="45" name="Group 45"/>
          <p:cNvGrpSpPr/>
          <p:nvPr/>
        </p:nvGrpSpPr>
        <p:grpSpPr>
          <a:xfrm>
            <a:off x="685800" y="6343650"/>
            <a:ext cx="10825353" cy="314039"/>
            <a:chOff x="685800" y="6343650"/>
            <a:chExt cx="10825353" cy="314039"/>
          </a:xfrm>
        </p:grpSpPr>
        <p:sp>
          <p:nvSpPr>
            <p:cNvPr id="43" name="Line 43"/>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4" name="TextBox 44"/>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P131</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132 / 133</a:t>
              </a:r>
            </a:p>
          </p:txBody>
        </p:sp>
      </p:grpSp>
      <p:grpSp>
        <p:nvGrpSpPr>
          <p:cNvPr id="12" name="Group 12"/>
          <p:cNvGrpSpPr/>
          <p:nvPr/>
        </p:nvGrpSpPr>
        <p:grpSpPr>
          <a:xfrm>
            <a:off x="671322" y="734378"/>
            <a:ext cx="10834878" cy="1523047"/>
            <a:chOff x="671322" y="734378"/>
            <a:chExt cx="10834878" cy="1523047"/>
          </a:xfrm>
        </p:grpSpPr>
        <p:sp>
          <p:nvSpPr>
            <p:cNvPr id="6" name="TextBox 6"/>
            <p:cNvSpPr txBox="1"/>
            <p:nvPr/>
          </p:nvSpPr>
          <p:spPr>
            <a:xfrm>
              <a:off x="680466" y="734378"/>
              <a:ext cx="78107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DECISION</a:t>
              </a:r>
            </a:p>
          </p:txBody>
        </p:sp>
        <p:sp>
          <p:nvSpPr>
            <p:cNvPr id="7" name="TextBox 7"/>
            <p:cNvSpPr txBox="1"/>
            <p:nvPr/>
          </p:nvSpPr>
          <p:spPr>
            <a:xfrm>
              <a:off x="671322" y="930592"/>
              <a:ext cx="7683008"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Đề xuất chốt đề tài và các cổng triển</a:t>
              </a:r>
            </a:p>
          </p:txBody>
        </p:sp>
        <p:sp>
          <p:nvSpPr>
            <p:cNvPr id="8" name="TextBox 8"/>
            <p:cNvSpPr txBox="1"/>
            <p:nvPr/>
          </p:nvSpPr>
          <p:spPr>
            <a:xfrm>
              <a:off x="671322" y="1340168"/>
              <a:ext cx="85898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khai</a:t>
              </a:r>
            </a:p>
          </p:txBody>
        </p:sp>
        <p:sp>
          <p:nvSpPr>
            <p:cNvPr id="9" name="Rectangle 9"/>
            <p:cNvSpPr/>
            <p:nvPr/>
          </p:nvSpPr>
          <p:spPr>
            <a:xfrm>
              <a:off x="685800" y="1847850"/>
              <a:ext cx="10820400" cy="409575"/>
            </a:xfrm>
            <a:prstGeom prst="roundRect">
              <a:avLst>
                <a:gd name="adj" fmla="val 27907"/>
              </a:avLst>
            </a:prstGeom>
            <a:solidFill>
              <a:srgbClr val="D7B46A">
                <a:alpha val="11000"/>
              </a:srgbClr>
            </a:solidFill>
            <a:ln>
              <a:noFill/>
            </a:ln>
          </p:spPr>
        </p:sp>
        <p:sp>
          <p:nvSpPr>
            <p:cNvPr id="10" name="Rectangle 10"/>
            <p:cNvSpPr/>
            <p:nvPr/>
          </p:nvSpPr>
          <p:spPr>
            <a:xfrm>
              <a:off x="685800" y="1847850"/>
              <a:ext cx="38100" cy="409575"/>
            </a:xfrm>
            <a:prstGeom prst="roundRect">
              <a:avLst>
                <a:gd name="adj" fmla="val 50000"/>
              </a:avLst>
            </a:prstGeom>
            <a:solidFill>
              <a:srgbClr val="D7B46A"/>
            </a:solidFill>
            <a:ln>
              <a:noFill/>
            </a:ln>
          </p:spPr>
        </p:sp>
        <p:sp>
          <p:nvSpPr>
            <p:cNvPr id="11" name="TextBox 11"/>
            <p:cNvSpPr txBox="1"/>
            <p:nvPr/>
          </p:nvSpPr>
          <p:spPr>
            <a:xfrm>
              <a:off x="907542" y="1959292"/>
              <a:ext cx="7100311"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Tên đề tài nên nêu chức năng và mẫu, không lấy watt làm tuyên bố công nghệ.</a:t>
              </a:r>
            </a:p>
          </p:txBody>
        </p:sp>
      </p:grpSp>
      <p:grpSp>
        <p:nvGrpSpPr>
          <p:cNvPr id="27" name="Group 27"/>
          <p:cNvGrpSpPr/>
          <p:nvPr/>
        </p:nvGrpSpPr>
        <p:grpSpPr>
          <a:xfrm>
            <a:off x="685800" y="2657475"/>
            <a:ext cx="5905500" cy="3190875"/>
            <a:chOff x="685800" y="2657475"/>
            <a:chExt cx="5905500" cy="3190875"/>
          </a:xfrm>
        </p:grpSpPr>
        <p:sp>
          <p:nvSpPr>
            <p:cNvPr id="13" name="Rectangle 13"/>
            <p:cNvSpPr/>
            <p:nvPr/>
          </p:nvSpPr>
          <p:spPr>
            <a:xfrm>
              <a:off x="685800" y="2657475"/>
              <a:ext cx="5905500" cy="3190875"/>
            </a:xfrm>
            <a:prstGeom prst="roundRect">
              <a:avLst>
                <a:gd name="adj" fmla="val 5373"/>
              </a:avLst>
            </a:prstGeom>
            <a:solidFill>
              <a:srgbClr val="10243A"/>
            </a:solidFill>
            <a:ln w="9525">
              <a:solidFill>
                <a:srgbClr val="2B425A"/>
              </a:solidFill>
            </a:ln>
          </p:spPr>
        </p:sp>
        <p:sp>
          <p:nvSpPr>
            <p:cNvPr id="14" name="Rectangle 14"/>
            <p:cNvSpPr/>
            <p:nvPr/>
          </p:nvSpPr>
          <p:spPr>
            <a:xfrm>
              <a:off x="685800" y="2657475"/>
              <a:ext cx="47625" cy="3190875"/>
            </a:xfrm>
            <a:prstGeom prst="roundRect">
              <a:avLst>
                <a:gd name="adj" fmla="val 40000"/>
              </a:avLst>
            </a:prstGeom>
            <a:solidFill>
              <a:srgbClr val="D7B46A"/>
            </a:solidFill>
            <a:ln>
              <a:noFill/>
            </a:ln>
          </p:spPr>
        </p:sp>
        <p:sp>
          <p:nvSpPr>
            <p:cNvPr id="15" name="Ellipse 15"/>
            <p:cNvSpPr/>
            <p:nvPr/>
          </p:nvSpPr>
          <p:spPr>
            <a:xfrm>
              <a:off x="904875" y="2847975"/>
              <a:ext cx="76200" cy="76200"/>
            </a:xfrm>
            <a:prstGeom prst="ellipse">
              <a:avLst/>
            </a:prstGeom>
            <a:solidFill>
              <a:srgbClr val="D7B46A"/>
            </a:solidFill>
            <a:ln>
              <a:noFill/>
            </a:ln>
          </p:spPr>
        </p:sp>
        <p:sp>
          <p:nvSpPr>
            <p:cNvPr id="16" name="TextBox 16"/>
            <p:cNvSpPr txBox="1"/>
            <p:nvPr/>
          </p:nvSpPr>
          <p:spPr>
            <a:xfrm>
              <a:off x="1098423" y="2815114"/>
              <a:ext cx="477269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Tên khung: “Nền tảng xử lý quang–nhiệt cục bộ bằng laser</a:t>
              </a:r>
            </a:p>
          </p:txBody>
        </p:sp>
        <p:sp>
          <p:nvSpPr>
            <p:cNvPr id="17" name="TextBox 17"/>
            <p:cNvSpPr txBox="1"/>
            <p:nvPr/>
          </p:nvSpPr>
          <p:spPr>
            <a:xfrm>
              <a:off x="1098423" y="3024664"/>
              <a:ext cx="4203175"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điều khiển PWM và kiểm chứng trên [mẫu cụ thể]”.</a:t>
              </a:r>
            </a:p>
          </p:txBody>
        </p:sp>
        <p:sp>
          <p:nvSpPr>
            <p:cNvPr id="18" name="Ellipse 18"/>
            <p:cNvSpPr/>
            <p:nvPr/>
          </p:nvSpPr>
          <p:spPr>
            <a:xfrm>
              <a:off x="904875" y="3400425"/>
              <a:ext cx="76200" cy="76200"/>
            </a:xfrm>
            <a:prstGeom prst="ellipse">
              <a:avLst/>
            </a:prstGeom>
            <a:solidFill>
              <a:srgbClr val="D7B46A"/>
            </a:solidFill>
            <a:ln>
              <a:noFill/>
            </a:ln>
          </p:spPr>
        </p:sp>
        <p:sp>
          <p:nvSpPr>
            <p:cNvPr id="19" name="TextBox 19"/>
            <p:cNvSpPr txBox="1"/>
            <p:nvPr/>
          </p:nvSpPr>
          <p:spPr>
            <a:xfrm>
              <a:off x="1098423" y="3367564"/>
              <a:ext cx="485286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1: nhận dạng/đặc trưng nguồn, bảo vệ, interlock độc</a:t>
              </a:r>
            </a:p>
          </p:txBody>
        </p:sp>
        <p:sp>
          <p:nvSpPr>
            <p:cNvPr id="20" name="TextBox 20"/>
            <p:cNvSpPr txBox="1"/>
            <p:nvPr/>
          </p:nvSpPr>
          <p:spPr>
            <a:xfrm>
              <a:off x="1098423" y="3577114"/>
              <a:ext cx="305428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lập, vùng kín và beam dump phù hợp.</a:t>
              </a:r>
            </a:p>
          </p:txBody>
        </p:sp>
        <p:sp>
          <p:nvSpPr>
            <p:cNvPr id="21" name="Ellipse 21"/>
            <p:cNvSpPr/>
            <p:nvPr/>
          </p:nvSpPr>
          <p:spPr>
            <a:xfrm>
              <a:off x="904875" y="3952875"/>
              <a:ext cx="76200" cy="76200"/>
            </a:xfrm>
            <a:prstGeom prst="ellipse">
              <a:avLst/>
            </a:prstGeom>
            <a:solidFill>
              <a:srgbClr val="D7B46A"/>
            </a:solidFill>
            <a:ln>
              <a:noFill/>
            </a:ln>
          </p:spPr>
        </p:sp>
        <p:sp>
          <p:nvSpPr>
            <p:cNvPr id="22" name="TextBox 22"/>
            <p:cNvSpPr txBox="1"/>
            <p:nvPr/>
          </p:nvSpPr>
          <p:spPr>
            <a:xfrm>
              <a:off x="1098423" y="3920014"/>
              <a:ext cx="4766911"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2: một coupon có cửa sổ xử lý và phép đo độc lập; có</a:t>
              </a:r>
            </a:p>
          </p:txBody>
        </p:sp>
        <p:sp>
          <p:nvSpPr>
            <p:cNvPr id="23" name="TextBox 23"/>
            <p:cNvSpPr txBox="1"/>
            <p:nvPr/>
          </p:nvSpPr>
          <p:spPr>
            <a:xfrm>
              <a:off x="1098423" y="4129564"/>
              <a:ext cx="874522"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đối chứng.</a:t>
              </a:r>
            </a:p>
          </p:txBody>
        </p:sp>
        <p:sp>
          <p:nvSpPr>
            <p:cNvPr id="24" name="Ellipse 24"/>
            <p:cNvSpPr/>
            <p:nvPr/>
          </p:nvSpPr>
          <p:spPr>
            <a:xfrm>
              <a:off x="904875" y="4505325"/>
              <a:ext cx="76200" cy="76200"/>
            </a:xfrm>
            <a:prstGeom prst="ellipse">
              <a:avLst/>
            </a:prstGeom>
            <a:solidFill>
              <a:srgbClr val="D7B46A"/>
            </a:solidFill>
            <a:ln>
              <a:noFill/>
            </a:ln>
          </p:spPr>
        </p:sp>
        <p:sp>
          <p:nvSpPr>
            <p:cNvPr id="25" name="TextBox 25"/>
            <p:cNvSpPr txBox="1"/>
            <p:nvPr/>
          </p:nvSpPr>
          <p:spPr>
            <a:xfrm>
              <a:off x="1098423" y="4472464"/>
              <a:ext cx="4637493"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Cổng 3: mẫu chức năng lặp lại; đánh giá hư hại, sai số và</a:t>
              </a:r>
            </a:p>
          </p:txBody>
        </p:sp>
        <p:sp>
          <p:nvSpPr>
            <p:cNvPr id="26" name="TextBox 26"/>
            <p:cNvSpPr txBox="1"/>
            <p:nvPr/>
          </p:nvSpPr>
          <p:spPr>
            <a:xfrm>
              <a:off x="1098423" y="4682014"/>
              <a:ext cx="152931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khả năng mở rộng.</a:t>
              </a:r>
            </a:p>
          </p:txBody>
        </p:sp>
      </p:grpSp>
      <p:grpSp>
        <p:nvGrpSpPr>
          <p:cNvPr id="47" name="Group 47"/>
          <p:cNvGrpSpPr/>
          <p:nvPr/>
        </p:nvGrpSpPr>
        <p:grpSpPr>
          <a:xfrm>
            <a:off x="6953250" y="2657475"/>
            <a:ext cx="4552950" cy="3190875"/>
            <a:chOff x="6953250" y="2657475"/>
            <a:chExt cx="4552950" cy="3190875"/>
          </a:xfrm>
        </p:grpSpPr>
        <p:sp>
          <p:nvSpPr>
            <p:cNvPr id="28" name="Rectangle 28"/>
            <p:cNvSpPr/>
            <p:nvPr/>
          </p:nvSpPr>
          <p:spPr>
            <a:xfrm>
              <a:off x="6953250" y="2657475"/>
              <a:ext cx="4552950" cy="3190875"/>
            </a:xfrm>
            <a:prstGeom prst="roundRect">
              <a:avLst>
                <a:gd name="adj" fmla="val 5373"/>
              </a:avLst>
            </a:prstGeom>
            <a:solidFill>
              <a:srgbClr val="0C1B2C"/>
            </a:solidFill>
            <a:ln w="9525">
              <a:solidFill>
                <a:srgbClr val="2B425A"/>
              </a:solidFill>
            </a:ln>
          </p:spPr>
        </p:sp>
        <p:sp>
          <p:nvSpPr>
            <p:cNvPr id="29" name="TextBox 29"/>
            <p:cNvSpPr txBox="1"/>
            <p:nvPr/>
          </p:nvSpPr>
          <p:spPr>
            <a:xfrm>
              <a:off x="7157847" y="2837974"/>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30" name="Ellipse 30"/>
            <p:cNvSpPr/>
            <p:nvPr/>
          </p:nvSpPr>
          <p:spPr>
            <a:xfrm>
              <a:off x="7324725" y="3848100"/>
              <a:ext cx="476250" cy="476250"/>
            </a:xfrm>
            <a:prstGeom prst="ellipse">
              <a:avLst/>
            </a:prstGeom>
            <a:solidFill>
              <a:srgbClr val="D7B46A"/>
            </a:solidFill>
            <a:ln>
              <a:noFill/>
            </a:ln>
          </p:spPr>
        </p:sp>
        <p:sp>
          <p:nvSpPr>
            <p:cNvPr id="31" name="TextBox 31"/>
            <p:cNvSpPr txBox="1"/>
            <p:nvPr/>
          </p:nvSpPr>
          <p:spPr>
            <a:xfrm>
              <a:off x="7503515" y="39976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2" name="TextBox 32"/>
            <p:cNvSpPr txBox="1"/>
            <p:nvPr/>
          </p:nvSpPr>
          <p:spPr>
            <a:xfrm>
              <a:off x="7253097" y="4552474"/>
              <a:ext cx="375818"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INPUT</a:t>
              </a:r>
            </a:p>
          </p:txBody>
        </p:sp>
        <p:sp>
          <p:nvSpPr>
            <p:cNvPr id="33" name="Line 33"/>
            <p:cNvSpPr/>
            <p:nvPr/>
          </p:nvSpPr>
          <p:spPr>
            <a:xfrm>
              <a:off x="7810500" y="40862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4" name="Ellipse 34"/>
            <p:cNvSpPr/>
            <p:nvPr/>
          </p:nvSpPr>
          <p:spPr>
            <a:xfrm>
              <a:off x="8315325" y="3848100"/>
              <a:ext cx="476250" cy="476250"/>
            </a:xfrm>
            <a:prstGeom prst="ellipse">
              <a:avLst/>
            </a:prstGeom>
            <a:solidFill>
              <a:srgbClr val="72D5D2"/>
            </a:solidFill>
            <a:ln>
              <a:noFill/>
            </a:ln>
          </p:spPr>
        </p:sp>
        <p:sp>
          <p:nvSpPr>
            <p:cNvPr id="35" name="TextBox 35"/>
            <p:cNvSpPr txBox="1"/>
            <p:nvPr/>
          </p:nvSpPr>
          <p:spPr>
            <a:xfrm>
              <a:off x="8494115" y="39976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6" name="TextBox 36"/>
            <p:cNvSpPr txBox="1"/>
            <p:nvPr/>
          </p:nvSpPr>
          <p:spPr>
            <a:xfrm>
              <a:off x="8243697" y="4552474"/>
              <a:ext cx="522183"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SAMPLE</a:t>
              </a:r>
            </a:p>
          </p:txBody>
        </p:sp>
        <p:sp>
          <p:nvSpPr>
            <p:cNvPr id="37" name="Line 37"/>
            <p:cNvSpPr/>
            <p:nvPr/>
          </p:nvSpPr>
          <p:spPr>
            <a:xfrm>
              <a:off x="8801100" y="40862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38" name="Ellipse 38"/>
            <p:cNvSpPr/>
            <p:nvPr/>
          </p:nvSpPr>
          <p:spPr>
            <a:xfrm>
              <a:off x="9305925" y="3848100"/>
              <a:ext cx="476250" cy="476250"/>
            </a:xfrm>
            <a:prstGeom prst="ellipse">
              <a:avLst/>
            </a:prstGeom>
            <a:solidFill>
              <a:srgbClr val="D7B46A"/>
            </a:solidFill>
            <a:ln>
              <a:noFill/>
            </a:ln>
          </p:spPr>
        </p:sp>
        <p:sp>
          <p:nvSpPr>
            <p:cNvPr id="39" name="TextBox 39"/>
            <p:cNvSpPr txBox="1"/>
            <p:nvPr/>
          </p:nvSpPr>
          <p:spPr>
            <a:xfrm>
              <a:off x="9484715" y="39976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40" name="TextBox 40"/>
            <p:cNvSpPr txBox="1"/>
            <p:nvPr/>
          </p:nvSpPr>
          <p:spPr>
            <a:xfrm>
              <a:off x="9234297" y="4552474"/>
              <a:ext cx="602684"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MEASURE</a:t>
              </a:r>
            </a:p>
          </p:txBody>
        </p:sp>
        <p:sp>
          <p:nvSpPr>
            <p:cNvPr id="41" name="Line 41"/>
            <p:cNvSpPr/>
            <p:nvPr/>
          </p:nvSpPr>
          <p:spPr>
            <a:xfrm>
              <a:off x="9791700" y="4086225"/>
              <a:ext cx="361950" cy="9525"/>
            </a:xfrm>
            <a:custGeom>
              <a:avLst/>
              <a:gdLst/>
              <a:ahLst/>
              <a:cxnLst/>
              <a:rect l="l" t="t" r="r" b="b"/>
              <a:pathLst>
                <a:path w="361950" h="9525">
                  <a:moveTo>
                    <a:pt x="0" y="0"/>
                  </a:moveTo>
                  <a:lnTo>
                    <a:pt x="361950" y="0"/>
                  </a:lnTo>
                </a:path>
              </a:pathLst>
            </a:custGeom>
            <a:noFill/>
            <a:ln w="19050">
              <a:solidFill>
                <a:srgbClr val="2B425A"/>
              </a:solidFill>
            </a:ln>
          </p:spPr>
        </p:sp>
        <p:sp>
          <p:nvSpPr>
            <p:cNvPr id="42" name="Ellipse 42"/>
            <p:cNvSpPr/>
            <p:nvPr/>
          </p:nvSpPr>
          <p:spPr>
            <a:xfrm>
              <a:off x="10296525" y="3848100"/>
              <a:ext cx="476250" cy="476250"/>
            </a:xfrm>
            <a:prstGeom prst="ellipse">
              <a:avLst/>
            </a:prstGeom>
            <a:solidFill>
              <a:srgbClr val="D78678"/>
            </a:solidFill>
            <a:ln>
              <a:noFill/>
            </a:ln>
          </p:spPr>
        </p:sp>
        <p:sp>
          <p:nvSpPr>
            <p:cNvPr id="43" name="TextBox 43"/>
            <p:cNvSpPr txBox="1"/>
            <p:nvPr/>
          </p:nvSpPr>
          <p:spPr>
            <a:xfrm>
              <a:off x="10475315" y="3997642"/>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4</a:t>
              </a:r>
            </a:p>
          </p:txBody>
        </p:sp>
        <p:sp>
          <p:nvSpPr>
            <p:cNvPr id="44" name="TextBox 44"/>
            <p:cNvSpPr txBox="1"/>
            <p:nvPr/>
          </p:nvSpPr>
          <p:spPr>
            <a:xfrm>
              <a:off x="10224897" y="4552474"/>
              <a:ext cx="33190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8678"/>
                  </a:solidFill>
                  <a:effectLst/>
                  <a:uLnTx/>
                  <a:uFillTx/>
                  <a:latin typeface="Be Vietnam Pro"/>
                  <a:ea typeface="Be Vietnam Pro"/>
                  <a:cs typeface="Be Vietnam Pro"/>
                </a:rPr>
                <a:t>GATE</a:t>
              </a:r>
            </a:p>
          </p:txBody>
        </p:sp>
        <p:sp>
          <p:nvSpPr>
            <p:cNvPr id="45" name="Rectangle 45"/>
            <p:cNvSpPr/>
            <p:nvPr/>
          </p:nvSpPr>
          <p:spPr>
            <a:xfrm>
              <a:off x="7381875" y="5057775"/>
              <a:ext cx="3695700" cy="400050"/>
            </a:xfrm>
            <a:prstGeom prst="roundRect">
              <a:avLst>
                <a:gd name="adj" fmla="val 23810"/>
              </a:avLst>
            </a:prstGeom>
            <a:solidFill>
              <a:srgbClr val="10243A"/>
            </a:solidFill>
            <a:ln w="9525">
              <a:solidFill>
                <a:srgbClr val="2B425A"/>
              </a:solidFill>
            </a:ln>
          </p:spPr>
        </p:sp>
        <p:sp>
          <p:nvSpPr>
            <p:cNvPr id="46" name="TextBox 46"/>
            <p:cNvSpPr txBox="1"/>
            <p:nvPr/>
          </p:nvSpPr>
          <p:spPr>
            <a:xfrm>
              <a:off x="8350080" y="5175885"/>
              <a:ext cx="1759290" cy="234696"/>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F0E8"/>
                  </a:solidFill>
                  <a:effectLst/>
                  <a:uLnTx/>
                  <a:uFillTx/>
                  <a:latin typeface="Be Vietnam Pro"/>
                  <a:ea typeface="Be Vietnam Pro"/>
                  <a:cs typeface="Be Vietnam Pro"/>
                </a:rPr>
                <a:t>qua cổng / sửa / dừng</a:t>
              </a:r>
            </a:p>
          </p:txBody>
        </p:sp>
      </p:grpSp>
      <p:grpSp>
        <p:nvGrpSpPr>
          <p:cNvPr id="50" name="Group 50"/>
          <p:cNvGrpSpPr/>
          <p:nvPr/>
        </p:nvGrpSpPr>
        <p:grpSpPr>
          <a:xfrm>
            <a:off x="685800" y="6343650"/>
            <a:ext cx="10825353" cy="314039"/>
            <a:chOff x="685800" y="6343650"/>
            <a:chExt cx="10825353" cy="314039"/>
          </a:xfrm>
        </p:grpSpPr>
        <p:sp>
          <p:nvSpPr>
            <p:cNvPr id="48" name="Line 48"/>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9" name="TextBox 49"/>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P132</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a:xfrm>
          <a:off x="0" y="0"/>
          <a:ext cx="0" cy="0"/>
          <a:chOff x="0" y="0"/>
          <a:chExt cx="0" cy="0"/>
        </a:xfrm>
      </p:grpSpPr>
      <p:grpSp>
        <p:nvGrpSpPr>
          <p:cNvPr id="5" name="Group 5"/>
          <p:cNvGrpSpPr/>
          <p:nvPr/>
        </p:nvGrpSpPr>
        <p:grpSpPr>
          <a:xfrm>
            <a:off x="680466" y="286702"/>
            <a:ext cx="10831068" cy="275273"/>
            <a:chOff x="680466" y="286702"/>
            <a:chExt cx="10831068" cy="275273"/>
          </a:xfrm>
        </p:grpSpPr>
        <p:sp>
          <p:nvSpPr>
            <p:cNvPr id="2" name="TextBox 2"/>
            <p:cNvSpPr txBox="1"/>
            <p:nvPr/>
          </p:nvSpPr>
          <p:spPr>
            <a:xfrm>
              <a:off x="680466" y="286702"/>
              <a:ext cx="2705263"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58" normalizeH="0" baseline="0" noProof="0" dirty="0">
                  <a:ln>
                    <a:noFill/>
                  </a:ln>
                  <a:solidFill>
                    <a:srgbClr val="A8B5C3"/>
                  </a:solidFill>
                  <a:effectLst/>
                  <a:uLnTx/>
                  <a:uFillTx/>
                  <a:latin typeface="Be Vietnam Pro"/>
                  <a:ea typeface="Be Vietnam Pro"/>
                  <a:cs typeface="Be Vietnam Pro"/>
                </a:rPr>
                <a:t>LASER PWM · BÁN DẪN &amp; MEMS</a:t>
              </a:r>
            </a:p>
          </p:txBody>
        </p:sp>
        <p:sp>
          <p:nvSpPr>
            <p:cNvPr id="3" name="Line 3"/>
            <p:cNvSpPr/>
            <p:nvPr/>
          </p:nvSpPr>
          <p:spPr>
            <a:xfrm>
              <a:off x="685800" y="5524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 name="TextBox 4"/>
            <p:cNvSpPr txBox="1"/>
            <p:nvPr/>
          </p:nvSpPr>
          <p:spPr>
            <a:xfrm>
              <a:off x="10759631" y="286702"/>
              <a:ext cx="751903" cy="205359"/>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75" normalizeH="0" baseline="0" noProof="0" dirty="0">
                  <a:ln>
                    <a:noFill/>
                  </a:ln>
                  <a:solidFill>
                    <a:srgbClr val="D7B46A"/>
                  </a:solidFill>
                  <a:effectLst/>
                  <a:uLnTx/>
                  <a:uFillTx/>
                  <a:latin typeface="Be Vietnam Pro"/>
                  <a:ea typeface="Be Vietnam Pro"/>
                  <a:cs typeface="Be Vietnam Pro"/>
                </a:rPr>
                <a:t>133 / 133</a:t>
              </a:r>
            </a:p>
          </p:txBody>
        </p:sp>
      </p:grpSp>
      <p:grpSp>
        <p:nvGrpSpPr>
          <p:cNvPr id="13" name="Group 13"/>
          <p:cNvGrpSpPr/>
          <p:nvPr/>
        </p:nvGrpSpPr>
        <p:grpSpPr>
          <a:xfrm>
            <a:off x="671322" y="734378"/>
            <a:ext cx="10834878" cy="1751647"/>
            <a:chOff x="671322" y="734378"/>
            <a:chExt cx="10834878" cy="1751647"/>
          </a:xfrm>
        </p:grpSpPr>
        <p:sp>
          <p:nvSpPr>
            <p:cNvPr id="6" name="TextBox 6"/>
            <p:cNvSpPr txBox="1"/>
            <p:nvPr/>
          </p:nvSpPr>
          <p:spPr>
            <a:xfrm>
              <a:off x="680466" y="734378"/>
              <a:ext cx="781075" cy="205359"/>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128" normalizeH="0" baseline="0" noProof="0" dirty="0">
                  <a:ln>
                    <a:noFill/>
                  </a:ln>
                  <a:solidFill>
                    <a:srgbClr val="D7B46A"/>
                  </a:solidFill>
                  <a:effectLst/>
                  <a:uLnTx/>
                  <a:uFillTx/>
                  <a:latin typeface="Be Vietnam Pro"/>
                  <a:ea typeface="Be Vietnam Pro"/>
                  <a:cs typeface="Be Vietnam Pro"/>
                </a:rPr>
                <a:t>DECISION</a:t>
              </a:r>
            </a:p>
          </p:txBody>
        </p:sp>
        <p:sp>
          <p:nvSpPr>
            <p:cNvPr id="7" name="TextBox 7"/>
            <p:cNvSpPr txBox="1"/>
            <p:nvPr/>
          </p:nvSpPr>
          <p:spPr>
            <a:xfrm>
              <a:off x="671322" y="930592"/>
              <a:ext cx="7764769"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Slide cuối — Khóa thiết kế: các yếu tố</a:t>
              </a:r>
            </a:p>
          </p:txBody>
        </p:sp>
        <p:sp>
          <p:nvSpPr>
            <p:cNvPr id="8" name="TextBox 8"/>
            <p:cNvSpPr txBox="1"/>
            <p:nvPr/>
          </p:nvSpPr>
          <p:spPr>
            <a:xfrm>
              <a:off x="671322" y="1340168"/>
              <a:ext cx="2859550" cy="55740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50" b="1" i="0" u="none" strike="noStrike" kern="1200" cap="none" spc="0" normalizeH="0" baseline="0" noProof="0" dirty="0">
                  <a:ln>
                    <a:noFill/>
                  </a:ln>
                  <a:solidFill>
                    <a:srgbClr val="F4F0E8"/>
                  </a:solidFill>
                  <a:effectLst/>
                  <a:uLnTx/>
                  <a:uFillTx/>
                  <a:latin typeface="Noto Serif Display"/>
                  <a:ea typeface="Noto Serif Display"/>
                  <a:cs typeface="Noto Serif Display"/>
                </a:rPr>
                <a:t>chưa xác nhận</a:t>
              </a:r>
            </a:p>
          </p:txBody>
        </p:sp>
        <p:sp>
          <p:nvSpPr>
            <p:cNvPr id="9" name="Rectangle 9"/>
            <p:cNvSpPr/>
            <p:nvPr/>
          </p:nvSpPr>
          <p:spPr>
            <a:xfrm>
              <a:off x="685800" y="1847850"/>
              <a:ext cx="10820400" cy="638175"/>
            </a:xfrm>
            <a:prstGeom prst="roundRect">
              <a:avLst>
                <a:gd name="adj" fmla="val 17910"/>
              </a:avLst>
            </a:prstGeom>
            <a:solidFill>
              <a:srgbClr val="D7B46A">
                <a:alpha val="11000"/>
              </a:srgbClr>
            </a:solidFill>
            <a:ln>
              <a:noFill/>
            </a:ln>
          </p:spPr>
        </p:sp>
        <p:sp>
          <p:nvSpPr>
            <p:cNvPr id="10" name="Rectangle 10"/>
            <p:cNvSpPr/>
            <p:nvPr/>
          </p:nvSpPr>
          <p:spPr>
            <a:xfrm>
              <a:off x="685800" y="1847850"/>
              <a:ext cx="38100" cy="638175"/>
            </a:xfrm>
            <a:prstGeom prst="roundRect">
              <a:avLst>
                <a:gd name="adj" fmla="val 50000"/>
              </a:avLst>
            </a:prstGeom>
            <a:solidFill>
              <a:srgbClr val="D7B46A"/>
            </a:solidFill>
            <a:ln>
              <a:noFill/>
            </a:ln>
          </p:spPr>
        </p:sp>
        <p:sp>
          <p:nvSpPr>
            <p:cNvPr id="11" name="TextBox 11"/>
            <p:cNvSpPr txBox="1"/>
            <p:nvPr/>
          </p:nvSpPr>
          <p:spPr>
            <a:xfrm>
              <a:off x="907542" y="1959292"/>
              <a:ext cx="8082835"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Không mặc định bất kỳ trị số quang nào; tập trung các câu hỏi phải khóa trước khi chạy</a:t>
              </a:r>
            </a:p>
          </p:txBody>
        </p:sp>
        <p:sp>
          <p:nvSpPr>
            <p:cNvPr id="12" name="TextBox 12"/>
            <p:cNvSpPr txBox="1"/>
            <p:nvPr/>
          </p:nvSpPr>
          <p:spPr>
            <a:xfrm>
              <a:off x="907542" y="2187892"/>
              <a:ext cx="471693" cy="264033"/>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4F0E8"/>
                  </a:solidFill>
                  <a:effectLst/>
                  <a:uLnTx/>
                  <a:uFillTx/>
                  <a:latin typeface="Be Vietnam Pro"/>
                  <a:ea typeface="Be Vietnam Pro"/>
                  <a:cs typeface="Be Vietnam Pro"/>
                </a:rPr>
                <a:t>mẫu.</a:t>
              </a:r>
            </a:p>
          </p:txBody>
        </p:sp>
      </p:grpSp>
      <p:grpSp>
        <p:nvGrpSpPr>
          <p:cNvPr id="28" name="Group 28"/>
          <p:cNvGrpSpPr/>
          <p:nvPr/>
        </p:nvGrpSpPr>
        <p:grpSpPr>
          <a:xfrm>
            <a:off x="685800" y="2857500"/>
            <a:ext cx="5905500" cy="3190875"/>
            <a:chOff x="685800" y="2857500"/>
            <a:chExt cx="5905500" cy="3190875"/>
          </a:xfrm>
        </p:grpSpPr>
        <p:sp>
          <p:nvSpPr>
            <p:cNvPr id="14" name="Rectangle 14"/>
            <p:cNvSpPr/>
            <p:nvPr/>
          </p:nvSpPr>
          <p:spPr>
            <a:xfrm>
              <a:off x="685800" y="2857500"/>
              <a:ext cx="5905500" cy="3190875"/>
            </a:xfrm>
            <a:prstGeom prst="roundRect">
              <a:avLst>
                <a:gd name="adj" fmla="val 5373"/>
              </a:avLst>
            </a:prstGeom>
            <a:solidFill>
              <a:srgbClr val="10243A"/>
            </a:solidFill>
            <a:ln w="9525">
              <a:solidFill>
                <a:srgbClr val="2B425A"/>
              </a:solidFill>
            </a:ln>
          </p:spPr>
        </p:sp>
        <p:sp>
          <p:nvSpPr>
            <p:cNvPr id="15" name="Rectangle 15"/>
            <p:cNvSpPr/>
            <p:nvPr/>
          </p:nvSpPr>
          <p:spPr>
            <a:xfrm>
              <a:off x="685800" y="2857500"/>
              <a:ext cx="47625" cy="3190875"/>
            </a:xfrm>
            <a:prstGeom prst="roundRect">
              <a:avLst>
                <a:gd name="adj" fmla="val 40000"/>
              </a:avLst>
            </a:prstGeom>
            <a:solidFill>
              <a:srgbClr val="D7B46A"/>
            </a:solidFill>
            <a:ln>
              <a:noFill/>
            </a:ln>
          </p:spPr>
        </p:sp>
        <p:sp>
          <p:nvSpPr>
            <p:cNvPr id="16" name="Ellipse 16"/>
            <p:cNvSpPr/>
            <p:nvPr/>
          </p:nvSpPr>
          <p:spPr>
            <a:xfrm>
              <a:off x="904875" y="3048000"/>
              <a:ext cx="76200" cy="76200"/>
            </a:xfrm>
            <a:prstGeom prst="ellipse">
              <a:avLst/>
            </a:prstGeom>
            <a:solidFill>
              <a:srgbClr val="D7B46A"/>
            </a:solidFill>
            <a:ln>
              <a:noFill/>
            </a:ln>
          </p:spPr>
        </p:sp>
        <p:sp>
          <p:nvSpPr>
            <p:cNvPr id="17" name="TextBox 17"/>
            <p:cNvSpPr txBox="1"/>
            <p:nvPr/>
          </p:nvSpPr>
          <p:spPr>
            <a:xfrm>
              <a:off x="1098423" y="3015139"/>
              <a:ext cx="468894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l-GR" sz="1280" b="0" i="0" u="none" strike="noStrike" kern="1200" cap="none" spc="0" normalizeH="0" baseline="0" noProof="0" dirty="0">
                  <a:ln>
                    <a:noFill/>
                  </a:ln>
                  <a:solidFill>
                    <a:srgbClr val="F4F0E8"/>
                  </a:solidFill>
                  <a:effectLst/>
                  <a:uLnTx/>
                  <a:uFillTx/>
                  <a:latin typeface="Be Vietnam Pro"/>
                  <a:ea typeface="Be Vietnam Pro"/>
                  <a:cs typeface="Be Vietnam Pro"/>
                </a:rPr>
                <a:t>Nhận dạng/phổ: model module/driver, kiến trúc laser, λ</a:t>
              </a:r>
            </a:p>
          </p:txBody>
        </p:sp>
        <p:sp>
          <p:nvSpPr>
            <p:cNvPr id="18" name="TextBox 18"/>
            <p:cNvSpPr txBox="1"/>
            <p:nvPr/>
          </p:nvSpPr>
          <p:spPr>
            <a:xfrm>
              <a:off x="1098423" y="3224689"/>
              <a:ext cx="319214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trung tâm, bandwidth và ổn định phổ.</a:t>
              </a:r>
            </a:p>
          </p:txBody>
        </p:sp>
        <p:sp>
          <p:nvSpPr>
            <p:cNvPr id="19" name="Ellipse 19"/>
            <p:cNvSpPr/>
            <p:nvPr/>
          </p:nvSpPr>
          <p:spPr>
            <a:xfrm>
              <a:off x="904875" y="3600450"/>
              <a:ext cx="76200" cy="76200"/>
            </a:xfrm>
            <a:prstGeom prst="ellipse">
              <a:avLst/>
            </a:prstGeom>
            <a:solidFill>
              <a:srgbClr val="D7B46A"/>
            </a:solidFill>
            <a:ln>
              <a:noFill/>
            </a:ln>
          </p:spPr>
        </p:sp>
        <p:sp>
          <p:nvSpPr>
            <p:cNvPr id="20" name="TextBox 20"/>
            <p:cNvSpPr txBox="1"/>
            <p:nvPr/>
          </p:nvSpPr>
          <p:spPr>
            <a:xfrm>
              <a:off x="1098423" y="3567589"/>
              <a:ext cx="4900408"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Công suất: P_on, P_avg, P_sample, công suất tại mẫu và ý</a:t>
              </a:r>
            </a:p>
          </p:txBody>
        </p:sp>
        <p:sp>
          <p:nvSpPr>
            <p:cNvPr id="21" name="TextBox 21"/>
            <p:cNvSpPr txBox="1"/>
            <p:nvPr/>
          </p:nvSpPr>
          <p:spPr>
            <a:xfrm>
              <a:off x="1098423" y="3777139"/>
              <a:ext cx="3157677"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nghĩa con số danh nghĩa trên module.</a:t>
              </a:r>
            </a:p>
          </p:txBody>
        </p:sp>
        <p:sp>
          <p:nvSpPr>
            <p:cNvPr id="22" name="Ellipse 22"/>
            <p:cNvSpPr/>
            <p:nvPr/>
          </p:nvSpPr>
          <p:spPr>
            <a:xfrm>
              <a:off x="904875" y="4152900"/>
              <a:ext cx="76200" cy="76200"/>
            </a:xfrm>
            <a:prstGeom prst="ellipse">
              <a:avLst/>
            </a:prstGeom>
            <a:solidFill>
              <a:srgbClr val="D7B46A"/>
            </a:solidFill>
            <a:ln>
              <a:noFill/>
            </a:ln>
          </p:spPr>
        </p:sp>
        <p:sp>
          <p:nvSpPr>
            <p:cNvPr id="23" name="TextBox 23"/>
            <p:cNvSpPr txBox="1"/>
            <p:nvPr/>
          </p:nvSpPr>
          <p:spPr>
            <a:xfrm>
              <a:off x="1098423" y="4120039"/>
              <a:ext cx="4771204"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PWM/thời gian: tần số, duty, waveform quang, rise/fall</a:t>
              </a:r>
            </a:p>
          </p:txBody>
        </p:sp>
        <p:sp>
          <p:nvSpPr>
            <p:cNvPr id="24" name="TextBox 24"/>
            <p:cNvSpPr txBox="1"/>
            <p:nvPr/>
          </p:nvSpPr>
          <p:spPr>
            <a:xfrm>
              <a:off x="1098423" y="4329589"/>
              <a:ext cx="1977329"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time và giới hạn driver.</a:t>
              </a:r>
            </a:p>
          </p:txBody>
        </p:sp>
        <p:sp>
          <p:nvSpPr>
            <p:cNvPr id="25" name="Ellipse 25"/>
            <p:cNvSpPr/>
            <p:nvPr/>
          </p:nvSpPr>
          <p:spPr>
            <a:xfrm>
              <a:off x="904875" y="4705350"/>
              <a:ext cx="76200" cy="76200"/>
            </a:xfrm>
            <a:prstGeom prst="ellipse">
              <a:avLst/>
            </a:prstGeom>
            <a:solidFill>
              <a:srgbClr val="D7B46A"/>
            </a:solidFill>
            <a:ln>
              <a:noFill/>
            </a:ln>
          </p:spPr>
        </p:sp>
        <p:sp>
          <p:nvSpPr>
            <p:cNvPr id="26" name="TextBox 26"/>
            <p:cNvSpPr txBox="1"/>
            <p:nvPr/>
          </p:nvSpPr>
          <p:spPr>
            <a:xfrm>
              <a:off x="1098423" y="4672489"/>
              <a:ext cx="4675100"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Không gian: spot, độ đồng đều, BPP, vị trí trên mẫu và</a:t>
              </a:r>
            </a:p>
          </p:txBody>
        </p:sp>
        <p:sp>
          <p:nvSpPr>
            <p:cNvPr id="27" name="TextBox 27"/>
            <p:cNvSpPr txBox="1"/>
            <p:nvPr/>
          </p:nvSpPr>
          <p:spPr>
            <a:xfrm>
              <a:off x="1098423" y="4882039"/>
              <a:ext cx="2063486" cy="249364"/>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80" b="0" i="0" u="none" strike="noStrike" kern="1200" cap="none" spc="0" normalizeH="0" baseline="0" noProof="0" dirty="0">
                  <a:ln>
                    <a:noFill/>
                  </a:ln>
                  <a:solidFill>
                    <a:srgbClr val="F4F0E8"/>
                  </a:solidFill>
                  <a:effectLst/>
                  <a:uLnTx/>
                  <a:uFillTx/>
                  <a:latin typeface="Be Vietnam Pro"/>
                  <a:ea typeface="Be Vietnam Pro"/>
                  <a:cs typeface="Be Vietnam Pro"/>
                </a:rPr>
                <a:t>quan hệ với stage 10 µm.</a:t>
              </a:r>
            </a:p>
          </p:txBody>
        </p:sp>
      </p:grpSp>
      <p:grpSp>
        <p:nvGrpSpPr>
          <p:cNvPr id="43" name="Group 43"/>
          <p:cNvGrpSpPr/>
          <p:nvPr/>
        </p:nvGrpSpPr>
        <p:grpSpPr>
          <a:xfrm>
            <a:off x="6953250" y="2857500"/>
            <a:ext cx="4552950" cy="3190875"/>
            <a:chOff x="6953250" y="2857500"/>
            <a:chExt cx="4552950" cy="3190875"/>
          </a:xfrm>
        </p:grpSpPr>
        <p:sp>
          <p:nvSpPr>
            <p:cNvPr id="29" name="Rectangle 29"/>
            <p:cNvSpPr/>
            <p:nvPr/>
          </p:nvSpPr>
          <p:spPr>
            <a:xfrm>
              <a:off x="6953250" y="2857500"/>
              <a:ext cx="4552950" cy="3190875"/>
            </a:xfrm>
            <a:prstGeom prst="roundRect">
              <a:avLst>
                <a:gd name="adj" fmla="val 5373"/>
              </a:avLst>
            </a:prstGeom>
            <a:solidFill>
              <a:srgbClr val="0C1B2C"/>
            </a:solidFill>
            <a:ln w="9525">
              <a:solidFill>
                <a:srgbClr val="2B425A"/>
              </a:solidFill>
            </a:ln>
          </p:spPr>
        </p:sp>
        <p:sp>
          <p:nvSpPr>
            <p:cNvPr id="30" name="TextBox 30"/>
            <p:cNvSpPr txBox="1"/>
            <p:nvPr/>
          </p:nvSpPr>
          <p:spPr>
            <a:xfrm>
              <a:off x="7157847" y="3037999"/>
              <a:ext cx="1226926"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112" normalizeH="0" baseline="0" noProof="0" dirty="0">
                  <a:ln>
                    <a:noFill/>
                  </a:ln>
                  <a:solidFill>
                    <a:srgbClr val="D7B46A"/>
                  </a:solidFill>
                  <a:effectLst/>
                  <a:uLnTx/>
                  <a:uFillTx/>
                  <a:latin typeface="Be Vietnam Pro"/>
                  <a:ea typeface="Be Vietnam Pro"/>
                  <a:cs typeface="Be Vietnam Pro"/>
                </a:rPr>
                <a:t>HÌNH KHÁI NIỆM</a:t>
              </a:r>
            </a:p>
          </p:txBody>
        </p:sp>
        <p:sp>
          <p:nvSpPr>
            <p:cNvPr id="31" name="Ellipse 31"/>
            <p:cNvSpPr/>
            <p:nvPr/>
          </p:nvSpPr>
          <p:spPr>
            <a:xfrm>
              <a:off x="7324725" y="4010025"/>
              <a:ext cx="476250" cy="476250"/>
            </a:xfrm>
            <a:prstGeom prst="ellipse">
              <a:avLst/>
            </a:prstGeom>
            <a:solidFill>
              <a:srgbClr val="D7B46A"/>
            </a:solidFill>
            <a:ln>
              <a:noFill/>
            </a:ln>
          </p:spPr>
        </p:sp>
        <p:sp>
          <p:nvSpPr>
            <p:cNvPr id="32" name="TextBox 32"/>
            <p:cNvSpPr txBox="1"/>
            <p:nvPr/>
          </p:nvSpPr>
          <p:spPr>
            <a:xfrm>
              <a:off x="75035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1</a:t>
              </a:r>
            </a:p>
          </p:txBody>
        </p:sp>
        <p:sp>
          <p:nvSpPr>
            <p:cNvPr id="33" name="TextBox 33"/>
            <p:cNvSpPr txBox="1"/>
            <p:nvPr/>
          </p:nvSpPr>
          <p:spPr>
            <a:xfrm>
              <a:off x="7291197" y="4704874"/>
              <a:ext cx="412410"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LASER</a:t>
              </a:r>
            </a:p>
          </p:txBody>
        </p:sp>
        <p:sp>
          <p:nvSpPr>
            <p:cNvPr id="34" name="Line 34"/>
            <p:cNvSpPr/>
            <p:nvPr/>
          </p:nvSpPr>
          <p:spPr>
            <a:xfrm>
              <a:off x="78105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5" name="Ellipse 35"/>
            <p:cNvSpPr/>
            <p:nvPr/>
          </p:nvSpPr>
          <p:spPr>
            <a:xfrm>
              <a:off x="8582025" y="4010025"/>
              <a:ext cx="476250" cy="476250"/>
            </a:xfrm>
            <a:prstGeom prst="ellipse">
              <a:avLst/>
            </a:prstGeom>
            <a:solidFill>
              <a:srgbClr val="72D5D2"/>
            </a:solidFill>
            <a:ln>
              <a:noFill/>
            </a:ln>
          </p:spPr>
        </p:sp>
        <p:sp>
          <p:nvSpPr>
            <p:cNvPr id="36" name="TextBox 36"/>
            <p:cNvSpPr txBox="1"/>
            <p:nvPr/>
          </p:nvSpPr>
          <p:spPr>
            <a:xfrm>
              <a:off x="87608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2</a:t>
              </a:r>
            </a:p>
          </p:txBody>
        </p:sp>
        <p:sp>
          <p:nvSpPr>
            <p:cNvPr id="37" name="TextBox 37"/>
            <p:cNvSpPr txBox="1"/>
            <p:nvPr/>
          </p:nvSpPr>
          <p:spPr>
            <a:xfrm>
              <a:off x="8548497" y="4704874"/>
              <a:ext cx="580729"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72D5D2"/>
                  </a:solidFill>
                  <a:effectLst/>
                  <a:uLnTx/>
                  <a:uFillTx/>
                  <a:latin typeface="Be Vietnam Pro"/>
                  <a:ea typeface="Be Vietnam Pro"/>
                  <a:cs typeface="Be Vietnam Pro"/>
                </a:rPr>
                <a:t>VẬT LIỆU</a:t>
              </a:r>
            </a:p>
          </p:txBody>
        </p:sp>
        <p:sp>
          <p:nvSpPr>
            <p:cNvPr id="38" name="Line 38"/>
            <p:cNvSpPr/>
            <p:nvPr/>
          </p:nvSpPr>
          <p:spPr>
            <a:xfrm>
              <a:off x="9067800" y="4248150"/>
              <a:ext cx="590550" cy="9525"/>
            </a:xfrm>
            <a:custGeom>
              <a:avLst/>
              <a:gdLst/>
              <a:ahLst/>
              <a:cxnLst/>
              <a:rect l="l" t="t" r="r" b="b"/>
              <a:pathLst>
                <a:path w="590550" h="9525">
                  <a:moveTo>
                    <a:pt x="0" y="0"/>
                  </a:moveTo>
                  <a:lnTo>
                    <a:pt x="590550" y="0"/>
                  </a:lnTo>
                </a:path>
              </a:pathLst>
            </a:custGeom>
            <a:noFill/>
            <a:ln w="19050">
              <a:solidFill>
                <a:srgbClr val="2B425A"/>
              </a:solidFill>
            </a:ln>
          </p:spPr>
        </p:sp>
        <p:sp>
          <p:nvSpPr>
            <p:cNvPr id="39" name="Ellipse 39"/>
            <p:cNvSpPr/>
            <p:nvPr/>
          </p:nvSpPr>
          <p:spPr>
            <a:xfrm>
              <a:off x="9839325" y="4010025"/>
              <a:ext cx="476250" cy="476250"/>
            </a:xfrm>
            <a:prstGeom prst="ellipse">
              <a:avLst/>
            </a:prstGeom>
            <a:solidFill>
              <a:srgbClr val="D7B46A"/>
            </a:solidFill>
            <a:ln>
              <a:noFill/>
            </a:ln>
          </p:spPr>
        </p:sp>
        <p:sp>
          <p:nvSpPr>
            <p:cNvPr id="40" name="TextBox 40"/>
            <p:cNvSpPr txBox="1"/>
            <p:nvPr/>
          </p:nvSpPr>
          <p:spPr>
            <a:xfrm>
              <a:off x="10018115" y="4159568"/>
              <a:ext cx="118669" cy="264033"/>
            </a:xfrm>
            <a:prstGeom prst="rect">
              <a:avLst/>
            </a:prstGeom>
            <a:noFill/>
            <a:ln>
              <a:noFill/>
            </a:ln>
          </p:spPr>
          <p:txBody>
            <a:bodyPr wrap="none" lIns="0" tIns="0" rIns="0" bIns="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07111F"/>
                  </a:solidFill>
                  <a:effectLst/>
                  <a:uLnTx/>
                  <a:uFillTx/>
                  <a:latin typeface="Be Vietnam Pro"/>
                  <a:ea typeface="Be Vietnam Pro"/>
                  <a:cs typeface="Be Vietnam Pro"/>
                </a:rPr>
                <a:t>3</a:t>
              </a:r>
            </a:p>
          </p:txBody>
        </p:sp>
        <p:sp>
          <p:nvSpPr>
            <p:cNvPr id="41" name="TextBox 41"/>
            <p:cNvSpPr txBox="1"/>
            <p:nvPr/>
          </p:nvSpPr>
          <p:spPr>
            <a:xfrm>
              <a:off x="9805797" y="4704874"/>
              <a:ext cx="1114961" cy="190690"/>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NHIỆT / TÍN HIỆU</a:t>
              </a:r>
            </a:p>
          </p:txBody>
        </p:sp>
        <p:sp>
          <p:nvSpPr>
            <p:cNvPr id="42" name="TextBox 42"/>
            <p:cNvSpPr txBox="1"/>
            <p:nvPr/>
          </p:nvSpPr>
          <p:spPr>
            <a:xfrm>
              <a:off x="7290054" y="5299710"/>
              <a:ext cx="2354580" cy="234696"/>
            </a:xfrm>
            <a:prstGeom prst="rect">
              <a:avLst/>
            </a:prstGeom>
            <a:noFill/>
            <a:ln>
              <a:noFill/>
            </a:ln>
          </p:spPr>
          <p:txBody>
            <a:bodyPr wrap="none" lIns="0" tIns="0" rIns="0" bIns="0" anchor="t" anchorCtr="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A8B5C3"/>
                  </a:solidFill>
                  <a:effectLst/>
                  <a:uLnTx/>
                  <a:uFillTx/>
                  <a:latin typeface="Be Vietnam Pro"/>
                  <a:ea typeface="Be Vietnam Pro"/>
                  <a:cs typeface="Be Vietnam Pro"/>
                </a:rPr>
                <a:t>cơ chế / chuyển giao / đo được</a:t>
              </a:r>
            </a:p>
          </p:txBody>
        </p:sp>
      </p:grpSp>
      <p:grpSp>
        <p:nvGrpSpPr>
          <p:cNvPr id="46" name="Group 46"/>
          <p:cNvGrpSpPr/>
          <p:nvPr/>
        </p:nvGrpSpPr>
        <p:grpSpPr>
          <a:xfrm>
            <a:off x="685800" y="6343650"/>
            <a:ext cx="10825353" cy="314039"/>
            <a:chOff x="685800" y="6343650"/>
            <a:chExt cx="10825353" cy="314039"/>
          </a:xfrm>
        </p:grpSpPr>
        <p:sp>
          <p:nvSpPr>
            <p:cNvPr id="44" name="Line 44"/>
            <p:cNvSpPr/>
            <p:nvPr/>
          </p:nvSpPr>
          <p:spPr>
            <a:xfrm>
              <a:off x="685800" y="6343650"/>
              <a:ext cx="10820400" cy="9525"/>
            </a:xfrm>
            <a:custGeom>
              <a:avLst/>
              <a:gdLst/>
              <a:ahLst/>
              <a:cxnLst/>
              <a:rect l="l" t="t" r="r" b="b"/>
              <a:pathLst>
                <a:path w="10820400" h="9525">
                  <a:moveTo>
                    <a:pt x="0" y="0"/>
                  </a:moveTo>
                  <a:lnTo>
                    <a:pt x="10820400" y="0"/>
                  </a:lnTo>
                </a:path>
              </a:pathLst>
            </a:custGeom>
            <a:noFill/>
            <a:ln w="9525">
              <a:solidFill>
                <a:srgbClr val="2B425A"/>
              </a:solidFill>
            </a:ln>
          </p:spPr>
        </p:sp>
        <p:sp>
          <p:nvSpPr>
            <p:cNvPr id="45" name="TextBox 45"/>
            <p:cNvSpPr txBox="1"/>
            <p:nvPr/>
          </p:nvSpPr>
          <p:spPr>
            <a:xfrm>
              <a:off x="11179244" y="6466999"/>
              <a:ext cx="331909" cy="190690"/>
            </a:xfrm>
            <a:prstGeom prst="rect">
              <a:avLst/>
            </a:prstGeom>
            <a:noFill/>
            <a:ln>
              <a:noFill/>
            </a:ln>
          </p:spPr>
          <p:txBody>
            <a:bodyPr wrap="none" lIns="0" tIns="0" rIns="0" bIns="0" anchor="t" anchorCtr="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80" b="1" i="0" u="none" strike="noStrike" kern="1200" cap="none" spc="0" normalizeH="0" baseline="0" noProof="0" dirty="0">
                  <a:ln>
                    <a:noFill/>
                  </a:ln>
                  <a:solidFill>
                    <a:srgbClr val="D7B46A"/>
                  </a:solidFill>
                  <a:effectLst/>
                  <a:uLnTx/>
                  <a:uFillTx/>
                  <a:latin typeface="Be Vietnam Pro"/>
                  <a:ea typeface="Be Vietnam Pro"/>
                  <a:cs typeface="Be Vietnam Pro"/>
                </a:rPr>
                <a:t>P133</a:t>
              </a: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ser_pwm_50">
  <a:themeElements>
    <a:clrScheme name="laser_pwm_5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ser_pwm_5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ser_pwm_5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20417</Words>
  <Application>Microsoft Office PowerPoint</Application>
  <PresentationFormat>Widescreen</PresentationFormat>
  <Paragraphs>2808</Paragraphs>
  <Slides>61</Slides>
  <Notes>61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61</vt:i4>
      </vt:variant>
    </vt:vector>
  </HeadingPairs>
  <TitlesOfParts>
    <vt:vector size="68" baseType="lpstr">
      <vt:lpstr>Arial</vt:lpstr>
      <vt:lpstr>Be Vietnam Pro</vt:lpstr>
      <vt:lpstr>Calibri</vt:lpstr>
      <vt:lpstr>Calibri Light</vt:lpstr>
      <vt:lpstr>Noto Serif Display</vt:lpstr>
      <vt:lpstr>Office Theme</vt:lpstr>
      <vt:lpstr>laser_pwm_50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Nguyễn Mạnh Bảo</dc:creator>
  <cp:lastModifiedBy>Nguyễn Mạnh Bảo</cp:lastModifiedBy>
  <cp:revision>1</cp:revision>
  <dcterms:created xsi:type="dcterms:W3CDTF">2026-09-09T12:12:56Z</dcterms:created>
  <dcterms:modified xsi:type="dcterms:W3CDTF">2026-09-09T12:13:37Z</dcterms:modified>
</cp:coreProperties>
</file>